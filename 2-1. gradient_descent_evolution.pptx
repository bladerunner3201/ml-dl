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Noto Sans KR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NotoSansKR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9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11" Type="http://schemas.openxmlformats.org/officeDocument/2006/relationships/image" Target="../media/image43.png"/><Relationship Id="rId10" Type="http://schemas.openxmlformats.org/officeDocument/2006/relationships/image" Target="../media/image33.png"/><Relationship Id="rId9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37.png"/><Relationship Id="rId6" Type="http://schemas.openxmlformats.org/officeDocument/2006/relationships/image" Target="../media/image40.png"/><Relationship Id="rId7" Type="http://schemas.openxmlformats.org/officeDocument/2006/relationships/image" Target="../media/image43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31.png"/><Relationship Id="rId11" Type="http://schemas.openxmlformats.org/officeDocument/2006/relationships/image" Target="../media/image52.png"/><Relationship Id="rId10" Type="http://schemas.openxmlformats.org/officeDocument/2006/relationships/image" Target="../media/image44.png"/><Relationship Id="rId12" Type="http://schemas.openxmlformats.org/officeDocument/2006/relationships/image" Target="../media/image54.png"/><Relationship Id="rId9" Type="http://schemas.openxmlformats.org/officeDocument/2006/relationships/image" Target="../media/image50.png"/><Relationship Id="rId5" Type="http://schemas.openxmlformats.org/officeDocument/2006/relationships/image" Target="../media/image45.png"/><Relationship Id="rId6" Type="http://schemas.openxmlformats.org/officeDocument/2006/relationships/image" Target="../media/image34.png"/><Relationship Id="rId7" Type="http://schemas.openxmlformats.org/officeDocument/2006/relationships/image" Target="../media/image51.png"/><Relationship Id="rId8" Type="http://schemas.openxmlformats.org/officeDocument/2006/relationships/image" Target="../media/image5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47.png"/><Relationship Id="rId11" Type="http://schemas.openxmlformats.org/officeDocument/2006/relationships/image" Target="../media/image60.png"/><Relationship Id="rId10" Type="http://schemas.openxmlformats.org/officeDocument/2006/relationships/image" Target="../media/image46.png"/><Relationship Id="rId12" Type="http://schemas.openxmlformats.org/officeDocument/2006/relationships/image" Target="../media/image69.png"/><Relationship Id="rId9" Type="http://schemas.openxmlformats.org/officeDocument/2006/relationships/image" Target="../media/image59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Relationship Id="rId7" Type="http://schemas.openxmlformats.org/officeDocument/2006/relationships/image" Target="../media/image58.png"/><Relationship Id="rId8" Type="http://schemas.openxmlformats.org/officeDocument/2006/relationships/image" Target="../media/image6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3.png"/><Relationship Id="rId4" Type="http://schemas.openxmlformats.org/officeDocument/2006/relationships/image" Target="../media/image61.png"/><Relationship Id="rId10" Type="http://schemas.openxmlformats.org/officeDocument/2006/relationships/image" Target="../media/image70.png"/><Relationship Id="rId9" Type="http://schemas.openxmlformats.org/officeDocument/2006/relationships/image" Target="../media/image68.png"/><Relationship Id="rId5" Type="http://schemas.openxmlformats.org/officeDocument/2006/relationships/image" Target="../media/image71.png"/><Relationship Id="rId6" Type="http://schemas.openxmlformats.org/officeDocument/2006/relationships/image" Target="../media/image79.png"/><Relationship Id="rId7" Type="http://schemas.openxmlformats.org/officeDocument/2006/relationships/image" Target="../media/image64.png"/><Relationship Id="rId8" Type="http://schemas.openxmlformats.org/officeDocument/2006/relationships/image" Target="../media/image7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3.png"/><Relationship Id="rId4" Type="http://schemas.openxmlformats.org/officeDocument/2006/relationships/image" Target="../media/image65.png"/><Relationship Id="rId11" Type="http://schemas.openxmlformats.org/officeDocument/2006/relationships/image" Target="../media/image78.png"/><Relationship Id="rId10" Type="http://schemas.openxmlformats.org/officeDocument/2006/relationships/image" Target="../media/image74.png"/><Relationship Id="rId12" Type="http://schemas.openxmlformats.org/officeDocument/2006/relationships/image" Target="../media/image72.png"/><Relationship Id="rId9" Type="http://schemas.openxmlformats.org/officeDocument/2006/relationships/image" Target="../media/image81.png"/><Relationship Id="rId5" Type="http://schemas.openxmlformats.org/officeDocument/2006/relationships/image" Target="../media/image66.png"/><Relationship Id="rId6" Type="http://schemas.openxmlformats.org/officeDocument/2006/relationships/image" Target="../media/image106.png"/><Relationship Id="rId7" Type="http://schemas.openxmlformats.org/officeDocument/2006/relationships/image" Target="../media/image84.png"/><Relationship Id="rId8" Type="http://schemas.openxmlformats.org/officeDocument/2006/relationships/image" Target="../media/image6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3.png"/><Relationship Id="rId4" Type="http://schemas.openxmlformats.org/officeDocument/2006/relationships/image" Target="../media/image90.png"/><Relationship Id="rId11" Type="http://schemas.openxmlformats.org/officeDocument/2006/relationships/image" Target="../media/image89.png"/><Relationship Id="rId10" Type="http://schemas.openxmlformats.org/officeDocument/2006/relationships/image" Target="../media/image85.png"/><Relationship Id="rId9" Type="http://schemas.openxmlformats.org/officeDocument/2006/relationships/image" Target="../media/image98.png"/><Relationship Id="rId5" Type="http://schemas.openxmlformats.org/officeDocument/2006/relationships/image" Target="../media/image76.png"/><Relationship Id="rId6" Type="http://schemas.openxmlformats.org/officeDocument/2006/relationships/image" Target="../media/image80.png"/><Relationship Id="rId7" Type="http://schemas.openxmlformats.org/officeDocument/2006/relationships/image" Target="../media/image77.png"/><Relationship Id="rId8" Type="http://schemas.openxmlformats.org/officeDocument/2006/relationships/image" Target="../media/image8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8.png"/><Relationship Id="rId4" Type="http://schemas.openxmlformats.org/officeDocument/2006/relationships/image" Target="../media/image96.png"/><Relationship Id="rId11" Type="http://schemas.openxmlformats.org/officeDocument/2006/relationships/image" Target="../media/image101.png"/><Relationship Id="rId10" Type="http://schemas.openxmlformats.org/officeDocument/2006/relationships/image" Target="../media/image104.png"/><Relationship Id="rId9" Type="http://schemas.openxmlformats.org/officeDocument/2006/relationships/image" Target="../media/image97.png"/><Relationship Id="rId5" Type="http://schemas.openxmlformats.org/officeDocument/2006/relationships/image" Target="../media/image92.png"/><Relationship Id="rId6" Type="http://schemas.openxmlformats.org/officeDocument/2006/relationships/image" Target="../media/image82.png"/><Relationship Id="rId7" Type="http://schemas.openxmlformats.org/officeDocument/2006/relationships/image" Target="../media/image86.png"/><Relationship Id="rId8" Type="http://schemas.openxmlformats.org/officeDocument/2006/relationships/image" Target="../media/image10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3.png"/><Relationship Id="rId4" Type="http://schemas.openxmlformats.org/officeDocument/2006/relationships/image" Target="../media/image94.png"/><Relationship Id="rId11" Type="http://schemas.openxmlformats.org/officeDocument/2006/relationships/image" Target="../media/image102.png"/><Relationship Id="rId10" Type="http://schemas.openxmlformats.org/officeDocument/2006/relationships/image" Target="../media/image99.png"/><Relationship Id="rId9" Type="http://schemas.openxmlformats.org/officeDocument/2006/relationships/image" Target="../media/image107.png"/><Relationship Id="rId5" Type="http://schemas.openxmlformats.org/officeDocument/2006/relationships/image" Target="../media/image100.png"/><Relationship Id="rId6" Type="http://schemas.openxmlformats.org/officeDocument/2006/relationships/image" Target="../media/image93.png"/><Relationship Id="rId7" Type="http://schemas.openxmlformats.org/officeDocument/2006/relationships/image" Target="../media/image91.png"/><Relationship Id="rId8" Type="http://schemas.openxmlformats.org/officeDocument/2006/relationships/image" Target="../media/image1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9.png"/><Relationship Id="rId4" Type="http://schemas.openxmlformats.org/officeDocument/2006/relationships/image" Target="../media/image116.png"/><Relationship Id="rId11" Type="http://schemas.openxmlformats.org/officeDocument/2006/relationships/image" Target="../media/image115.png"/><Relationship Id="rId10" Type="http://schemas.openxmlformats.org/officeDocument/2006/relationships/image" Target="../media/image125.png"/><Relationship Id="rId12" Type="http://schemas.openxmlformats.org/officeDocument/2006/relationships/image" Target="../media/image121.png"/><Relationship Id="rId9" Type="http://schemas.openxmlformats.org/officeDocument/2006/relationships/image" Target="../media/image134.png"/><Relationship Id="rId5" Type="http://schemas.openxmlformats.org/officeDocument/2006/relationships/image" Target="../media/image130.png"/><Relationship Id="rId6" Type="http://schemas.openxmlformats.org/officeDocument/2006/relationships/image" Target="../media/image108.png"/><Relationship Id="rId7" Type="http://schemas.openxmlformats.org/officeDocument/2006/relationships/image" Target="../media/image51.png"/><Relationship Id="rId8" Type="http://schemas.openxmlformats.org/officeDocument/2006/relationships/image" Target="../media/image127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5.png"/><Relationship Id="rId10" Type="http://schemas.openxmlformats.org/officeDocument/2006/relationships/image" Target="../media/image135.png"/><Relationship Id="rId13" Type="http://schemas.openxmlformats.org/officeDocument/2006/relationships/image" Target="../media/image149.png"/><Relationship Id="rId12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7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5" Type="http://schemas.openxmlformats.org/officeDocument/2006/relationships/image" Target="../media/image124.png"/><Relationship Id="rId6" Type="http://schemas.openxmlformats.org/officeDocument/2006/relationships/image" Target="../media/image136.png"/><Relationship Id="rId7" Type="http://schemas.openxmlformats.org/officeDocument/2006/relationships/image" Target="../media/image111.png"/><Relationship Id="rId8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5.png"/><Relationship Id="rId10" Type="http://schemas.openxmlformats.org/officeDocument/2006/relationships/image" Target="../media/image141.png"/><Relationship Id="rId13" Type="http://schemas.openxmlformats.org/officeDocument/2006/relationships/image" Target="../media/image147.png"/><Relationship Id="rId12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8.png"/><Relationship Id="rId4" Type="http://schemas.openxmlformats.org/officeDocument/2006/relationships/image" Target="../media/image137.png"/><Relationship Id="rId9" Type="http://schemas.openxmlformats.org/officeDocument/2006/relationships/image" Target="../media/image128.png"/><Relationship Id="rId15" Type="http://schemas.openxmlformats.org/officeDocument/2006/relationships/image" Target="../media/image148.png"/><Relationship Id="rId14" Type="http://schemas.openxmlformats.org/officeDocument/2006/relationships/image" Target="../media/image156.png"/><Relationship Id="rId17" Type="http://schemas.openxmlformats.org/officeDocument/2006/relationships/image" Target="../media/image157.png"/><Relationship Id="rId16" Type="http://schemas.openxmlformats.org/officeDocument/2006/relationships/image" Target="../media/image151.png"/><Relationship Id="rId5" Type="http://schemas.openxmlformats.org/officeDocument/2006/relationships/image" Target="../media/image142.png"/><Relationship Id="rId6" Type="http://schemas.openxmlformats.org/officeDocument/2006/relationships/image" Target="../media/image150.png"/><Relationship Id="rId18" Type="http://schemas.openxmlformats.org/officeDocument/2006/relationships/image" Target="../media/image160.png"/><Relationship Id="rId7" Type="http://schemas.openxmlformats.org/officeDocument/2006/relationships/image" Target="../media/image140.png"/><Relationship Id="rId8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429500" y="-1904695"/>
            <a:ext cx="5715000" cy="5715000"/>
          </a:xfrm>
          <a:prstGeom prst="ellipse">
            <a:avLst/>
          </a:prstGeom>
          <a:solidFill>
            <a:srgbClr val="4F46E5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10B981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2389327" y="114300"/>
            <a:ext cx="7420356" cy="14676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800"/>
              <a:buFont typeface="Noto Sans KR"/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최적의 길을 찾는 내비게이션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4800"/>
              <a:buFont typeface="Noto Sans KR"/>
              <a:buNone/>
            </a:pPr>
            <a:r>
              <a:rPr b="1" i="0" lang="en-US" sz="4800" u="none" cap="none" strike="noStrike">
                <a:solidFill>
                  <a:srgbClr val="818CF8"/>
                </a:solidFill>
                <a:latin typeface="Noto Sans KR"/>
                <a:ea typeface="Noto Sans KR"/>
                <a:cs typeface="Noto Sans KR"/>
                <a:sym typeface="Noto Sans KR"/>
              </a:rPr>
              <a:t>경사하강법의 진화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-56" r="-57" t="0"/>
          <a:stretch/>
        </p:blipFill>
        <p:spPr>
          <a:xfrm>
            <a:off x="4466844" y="2939796"/>
            <a:ext cx="200254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3">
            <a:alphaModFix/>
          </a:blip>
          <a:srcRect b="0" l="-56" r="-57" t="0"/>
          <a:stretch/>
        </p:blipFill>
        <p:spPr>
          <a:xfrm>
            <a:off x="7524598" y="2939796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1828800" y="5196535"/>
            <a:ext cx="8534095" cy="1552651"/>
          </a:xfrm>
          <a:prstGeom prst="roundRect">
            <a:avLst>
              <a:gd fmla="val 4336" name="adj"/>
            </a:avLst>
          </a:prstGeom>
          <a:solidFill>
            <a:srgbClr val="1E293B">
              <a:alpha val="80000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2124151" y="5396789"/>
            <a:ext cx="79443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Noto Sans KR"/>
                <a:ea typeface="Noto Sans KR"/>
                <a:cs typeface="Noto Sans KR"/>
                <a:sym typeface="Noto Sans KR"/>
              </a:rPr>
              <a:t>강의 목표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2180844" y="5720486"/>
            <a:ext cx="7830007" cy="82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단순한 경사하강법의 한계를 이해하고,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관성(Momentum)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b="1" i="0" lang="en-US" sz="13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적응형 학습률(Adaptive LR)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 결합된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현대적 최적화 알고리즘의 원리를 시각적으로 습득합니다.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" name="Google Shape;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2149" y="2339035"/>
            <a:ext cx="952805" cy="952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" name="Google Shape;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8356" y="2625242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2269541" y="3482035"/>
            <a:ext cx="154442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기초 경사하강법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2604211" y="3844138"/>
            <a:ext cx="876910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안개 낀 산에서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골짜기 찾기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902" y="2339035"/>
            <a:ext cx="952805" cy="952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195" y="2625242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/>
          <p:nvPr/>
        </p:nvSpPr>
        <p:spPr>
          <a:xfrm>
            <a:off x="5127955" y="3482035"/>
            <a:ext cx="1938528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모멘텀 (Momentum)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5680253" y="3844138"/>
            <a:ext cx="838505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가속도가 붙은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무거운 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77656" y="2339035"/>
            <a:ext cx="952805" cy="952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3"/>
          <p:cNvPicPr preferRelativeResize="0"/>
          <p:nvPr/>
        </p:nvPicPr>
        <p:blipFill rotWithShape="1">
          <a:blip r:embed="rId8">
            <a:alphaModFix/>
          </a:blip>
          <a:srcRect b="-23" l="0" r="0" t="-24"/>
          <a:stretch/>
        </p:blipFill>
        <p:spPr>
          <a:xfrm>
            <a:off x="8915400" y="2625242"/>
            <a:ext cx="476402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 txBox="1"/>
          <p:nvPr/>
        </p:nvSpPr>
        <p:spPr>
          <a:xfrm>
            <a:off x="8300009" y="3482035"/>
            <a:ext cx="171541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Adam Optimizer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8676742" y="3844138"/>
            <a:ext cx="962863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지형에 적응하는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 자전거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71500" y="1834286"/>
            <a:ext cx="3866998" cy="1657807"/>
          </a:xfrm>
          <a:prstGeom prst="roundRect">
            <a:avLst>
              <a:gd fmla="val 5072" name="adj"/>
            </a:avLst>
          </a:prstGeom>
          <a:solidFill>
            <a:srgbClr val="1E293B">
              <a:alpha val="60000"/>
            </a:srgbClr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44" y="2072945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 txBox="1"/>
          <p:nvPr/>
        </p:nvSpPr>
        <p:spPr>
          <a:xfrm>
            <a:off x="1257300" y="2072945"/>
            <a:ext cx="1788566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안개 낀 산의 비유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809244" y="2520086"/>
            <a:ext cx="3467405" cy="73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우리는 짙은 안개 속에 갇혀 앞이 보이지 않는 산 위에 있습니다. 우리의 목표는 산에서 가장 낮은 지점인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'골짜기(Global Minimum)'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로 내려가는 것입니다.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71500" y="3775558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4">
            <a:alphaModFix/>
          </a:blip>
          <a:srcRect b="-100" l="0" r="0" t="-100"/>
          <a:stretch/>
        </p:blipFill>
        <p:spPr>
          <a:xfrm>
            <a:off x="705002" y="3889858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 txBox="1"/>
          <p:nvPr/>
        </p:nvSpPr>
        <p:spPr>
          <a:xfrm>
            <a:off x="1095451" y="3775558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위치 (Parameters)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1095451" y="4080053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모델의 가중치(Weight)와 편향(Bias). 우리가 조절할 수 있는 변수들입니다.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71500" y="4670755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5">
            <a:alphaModFix/>
          </a:blip>
          <a:srcRect b="-301" l="0" r="0" t="-301"/>
          <a:stretch/>
        </p:blipFill>
        <p:spPr>
          <a:xfrm>
            <a:off x="724205" y="4785055"/>
            <a:ext cx="758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/>
          <p:nvPr/>
        </p:nvSpPr>
        <p:spPr>
          <a:xfrm>
            <a:off x="1095451" y="4670755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높이 (Loss / Cost)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1095451" y="4976165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위치에서의 에러 값. 높을수록 나쁜 상태, 낮을수록 좋은 상태입니다.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71500" y="5565953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6">
            <a:alphaModFix/>
          </a:blip>
          <a:srcRect b="-179" l="0" r="0" t="-180"/>
          <a:stretch/>
        </p:blipFill>
        <p:spPr>
          <a:xfrm>
            <a:off x="666598" y="5680253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/>
        </p:nvSpPr>
        <p:spPr>
          <a:xfrm>
            <a:off x="1095451" y="5565953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 (Gradient)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1095451" y="5871362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발 밑의 경사 정보. 어느 쪽이 내리막인지 알려주는 유일한 단서입니다.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4"/>
          <p:cNvPicPr preferRelativeResize="0"/>
          <p:nvPr/>
        </p:nvPicPr>
        <p:blipFill rotWithShape="1">
          <a:blip r:embed="rId7">
            <a:alphaModFix/>
          </a:blip>
          <a:srcRect b="0" l="-4" r="-4" t="0"/>
          <a:stretch/>
        </p:blipFill>
        <p:spPr>
          <a:xfrm>
            <a:off x="4819802" y="1628546"/>
            <a:ext cx="6801307" cy="4848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4"/>
          <p:cNvPicPr preferRelativeResize="0"/>
          <p:nvPr/>
        </p:nvPicPr>
        <p:blipFill rotWithShape="1">
          <a:blip r:embed="rId8">
            <a:alphaModFix/>
          </a:blip>
          <a:srcRect b="0" l="-4" r="-4" t="0"/>
          <a:stretch/>
        </p:blipFill>
        <p:spPr>
          <a:xfrm>
            <a:off x="4819802" y="1628546"/>
            <a:ext cx="6801307" cy="484814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9654235" y="1819656"/>
            <a:ext cx="1781251" cy="866851"/>
          </a:xfrm>
          <a:prstGeom prst="roundRect">
            <a:avLst>
              <a:gd fmla="val 9273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10026396" y="1923898"/>
            <a:ext cx="1433779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Global Minimum (목표)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54489" y="1962302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 txBox="1"/>
          <p:nvPr/>
        </p:nvSpPr>
        <p:spPr>
          <a:xfrm>
            <a:off x="10026396" y="2143354"/>
            <a:ext cx="136062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Local Minimum (함정)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4489" y="2180844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 txBox="1"/>
          <p:nvPr/>
        </p:nvSpPr>
        <p:spPr>
          <a:xfrm>
            <a:off x="10026396" y="2361895"/>
            <a:ext cx="106619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Start Point (현재)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854489" y="2400300"/>
            <a:ext cx="95098" cy="9509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571500" y="838505"/>
            <a:ext cx="113541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1DC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CAD1DC"/>
                </a:solidFill>
                <a:latin typeface="Noto Sans KR"/>
                <a:ea typeface="Noto Sans KR"/>
                <a:cs typeface="Noto Sans KR"/>
                <a:sym typeface="Noto Sans KR"/>
              </a:rPr>
              <a:t>손실 함수 지형과 목표 설정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381305"/>
            <a:ext cx="1304849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571500" y="381305"/>
            <a:ext cx="1305763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복습 (Review)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71500" y="1812341"/>
            <a:ext cx="3866998" cy="1904695"/>
          </a:xfrm>
          <a:prstGeom prst="roundRect">
            <a:avLst>
              <a:gd fmla="val 3841" name="adj"/>
            </a:avLst>
          </a:prstGeom>
          <a:solidFill>
            <a:srgbClr val="1E293B">
              <a:alpha val="60000"/>
            </a:srgbClr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-50" r="-49" t="0"/>
          <a:stretch/>
        </p:blipFill>
        <p:spPr>
          <a:xfrm>
            <a:off x="809244" y="2050999"/>
            <a:ext cx="2286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 txBox="1"/>
          <p:nvPr/>
        </p:nvSpPr>
        <p:spPr>
          <a:xfrm>
            <a:off x="1181405" y="2050999"/>
            <a:ext cx="1991563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가파른 길 찾기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809244" y="2498141"/>
            <a:ext cx="3467405" cy="981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눈을 가린 채 산을 내려간다고 상상해보세요. 발끝으로 주변을 더듬어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경사가 급한 내리막 방향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을 찾고, 그쪽으로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한 걸음(Step)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내딛습니다. 이 과정을 반복합니다.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71500" y="3997757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F472B6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4">
            <a:alphaModFix/>
          </a:blip>
          <a:srcRect b="0" l="-1773" r="-1773" t="0"/>
          <a:stretch/>
        </p:blipFill>
        <p:spPr>
          <a:xfrm>
            <a:off x="694944" y="4101998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 txBox="1"/>
          <p:nvPr/>
        </p:nvSpPr>
        <p:spPr>
          <a:xfrm>
            <a:off x="1095451" y="3997757"/>
            <a:ext cx="353415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이동 방향 = 마이너스 기울기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1095451" y="4302252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기울기는 오르막 방향입니다. 우리는 내려가야 하므로 반대 방향을 선택합니다.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71500" y="4892954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FBBF24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5">
            <a:alphaModFix/>
          </a:blip>
          <a:srcRect b="0" l="-1064" r="-1064" t="0"/>
          <a:stretch/>
        </p:blipFill>
        <p:spPr>
          <a:xfrm>
            <a:off x="652882" y="4997196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/>
          <p:nvPr/>
        </p:nvSpPr>
        <p:spPr>
          <a:xfrm>
            <a:off x="1095451" y="4892954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보폭 = 학습률 (Learning Rate)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095451" y="5197450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한 번에 얼마나 멀리 이동할지 결정합니다. Vanilla GD에서는 이 보폭이 일정하게 고정되어 있습니다.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71500" y="5788152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60A5FA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589330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1095451" y="5788152"/>
            <a:ext cx="303855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(Iteration)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1095451" y="6092647"/>
            <a:ext cx="348752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위치에서 다시 기울기를 계산하고 이동합니다.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819802" y="1628546"/>
            <a:ext cx="6801307" cy="4848149"/>
          </a:xfrm>
          <a:prstGeom prst="roundRect">
            <a:avLst>
              <a:gd fmla="val 889" name="adj"/>
            </a:avLst>
          </a:prstGeom>
          <a:solidFill>
            <a:srgbClr val="1E293B">
              <a:alpha val="3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7">
            <a:alphaModFix/>
          </a:blip>
          <a:srcRect b="0" l="-4" r="-4" t="0"/>
          <a:stretch/>
        </p:blipFill>
        <p:spPr>
          <a:xfrm>
            <a:off x="4819802" y="1628546"/>
            <a:ext cx="6801307" cy="48481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 txBox="1"/>
          <p:nvPr/>
        </p:nvSpPr>
        <p:spPr>
          <a:xfrm>
            <a:off x="571500" y="838505"/>
            <a:ext cx="112398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1DC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CAD1DC"/>
                </a:solidFill>
                <a:latin typeface="Noto Sans KR"/>
                <a:ea typeface="Noto Sans KR"/>
                <a:cs typeface="Noto Sans KR"/>
                <a:sym typeface="Noto Sans KR"/>
              </a:rPr>
              <a:t>기초 경사하강법 (Vanilla GD)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1305"/>
            <a:ext cx="1438351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571500" y="381305"/>
            <a:ext cx="1438351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STEP 1: Basics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743846" y="1819656"/>
            <a:ext cx="1695298" cy="875995"/>
          </a:xfrm>
          <a:prstGeom prst="roundRect">
            <a:avLst>
              <a:gd fmla="val 9077" name="adj"/>
            </a:avLst>
          </a:prstGeom>
          <a:solidFill>
            <a:srgbClr val="0F172A">
              <a:alpha val="90196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9">
            <a:alphaModFix/>
          </a:blip>
          <a:srcRect b="0" l="-323" r="-322" t="0"/>
          <a:stretch/>
        </p:blipFill>
        <p:spPr>
          <a:xfrm>
            <a:off x="9944100" y="2014423"/>
            <a:ext cx="190195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 txBox="1"/>
          <p:nvPr/>
        </p:nvSpPr>
        <p:spPr>
          <a:xfrm>
            <a:off x="10211105" y="1943100"/>
            <a:ext cx="963778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이동 경로 (Path)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944100" y="2219249"/>
            <a:ext cx="75895" cy="75895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10096805" y="2171700"/>
            <a:ext cx="963778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위치 (Step)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9944100" y="2447849"/>
            <a:ext cx="75895" cy="75895"/>
          </a:xfrm>
          <a:prstGeom prst="ellipse">
            <a:avLst/>
          </a:prstGeom>
          <a:solidFill>
            <a:srgbClr val="34D39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10096805" y="2400300"/>
            <a:ext cx="136062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지점 (Global Min)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71500" y="1299362"/>
            <a:ext cx="5333695" cy="5305349"/>
          </a:xfrm>
          <a:prstGeom prst="roundRect">
            <a:avLst>
              <a:gd fmla="val 619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66851" y="2080260"/>
            <a:ext cx="4743907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3">
            <a:alphaModFix/>
          </a:blip>
          <a:srcRect b="-45" l="0" r="0" t="-44"/>
          <a:stretch/>
        </p:blipFill>
        <p:spPr>
          <a:xfrm>
            <a:off x="866851" y="1651406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/>
        </p:nvSpPr>
        <p:spPr>
          <a:xfrm>
            <a:off x="1238098" y="1594714"/>
            <a:ext cx="2040941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비효율적인 메커니즘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1098" y="2589581"/>
            <a:ext cx="172364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2381098" y="2589581"/>
            <a:ext cx="1724558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Data Record 1,000,000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1098" y="2865730"/>
            <a:ext cx="172364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2381098" y="2865730"/>
            <a:ext cx="1724558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1098" y="3141878"/>
            <a:ext cx="172364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2381098" y="3141878"/>
            <a:ext cx="1724558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Data Record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1098" y="3418027"/>
            <a:ext cx="172364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2381098" y="3418027"/>
            <a:ext cx="1724558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Data Record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4439412" y="2875788"/>
            <a:ext cx="856793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전체 데이터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(Full Batch)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5">
            <a:alphaModFix/>
          </a:blip>
          <a:srcRect b="0" l="-2838" r="-2838" t="0"/>
          <a:stretch/>
        </p:blipFill>
        <p:spPr>
          <a:xfrm>
            <a:off x="4285793" y="2911450"/>
            <a:ext cx="123444" cy="133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6"/>
          <p:cNvPicPr preferRelativeResize="0"/>
          <p:nvPr/>
        </p:nvPicPr>
        <p:blipFill rotWithShape="1">
          <a:blip r:embed="rId6">
            <a:alphaModFix amt="82000"/>
          </a:blip>
          <a:srcRect b="0" l="-1324" r="-1323" t="0"/>
          <a:stretch/>
        </p:blipFill>
        <p:spPr>
          <a:xfrm>
            <a:off x="3113532" y="4014216"/>
            <a:ext cx="256946" cy="33375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2428646" y="4523537"/>
            <a:ext cx="1628546" cy="457200"/>
          </a:xfrm>
          <a:prstGeom prst="roundRect">
            <a:avLst>
              <a:gd fmla="val 200000" name="adj"/>
            </a:avLst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EF444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7">
            <a:alphaModFix/>
          </a:blip>
          <a:srcRect b="-179" l="0" r="0" t="-180"/>
          <a:stretch/>
        </p:blipFill>
        <p:spPr>
          <a:xfrm>
            <a:off x="2657246" y="4675327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2942539" y="4523537"/>
            <a:ext cx="943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단 1걸음 이동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66851" y="5266030"/>
            <a:ext cx="4743907" cy="743407"/>
          </a:xfrm>
          <a:prstGeom prst="roundRect">
            <a:avLst>
              <a:gd fmla="val 15769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971093" y="5408676"/>
            <a:ext cx="45345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책을 처음부터 끝까지 다 읽어야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겨우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한 단어</a:t>
            </a: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를 이해하는 셈입니다.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286500" y="1299362"/>
            <a:ext cx="5333695" cy="5305349"/>
          </a:xfrm>
          <a:prstGeom prst="roundRect">
            <a:avLst>
              <a:gd fmla="val 619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581851" y="2080260"/>
            <a:ext cx="4743907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851" y="165140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6924751" y="1594714"/>
            <a:ext cx="1892808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업데이트 빈도 비교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6"/>
          <p:cNvPicPr preferRelativeResize="0"/>
          <p:nvPr/>
        </p:nvPicPr>
        <p:blipFill rotWithShape="1">
          <a:blip r:embed="rId9">
            <a:alphaModFix/>
          </a:blip>
          <a:srcRect b="0" l="-5" r="-4" t="0"/>
          <a:stretch/>
        </p:blipFill>
        <p:spPr>
          <a:xfrm>
            <a:off x="6581851" y="2289658"/>
            <a:ext cx="4743907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6581851" y="5337353"/>
            <a:ext cx="4743907" cy="972007"/>
          </a:xfrm>
          <a:prstGeom prst="roundRect">
            <a:avLst>
              <a:gd fmla="val 9223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6686093" y="5480914"/>
            <a:ext cx="45345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같은 시간이 주어졌을 때,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기초 GD</a:t>
            </a: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는 업데이트 횟수가 극도로 적어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학습 속도가 매우 느립니다.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57646" y="3808476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5857646" y="3808476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381305"/>
            <a:ext cx="1218895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571500" y="381305"/>
            <a:ext cx="1219810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EE2E2"/>
                </a:solidFill>
                <a:latin typeface="Noto Sans KR"/>
                <a:ea typeface="Noto Sans KR"/>
                <a:cs typeface="Noto Sans KR"/>
                <a:sym typeface="Noto Sans KR"/>
              </a:rPr>
              <a:t>GD의 한계 (1)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571500" y="730606"/>
            <a:ext cx="113541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속도: 거대한 데이터의 늪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71500" y="1819656"/>
            <a:ext cx="5333695" cy="4924044"/>
          </a:xfrm>
          <a:prstGeom prst="roundRect">
            <a:avLst>
              <a:gd fmla="val 718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866851" y="2600554"/>
            <a:ext cx="4743907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851" y="2171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1209751" y="2115007"/>
            <a:ext cx="2934310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지역 극소점 (Local Minima)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-8" r="-8" t="0"/>
          <a:stretch/>
        </p:blipFill>
        <p:spPr>
          <a:xfrm>
            <a:off x="866851" y="2809951"/>
            <a:ext cx="4743907" cy="238109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866851" y="5333695"/>
            <a:ext cx="4743907" cy="1114654"/>
          </a:xfrm>
          <a:prstGeom prst="roundRect">
            <a:avLst>
              <a:gd fmla="val 7011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1019556" y="5524805"/>
            <a:ext cx="4439412" cy="73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가짜 목표: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산을 내려오다 작은 골짜기에 빠져,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더 깊은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진짜 바닥(Global Min)</a:t>
            </a: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보지 못하고 멈춰버립니다.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286500" y="1819656"/>
            <a:ext cx="5333695" cy="4924044"/>
          </a:xfrm>
          <a:prstGeom prst="roundRect">
            <a:avLst>
              <a:gd fmla="val 718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581851" y="2600554"/>
            <a:ext cx="4743907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7"/>
          <p:cNvPicPr preferRelativeResize="0"/>
          <p:nvPr/>
        </p:nvPicPr>
        <p:blipFill rotWithShape="1">
          <a:blip r:embed="rId5">
            <a:alphaModFix/>
          </a:blip>
          <a:srcRect b="-45" l="0" r="0" t="-44"/>
          <a:stretch/>
        </p:blipFill>
        <p:spPr>
          <a:xfrm>
            <a:off x="6581851" y="2171700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6953098" y="2115007"/>
            <a:ext cx="2400300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안장점 (Saddle Point)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7"/>
          <p:cNvPicPr preferRelativeResize="0"/>
          <p:nvPr/>
        </p:nvPicPr>
        <p:blipFill rotWithShape="1">
          <a:blip r:embed="rId6">
            <a:alphaModFix/>
          </a:blip>
          <a:srcRect b="0" l="-8" r="-8" t="0"/>
          <a:stretch/>
        </p:blipFill>
        <p:spPr>
          <a:xfrm>
            <a:off x="6581851" y="2809951"/>
            <a:ext cx="4743907" cy="238109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6581851" y="5333695"/>
            <a:ext cx="4743907" cy="1114654"/>
          </a:xfrm>
          <a:prstGeom prst="roundRect">
            <a:avLst>
              <a:gd fmla="val 7011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6734556" y="5524805"/>
            <a:ext cx="4439412" cy="73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평탄한 늪: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기울기가 0인 평지에 도달하면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바닥이 아님에도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학습이 멈추거나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벗어나는 데 매우 오랜 시간이 걸립니다.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571500" y="838505"/>
            <a:ext cx="113541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함정: 지역 극소점과 안장점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1305"/>
            <a:ext cx="1218895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571500" y="381305"/>
            <a:ext cx="1219810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EE2E2"/>
                </a:solidFill>
                <a:latin typeface="Noto Sans KR"/>
                <a:ea typeface="Noto Sans KR"/>
                <a:cs typeface="Noto Sans KR"/>
                <a:sym typeface="Noto Sans KR"/>
              </a:rPr>
              <a:t>GD의 한계 (2)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646" y="3191256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5857646" y="3191256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3">
            <a:alphaModFix/>
          </a:blip>
          <a:srcRect b="-2" l="0" r="0" t="-2"/>
          <a:stretch/>
        </p:blipFill>
        <p:spPr>
          <a:xfrm>
            <a:off x="571500" y="2070202"/>
            <a:ext cx="3866998" cy="17849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1143000" y="2307946"/>
            <a:ext cx="32479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 핵심 아이디어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-56" r="-57" t="0"/>
          <a:stretch/>
        </p:blipFill>
        <p:spPr>
          <a:xfrm>
            <a:off x="847649" y="2364638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 txBox="1"/>
          <p:nvPr/>
        </p:nvSpPr>
        <p:spPr>
          <a:xfrm>
            <a:off x="847649" y="2793492"/>
            <a:ext cx="3429000" cy="82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전체 데이터를 다 보는 대신,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랜덤하게 선택한 단 1개의 데이터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만 보고 빠르게 방향을 결정하여 이동합니다.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71500" y="4140403"/>
            <a:ext cx="3866998" cy="972007"/>
          </a:xfrm>
          <a:prstGeom prst="roundRect">
            <a:avLst>
              <a:gd fmla="val 110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771754" y="4416552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054" y="45308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/>
          <p:nvPr/>
        </p:nvSpPr>
        <p:spPr>
          <a:xfrm>
            <a:off x="1333195" y="4293108"/>
            <a:ext cx="30961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압도적인 속도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1333195" y="4559198"/>
            <a:ext cx="2981858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계산량이 1/N로 줄어들어 매우 빈번한 업데이트가 가능합니다.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71500" y="5255057"/>
            <a:ext cx="3866998" cy="972007"/>
          </a:xfrm>
          <a:prstGeom prst="roundRect">
            <a:avLst>
              <a:gd fmla="val 110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71754" y="5531206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054" y="564550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1333195" y="5406847"/>
            <a:ext cx="30202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지그재그 경로 (Noise)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1333195" y="5673852"/>
            <a:ext cx="2981858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하나하나는 부정확할 수 있어, 경로가 요동치며 비틀거립니다.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7">
            <a:alphaModFix/>
          </a:blip>
          <a:srcRect b="-4" l="0" r="0" t="-5"/>
          <a:stretch/>
        </p:blipFill>
        <p:spPr>
          <a:xfrm>
            <a:off x="4914900" y="1819656"/>
            <a:ext cx="6705295" cy="4657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8"/>
          <p:cNvPicPr preferRelativeResize="0"/>
          <p:nvPr/>
        </p:nvPicPr>
        <p:blipFill rotWithShape="1">
          <a:blip r:embed="rId8">
            <a:alphaModFix/>
          </a:blip>
          <a:srcRect b="0" l="-3" r="-3" t="0"/>
          <a:stretch/>
        </p:blipFill>
        <p:spPr>
          <a:xfrm>
            <a:off x="4924044" y="1828800"/>
            <a:ext cx="6687007" cy="4638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19895" y="2018995"/>
            <a:ext cx="2210105" cy="65745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9600286" y="2018995"/>
            <a:ext cx="1829714" cy="6574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SGD Path (Zigzag) Contour (Loss Landscape)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0149" y="2211934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0149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571500" y="838505"/>
            <a:ext cx="113541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1DC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CAD1DC"/>
                </a:solidFill>
                <a:latin typeface="Noto Sans KR"/>
                <a:ea typeface="Noto Sans KR"/>
                <a:cs typeface="Noto Sans KR"/>
                <a:sym typeface="Noto Sans KR"/>
              </a:rPr>
              <a:t>확률적 경사하강법 (SGD)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381305"/>
            <a:ext cx="838505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571500" y="381305"/>
            <a:ext cx="838505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E0F2FE"/>
                </a:solidFill>
                <a:latin typeface="Noto Sans KR"/>
                <a:ea typeface="Noto Sans KR"/>
                <a:cs typeface="Noto Sans KR"/>
                <a:sym typeface="Noto Sans KR"/>
              </a:rPr>
              <a:t>해결책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9"/>
          <p:cNvPicPr preferRelativeResize="0"/>
          <p:nvPr/>
        </p:nvPicPr>
        <p:blipFill rotWithShape="1">
          <a:blip r:embed="rId3">
            <a:alphaModFix/>
          </a:blip>
          <a:srcRect b="-5" l="0" r="0" t="-6"/>
          <a:stretch/>
        </p:blipFill>
        <p:spPr>
          <a:xfrm>
            <a:off x="571500" y="1712671"/>
            <a:ext cx="3866998" cy="1899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244" y="1950415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 txBox="1"/>
          <p:nvPr/>
        </p:nvSpPr>
        <p:spPr>
          <a:xfrm>
            <a:off x="1257300" y="1950415"/>
            <a:ext cx="1869948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Noto Sans KR"/>
                <a:ea typeface="Noto Sans KR"/>
                <a:cs typeface="Noto Sans KR"/>
                <a:sym typeface="Noto Sans KR"/>
              </a:rPr>
              <a:t>무거운 공의 구르기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809244" y="2398471"/>
            <a:ext cx="3467405" cy="981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경사하강법에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'물리적 관성'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을 더했습니다. 무거운 공이 언덕을 내려갈 때 속도가 점점 붙어 작은 웅덩이(Local Minima)는 그 힘으로 휙 지나쳐버리는 것과 같습니다.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71500" y="3897173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002329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/>
        </p:nvSpPr>
        <p:spPr>
          <a:xfrm>
            <a:off x="1095451" y="3897173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과거의 기억 (History)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1095451" y="4202582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단계의 이동 방향(속도 벡터)을 기억하여 현재 이동에 반영합니다.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71500" y="4793285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489752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1095451" y="4793285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가속도 효과 (Acceleration)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1095451" y="5097780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방향으로 계속 내려가면 속도가 붙어 보폭이 커지고, 방향이 바뀌면 관성이 급격한 변화를 억제합니다.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71500" y="5688482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9"/>
          <p:cNvPicPr preferRelativeResize="0"/>
          <p:nvPr/>
        </p:nvPicPr>
        <p:blipFill rotWithShape="1">
          <a:blip r:embed="rId7">
            <a:alphaModFix/>
          </a:blip>
          <a:srcRect b="-841" l="0" r="0" t="-842"/>
          <a:stretch/>
        </p:blipFill>
        <p:spPr>
          <a:xfrm>
            <a:off x="666598" y="5792724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/>
          <p:nvPr/>
        </p:nvSpPr>
        <p:spPr>
          <a:xfrm>
            <a:off x="1095451" y="5688482"/>
            <a:ext cx="353415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경로의 안정화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1095451" y="5992978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SGD의 지그재그 진동을 상쇄하고, 골짜기 바닥을 향해 더 매끄럽고 빠르게 이동합니다.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9"/>
          <p:cNvPicPr preferRelativeResize="0"/>
          <p:nvPr/>
        </p:nvPicPr>
        <p:blipFill rotWithShape="1">
          <a:blip r:embed="rId8">
            <a:alphaModFix/>
          </a:blip>
          <a:srcRect b="0" l="-4" r="-4" t="0"/>
          <a:stretch/>
        </p:blipFill>
        <p:spPr>
          <a:xfrm>
            <a:off x="4819802" y="1628546"/>
            <a:ext cx="6801307" cy="4848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9"/>
          <p:cNvPicPr preferRelativeResize="0"/>
          <p:nvPr/>
        </p:nvPicPr>
        <p:blipFill rotWithShape="1">
          <a:blip r:embed="rId9">
            <a:alphaModFix/>
          </a:blip>
          <a:srcRect b="0" l="-4" r="-4" t="0"/>
          <a:stretch/>
        </p:blipFill>
        <p:spPr>
          <a:xfrm>
            <a:off x="4819802" y="1628546"/>
            <a:ext cx="6801307" cy="4848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9"/>
          <p:cNvPicPr preferRelativeResize="0"/>
          <p:nvPr/>
        </p:nvPicPr>
        <p:blipFill rotWithShape="1">
          <a:blip r:embed="rId10">
            <a:alphaModFix/>
          </a:blip>
          <a:srcRect b="0" l="-2" r="-2" t="0"/>
          <a:stretch/>
        </p:blipFill>
        <p:spPr>
          <a:xfrm>
            <a:off x="9515246" y="1819656"/>
            <a:ext cx="1914754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9"/>
          <p:cNvPicPr preferRelativeResize="0"/>
          <p:nvPr/>
        </p:nvPicPr>
        <p:blipFill rotWithShape="1">
          <a:blip r:embed="rId11">
            <a:alphaModFix/>
          </a:blip>
          <a:srcRect b="-480" l="0" r="0" t="-480"/>
          <a:stretch/>
        </p:blipFill>
        <p:spPr>
          <a:xfrm>
            <a:off x="9715500" y="2009851"/>
            <a:ext cx="237744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9"/>
          <p:cNvSpPr txBox="1"/>
          <p:nvPr/>
        </p:nvSpPr>
        <p:spPr>
          <a:xfrm>
            <a:off x="10048342" y="1943100"/>
            <a:ext cx="13103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Momentum 경로 (가속)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9715500" y="2229307"/>
            <a:ext cx="95098" cy="9509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9905695" y="2190902"/>
            <a:ext cx="40050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시작점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9715500" y="2476195"/>
            <a:ext cx="95098" cy="9509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9905695" y="2438705"/>
            <a:ext cx="131490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목표지점 (Global Min)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571500" y="838505"/>
            <a:ext cx="112398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1DC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CAD1DC"/>
                </a:solidFill>
                <a:latin typeface="Noto Sans KR"/>
                <a:ea typeface="Noto Sans KR"/>
                <a:cs typeface="Noto Sans KR"/>
                <a:sym typeface="Noto Sans KR"/>
              </a:rPr>
              <a:t>관성(Momentum): 가속도가 붙은 하강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381305"/>
            <a:ext cx="1772107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571500" y="381305"/>
            <a:ext cx="1772107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해결책 2 (Solution)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0"/>
          <p:cNvPicPr preferRelativeResize="0"/>
          <p:nvPr/>
        </p:nvPicPr>
        <p:blipFill rotWithShape="1">
          <a:blip r:embed="rId3">
            <a:alphaModFix/>
          </a:blip>
          <a:srcRect b="-2" l="0" r="0" t="-2"/>
          <a:stretch/>
        </p:blipFill>
        <p:spPr>
          <a:xfrm>
            <a:off x="571500" y="2070202"/>
            <a:ext cx="3866998" cy="178490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 txBox="1"/>
          <p:nvPr/>
        </p:nvSpPr>
        <p:spPr>
          <a:xfrm>
            <a:off x="1171346" y="2307946"/>
            <a:ext cx="31437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A78BFA"/>
                </a:solidFill>
                <a:latin typeface="Noto Sans KR"/>
                <a:ea typeface="Noto Sans KR"/>
                <a:cs typeface="Noto Sans KR"/>
                <a:sym typeface="Noto Sans KR"/>
              </a:rPr>
              <a:t> 관성(Inertia)의 힘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649" y="23646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 txBox="1"/>
          <p:nvPr/>
        </p:nvSpPr>
        <p:spPr>
          <a:xfrm>
            <a:off x="847649" y="2793492"/>
            <a:ext cx="3429000" cy="82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가속도가 붙은 무거운 공은 작은 웅덩이(Local Minima)를 만나도 멈추지 않고 </a:t>
            </a:r>
            <a:r>
              <a:rPr b="1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그대로 타고 넘어갑니다.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71500" y="4140403"/>
            <a:ext cx="3866998" cy="972007"/>
          </a:xfrm>
          <a:prstGeom prst="roundRect">
            <a:avLst>
              <a:gd fmla="val 110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771754" y="4416552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054" y="45308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1333195" y="4293108"/>
            <a:ext cx="30202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SGD (관성 없음)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1333195" y="4559198"/>
            <a:ext cx="2981858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작은 굴곡(Local Minima)에 빠지면 경사가 0이 되어 갇혀버립니다.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71500" y="5255057"/>
            <a:ext cx="3866998" cy="972007"/>
          </a:xfrm>
          <a:prstGeom prst="roundRect">
            <a:avLst>
              <a:gd fmla="val 110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771754" y="5531206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8B5CF6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054" y="564550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1333195" y="5406847"/>
            <a:ext cx="30202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Momentum (관성 있음)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1333195" y="5673852"/>
            <a:ext cx="2981858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내려오던 속도를 유지하여 작은 웅덩이를 박차고 올라와 계속 전진합니다.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0"/>
          <p:cNvPicPr preferRelativeResize="0"/>
          <p:nvPr/>
        </p:nvPicPr>
        <p:blipFill rotWithShape="1">
          <a:blip r:embed="rId7">
            <a:alphaModFix/>
          </a:blip>
          <a:srcRect b="-4" l="0" r="0" t="-5"/>
          <a:stretch/>
        </p:blipFill>
        <p:spPr>
          <a:xfrm>
            <a:off x="4914900" y="1819656"/>
            <a:ext cx="6705295" cy="4657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10"/>
          <p:cNvPicPr preferRelativeResize="0"/>
          <p:nvPr/>
        </p:nvPicPr>
        <p:blipFill rotWithShape="1">
          <a:blip r:embed="rId8">
            <a:alphaModFix/>
          </a:blip>
          <a:srcRect b="0" l="-3" r="-3" t="0"/>
          <a:stretch/>
        </p:blipFill>
        <p:spPr>
          <a:xfrm>
            <a:off x="4924044" y="1828800"/>
            <a:ext cx="6687007" cy="46387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9753905" y="2018995"/>
            <a:ext cx="1666951" cy="1057046"/>
          </a:xfrm>
          <a:prstGeom prst="roundRect">
            <a:avLst>
              <a:gd fmla="val 9352" name="adj"/>
            </a:avLst>
          </a:prstGeom>
          <a:solidFill>
            <a:srgbClr val="0F172A">
              <a:alpha val="90196"/>
            </a:srgbClr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10"/>
          <p:cNvPicPr preferRelativeResize="0"/>
          <p:nvPr/>
        </p:nvPicPr>
        <p:blipFill rotWithShape="1">
          <a:blip r:embed="rId9">
            <a:alphaModFix/>
          </a:blip>
          <a:srcRect b="0" l="-323" r="-322" t="0"/>
          <a:stretch/>
        </p:blipFill>
        <p:spPr>
          <a:xfrm>
            <a:off x="9905695" y="2257654"/>
            <a:ext cx="190195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0"/>
          <p:cNvSpPr txBox="1"/>
          <p:nvPr/>
        </p:nvSpPr>
        <p:spPr>
          <a:xfrm>
            <a:off x="10172700" y="2171700"/>
            <a:ext cx="759866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SGD (갇힘)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9905695" y="2529230"/>
            <a:ext cx="190195" cy="38405"/>
          </a:xfrm>
          <a:prstGeom prst="roundRect">
            <a:avLst>
              <a:gd fmla="val 1190470" name="adj"/>
            </a:avLst>
          </a:prstGeom>
          <a:solidFill>
            <a:srgbClr val="A78B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10172700" y="2447849"/>
            <a:ext cx="118049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Momentum (탈출)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9905695" y="2786177"/>
            <a:ext cx="75895" cy="75895"/>
          </a:xfrm>
          <a:prstGeom prst="ellipse">
            <a:avLst/>
          </a:prstGeom>
          <a:solidFill>
            <a:srgbClr val="334155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 txBox="1"/>
          <p:nvPr/>
        </p:nvSpPr>
        <p:spPr>
          <a:xfrm>
            <a:off x="10058400" y="2723998"/>
            <a:ext cx="144018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Local Minima (함정)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571500" y="838505"/>
            <a:ext cx="113541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C5FD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D3C5FD"/>
                </a:solidFill>
                <a:latin typeface="Noto Sans KR"/>
                <a:ea typeface="Noto Sans KR"/>
                <a:cs typeface="Noto Sans KR"/>
                <a:sym typeface="Noto Sans KR"/>
              </a:rPr>
              <a:t>모멘텀: 작은 굴곡을 넘어서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81305"/>
            <a:ext cx="1019556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0"/>
          <p:cNvSpPr/>
          <p:nvPr/>
        </p:nvSpPr>
        <p:spPr>
          <a:xfrm>
            <a:off x="571500" y="381305"/>
            <a:ext cx="1019556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EDE9FE"/>
                </a:solidFill>
                <a:latin typeface="Noto Sans KR"/>
                <a:ea typeface="Noto Sans KR"/>
                <a:cs typeface="Noto Sans KR"/>
                <a:sym typeface="Noto Sans KR"/>
              </a:rPr>
              <a:t>시각적 효과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571500" y="2021738"/>
            <a:ext cx="3866998" cy="1276502"/>
          </a:xfrm>
          <a:prstGeom prst="roundRect">
            <a:avLst>
              <a:gd fmla="val 8553" name="adj"/>
            </a:avLst>
          </a:prstGeom>
          <a:solidFill>
            <a:srgbClr val="1E293B">
              <a:alpha val="60000"/>
            </a:srgbClr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11"/>
          <p:cNvPicPr preferRelativeResize="0"/>
          <p:nvPr/>
        </p:nvPicPr>
        <p:blipFill rotWithShape="1">
          <a:blip r:embed="rId3">
            <a:alphaModFix/>
          </a:blip>
          <a:srcRect b="0" l="-133" r="-133" t="0"/>
          <a:stretch/>
        </p:blipFill>
        <p:spPr>
          <a:xfrm>
            <a:off x="733349" y="2198218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 txBox="1"/>
          <p:nvPr/>
        </p:nvSpPr>
        <p:spPr>
          <a:xfrm>
            <a:off x="1019556" y="2183587"/>
            <a:ext cx="1207008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보폭의 딜레마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733349" y="2536546"/>
            <a:ext cx="3620110" cy="60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산을 내려올 때 </a:t>
            </a: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보폭(Step Size)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 너무 작으면 해가 질 때까지 목표에 도달하지 못합니다. 반대로 너무 넓게 뛰면 골짜기를 건너뛰거나 오히려 산비탈을 다시 올라가는 참사가 벌어집니다.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47395" y="3565246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11"/>
          <p:cNvPicPr preferRelativeResize="0"/>
          <p:nvPr/>
        </p:nvPicPr>
        <p:blipFill rotWithShape="1">
          <a:blip r:embed="rId4">
            <a:alphaModFix/>
          </a:blip>
          <a:srcRect b="-100" l="0" r="0" t="-100"/>
          <a:stretch/>
        </p:blipFill>
        <p:spPr>
          <a:xfrm>
            <a:off x="761695" y="3660343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1"/>
          <p:cNvSpPr txBox="1"/>
          <p:nvPr/>
        </p:nvSpPr>
        <p:spPr>
          <a:xfrm>
            <a:off x="1104595" y="3565246"/>
            <a:ext cx="33723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학습률이 너무 작을 때 (Low LR)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1104595" y="3813048"/>
            <a:ext cx="3333902" cy="352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안전하지만 극도로 느립니다. 수만 번을 걸어도 제자리일 수 있으며, 작은 웅덩이(Local Minima)에 쉽게 갇힙니다.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47395" y="4425696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EF4444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1"/>
          <p:cNvPicPr preferRelativeResize="0"/>
          <p:nvPr/>
        </p:nvPicPr>
        <p:blipFill rotWithShape="1">
          <a:blip r:embed="rId5">
            <a:alphaModFix/>
          </a:blip>
          <a:srcRect b="-42" l="0" r="0" t="-43"/>
          <a:stretch/>
        </p:blipFill>
        <p:spPr>
          <a:xfrm>
            <a:off x="752551" y="4521708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1"/>
          <p:cNvSpPr txBox="1"/>
          <p:nvPr/>
        </p:nvSpPr>
        <p:spPr>
          <a:xfrm>
            <a:off x="1104595" y="4425696"/>
            <a:ext cx="33723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학습률이 너무 클 때 (High LR)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1104595" y="4673498"/>
            <a:ext cx="3333902" cy="52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빠르게 이동하지만 목표 지점을 지나쳐버립니다(Overshooting). 심하면 값이 발산하여 학습이 불가능해집니다.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47395" y="5460797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1"/>
          <p:cNvPicPr preferRelativeResize="0"/>
          <p:nvPr/>
        </p:nvPicPr>
        <p:blipFill rotWithShape="1">
          <a:blip r:embed="rId6">
            <a:alphaModFix/>
          </a:blip>
          <a:srcRect b="-42" l="0" r="0" t="-43"/>
          <a:stretch/>
        </p:blipFill>
        <p:spPr>
          <a:xfrm>
            <a:off x="752551" y="5555894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 txBox="1"/>
          <p:nvPr/>
        </p:nvSpPr>
        <p:spPr>
          <a:xfrm>
            <a:off x="1104595" y="5460797"/>
            <a:ext cx="33723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적절한 학습률 (Good LR)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1104595" y="5708599"/>
            <a:ext cx="3333902" cy="352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처음에는 과감하게, 골짜기에 가까워질수록 신중하게 접근하여 효율적으로 수렴합니다.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819802" y="1580998"/>
            <a:ext cx="6801307" cy="4990795"/>
          </a:xfrm>
          <a:prstGeom prst="roundRect">
            <a:avLst>
              <a:gd fmla="val 839" name="adj"/>
            </a:avLst>
          </a:prstGeom>
          <a:solidFill>
            <a:srgbClr val="1E293B">
              <a:alpha val="30196"/>
            </a:srgbClr>
          </a:solidFill>
          <a:ln cap="flat" cmpd="sng" w="12700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11"/>
          <p:cNvPicPr preferRelativeResize="0"/>
          <p:nvPr/>
        </p:nvPicPr>
        <p:blipFill rotWithShape="1">
          <a:blip r:embed="rId7">
            <a:alphaModFix/>
          </a:blip>
          <a:srcRect b="-2" l="0" r="0" t="-2"/>
          <a:stretch/>
        </p:blipFill>
        <p:spPr>
          <a:xfrm>
            <a:off x="4828946" y="1591056"/>
            <a:ext cx="6782105" cy="497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6" name="Google Shape;296;p11"/>
          <p:cNvPicPr preferRelativeResize="0"/>
          <p:nvPr/>
        </p:nvPicPr>
        <p:blipFill rotWithShape="1">
          <a:blip r:embed="rId8">
            <a:alphaModFix/>
          </a:blip>
          <a:srcRect b="0" l="-27" r="-27" t="0"/>
          <a:stretch/>
        </p:blipFill>
        <p:spPr>
          <a:xfrm>
            <a:off x="9794138" y="1781251"/>
            <a:ext cx="1626718" cy="87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 txBox="1"/>
          <p:nvPr/>
        </p:nvSpPr>
        <p:spPr>
          <a:xfrm>
            <a:off x="10242194" y="1904695"/>
            <a:ext cx="117957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High LR (발산/진동)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1"/>
          <p:cNvPicPr preferRelativeResize="0"/>
          <p:nvPr/>
        </p:nvPicPr>
        <p:blipFill rotWithShape="1">
          <a:blip r:embed="rId9">
            <a:alphaModFix/>
          </a:blip>
          <a:srcRect b="0" l="-323" r="-322" t="0"/>
          <a:stretch/>
        </p:blipFill>
        <p:spPr>
          <a:xfrm>
            <a:off x="9955987" y="1976018"/>
            <a:ext cx="190195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 txBox="1"/>
          <p:nvPr/>
        </p:nvSpPr>
        <p:spPr>
          <a:xfrm>
            <a:off x="10242194" y="2133295"/>
            <a:ext cx="1213409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Good LR (최적 수렴)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1"/>
          <p:cNvPicPr preferRelativeResize="0"/>
          <p:nvPr/>
        </p:nvPicPr>
        <p:blipFill rotWithShape="1">
          <a:blip r:embed="rId10">
            <a:alphaModFix/>
          </a:blip>
          <a:srcRect b="0" l="-323" r="-322" t="0"/>
          <a:stretch/>
        </p:blipFill>
        <p:spPr>
          <a:xfrm>
            <a:off x="9955987" y="2204618"/>
            <a:ext cx="190195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1"/>
          <p:cNvSpPr txBox="1"/>
          <p:nvPr/>
        </p:nvSpPr>
        <p:spPr>
          <a:xfrm>
            <a:off x="10242194" y="2361895"/>
            <a:ext cx="113385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Low LR (느린 속도)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11"/>
          <p:cNvPicPr preferRelativeResize="0"/>
          <p:nvPr/>
        </p:nvPicPr>
        <p:blipFill rotWithShape="1">
          <a:blip r:embed="rId11">
            <a:alphaModFix/>
          </a:blip>
          <a:srcRect b="0" l="-323" r="-322" t="0"/>
          <a:stretch/>
        </p:blipFill>
        <p:spPr>
          <a:xfrm>
            <a:off x="9955987" y="2433218"/>
            <a:ext cx="190195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 txBox="1"/>
          <p:nvPr/>
        </p:nvSpPr>
        <p:spPr>
          <a:xfrm>
            <a:off x="571500" y="790956"/>
            <a:ext cx="113541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보폭의 문제: 너무 크거나 작을 때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381305"/>
            <a:ext cx="2038198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1"/>
          <p:cNvSpPr/>
          <p:nvPr/>
        </p:nvSpPr>
        <p:spPr>
          <a:xfrm>
            <a:off x="571500" y="381305"/>
            <a:ext cx="2039112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학습률 (Learning Rate)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2"/>
          <p:cNvPicPr preferRelativeResize="0"/>
          <p:nvPr/>
        </p:nvPicPr>
        <p:blipFill rotWithShape="1">
          <a:blip r:embed="rId3">
            <a:alphaModFix/>
          </a:blip>
          <a:srcRect b="-5" l="0" r="0" t="-6"/>
          <a:stretch/>
        </p:blipFill>
        <p:spPr>
          <a:xfrm>
            <a:off x="571500" y="1760220"/>
            <a:ext cx="3866998" cy="1899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12"/>
          <p:cNvPicPr preferRelativeResize="0"/>
          <p:nvPr/>
        </p:nvPicPr>
        <p:blipFill rotWithShape="1">
          <a:blip r:embed="rId4">
            <a:alphaModFix/>
          </a:blip>
          <a:srcRect b="0" l="-90" r="-90" t="0"/>
          <a:stretch/>
        </p:blipFill>
        <p:spPr>
          <a:xfrm>
            <a:off x="809244" y="1998878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2"/>
          <p:cNvSpPr txBox="1"/>
          <p:nvPr/>
        </p:nvSpPr>
        <p:spPr>
          <a:xfrm>
            <a:off x="1333195" y="1998878"/>
            <a:ext cx="1869948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A5B4FC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맞춤형 신발의 원리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809244" y="2446020"/>
            <a:ext cx="3467405" cy="981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진흙탕(가파른 경사)에서는 미끄러지지 않게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보폭을 줄여 조심스럽게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걷고, 평지(완만한 경사)에서는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보폭을 넓혀 과감하게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걷습니다. 변수의 상황에 따라 발걸음 크기를 자동으로 조절합니다.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571500" y="3944722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12E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2"/>
          <p:cNvPicPr preferRelativeResize="0"/>
          <p:nvPr/>
        </p:nvPicPr>
        <p:blipFill rotWithShape="1">
          <a:blip r:embed="rId5">
            <a:alphaModFix/>
          </a:blip>
          <a:srcRect b="-841" l="0" r="0" t="-842"/>
          <a:stretch/>
        </p:blipFill>
        <p:spPr>
          <a:xfrm>
            <a:off x="666598" y="4049878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 txBox="1"/>
          <p:nvPr/>
        </p:nvSpPr>
        <p:spPr>
          <a:xfrm>
            <a:off x="1095451" y="3944722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 제곱의 누적 (History)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1095451" y="4250131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과거의 기울기를 계속 제곱하여 더합니다. 많이 움직인 변수일수록 이 값이 커집니다.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71500" y="4840834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12E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4945075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2"/>
          <p:cNvSpPr txBox="1"/>
          <p:nvPr/>
        </p:nvSpPr>
        <p:spPr>
          <a:xfrm>
            <a:off x="1095451" y="4840834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보폭 감소 (Decay)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1095451" y="5145329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누적된 값이 큰 변수는 학습률을 나눠주어 보폭을 줄입니다. 결과적으로 가파른 축의 진동을 억제합니다.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71500" y="5736031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12E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656" y="5840273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 txBox="1"/>
          <p:nvPr/>
        </p:nvSpPr>
        <p:spPr>
          <a:xfrm>
            <a:off x="1095451" y="5736031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희소 특징(Sparse Feature) 학습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1095451" y="6040526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드물게 등장해 업데이트가 적었던 변수는 누적값이 작아 보폭이 크게 유지되므로, 중요한 정보를 놓치지 않습니다.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4819802" y="1628546"/>
            <a:ext cx="6801307" cy="4943246"/>
          </a:xfrm>
          <a:prstGeom prst="roundRect">
            <a:avLst>
              <a:gd fmla="val 855" name="adj"/>
            </a:avLst>
          </a:prstGeom>
          <a:solidFill>
            <a:srgbClr val="1E293B"/>
          </a:solidFill>
          <a:ln cap="flat" cmpd="sng" w="12700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12"/>
          <p:cNvPicPr preferRelativeResize="0"/>
          <p:nvPr/>
        </p:nvPicPr>
        <p:blipFill rotWithShape="1">
          <a:blip r:embed="rId8">
            <a:alphaModFix/>
          </a:blip>
          <a:srcRect b="0" l="-6" r="-5" t="0"/>
          <a:stretch/>
        </p:blipFill>
        <p:spPr>
          <a:xfrm>
            <a:off x="4828946" y="1638605"/>
            <a:ext cx="6782105" cy="492404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2"/>
          <p:cNvSpPr txBox="1"/>
          <p:nvPr/>
        </p:nvSpPr>
        <p:spPr>
          <a:xfrm>
            <a:off x="571500" y="838505"/>
            <a:ext cx="112398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818CF8"/>
                </a:solidFill>
                <a:latin typeface="Noto Sans KR"/>
                <a:ea typeface="Noto Sans KR"/>
                <a:cs typeface="Noto Sans KR"/>
                <a:sym typeface="Noto Sans KR"/>
              </a:rPr>
              <a:t>변수별 맞춤형 보폭 조절 (Adaptive LR)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1305"/>
            <a:ext cx="1638605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2"/>
          <p:cNvSpPr/>
          <p:nvPr/>
        </p:nvSpPr>
        <p:spPr>
          <a:xfrm>
            <a:off x="571500" y="381305"/>
            <a:ext cx="1638605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해결책 3: Adagrad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9060790" y="1828800"/>
            <a:ext cx="2361895" cy="905256"/>
          </a:xfrm>
          <a:prstGeom prst="roundRect">
            <a:avLst>
              <a:gd fmla="val 8506" name="adj"/>
            </a:avLst>
          </a:prstGeom>
          <a:solidFill>
            <a:srgbClr val="0F17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9622231" y="1952244"/>
            <a:ext cx="194401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가파른 축 (Y): 보폭 급격히 감소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9622231" y="2200046"/>
            <a:ext cx="194401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완만한 축 (X): 보폭 서서히 감소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9260129" y="2447849"/>
            <a:ext cx="240761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* 화살표 길이는 실제 업데이트 크기를 나타냄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2"/>
          <p:cNvPicPr preferRelativeResize="0"/>
          <p:nvPr/>
        </p:nvPicPr>
        <p:blipFill rotWithShape="1">
          <a:blip r:embed="rId10">
            <a:alphaModFix/>
          </a:blip>
          <a:srcRect b="0" l="-485" r="-485" t="0"/>
          <a:stretch/>
        </p:blipFill>
        <p:spPr>
          <a:xfrm>
            <a:off x="9260129" y="2024482"/>
            <a:ext cx="286207" cy="28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p12"/>
          <p:cNvPicPr preferRelativeResize="0"/>
          <p:nvPr/>
        </p:nvPicPr>
        <p:blipFill rotWithShape="1">
          <a:blip r:embed="rId11">
            <a:alphaModFix/>
          </a:blip>
          <a:srcRect b="0" l="-485" r="-485" t="0"/>
          <a:stretch/>
        </p:blipFill>
        <p:spPr>
          <a:xfrm>
            <a:off x="9260129" y="2271370"/>
            <a:ext cx="286207" cy="28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571500" y="1628546"/>
            <a:ext cx="3866998" cy="2143354"/>
          </a:xfrm>
          <a:prstGeom prst="roundRect">
            <a:avLst>
              <a:gd fmla="val 3034" name="adj"/>
            </a:avLst>
          </a:prstGeom>
          <a:solidFill>
            <a:srgbClr val="1E293B">
              <a:alpha val="60000"/>
            </a:srgbClr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13"/>
          <p:cNvPicPr preferRelativeResize="0"/>
          <p:nvPr/>
        </p:nvPicPr>
        <p:blipFill rotWithShape="1">
          <a:blip r:embed="rId3">
            <a:alphaModFix/>
          </a:blip>
          <a:srcRect b="0" l="-90" r="-90" t="0"/>
          <a:stretch/>
        </p:blipFill>
        <p:spPr>
          <a:xfrm>
            <a:off x="809244" y="1867205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 txBox="1"/>
          <p:nvPr/>
        </p:nvSpPr>
        <p:spPr>
          <a:xfrm>
            <a:off x="1333195" y="1867205"/>
            <a:ext cx="2097634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C084FC"/>
                </a:solidFill>
                <a:latin typeface="Noto Sans KR"/>
                <a:ea typeface="Noto Sans KR"/>
                <a:cs typeface="Noto Sans KR"/>
                <a:sym typeface="Noto Sans KR"/>
              </a:rPr>
              <a:t>지수 이동 평균 (EMA)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 txBox="1"/>
          <p:nvPr/>
        </p:nvSpPr>
        <p:spPr>
          <a:xfrm>
            <a:off x="809244" y="2314346"/>
            <a:ext cx="3467405" cy="1219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"먼 과거의 급경사는 잊어라."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Adagrad는 모든 과거의 기울기를 누적해 학습이 멈추는 문제가 있었습니다.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RMSProp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은 오래된 정보는 서서히 잊고(Decay), 최근 기울기 정보만 반영하여 보폭을 적절히 유지합니다.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71500" y="4057193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4162349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3"/>
          <p:cNvSpPr txBox="1"/>
          <p:nvPr/>
        </p:nvSpPr>
        <p:spPr>
          <a:xfrm>
            <a:off x="1095451" y="4057193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과거 정보 감쇠 (Decay)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1095451" y="4362602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 제곱을 누적할 때 $\gamma$ (보통 0.9)를 곱해 과거의 영향을 줄입니다. 학습이 조기 종료되는 것을 방지합니다.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71500" y="4953305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505754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3"/>
          <p:cNvSpPr txBox="1"/>
          <p:nvPr/>
        </p:nvSpPr>
        <p:spPr>
          <a:xfrm>
            <a:off x="1095451" y="4953305"/>
            <a:ext cx="353415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보폭 조절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1095451" y="5257800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가파른 축(급경사)은 보폭을 줄여 진동을 막고, 완만한 축(평지)은 보폭을 유지해 빠르게 이동합니다.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571500" y="5848502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3415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595274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3"/>
          <p:cNvSpPr txBox="1"/>
          <p:nvPr/>
        </p:nvSpPr>
        <p:spPr>
          <a:xfrm>
            <a:off x="1095451" y="5848502"/>
            <a:ext cx="353415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안정적 수렴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1095451" y="6152998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Adagrad의 장점인 '축별 적응'을 유지하면서도, 끝까지 학습을 지속할 수 있는 지구력을 가집니다.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13"/>
          <p:cNvPicPr preferRelativeResize="0"/>
          <p:nvPr/>
        </p:nvPicPr>
        <p:blipFill rotWithShape="1">
          <a:blip r:embed="rId7">
            <a:alphaModFix/>
          </a:blip>
          <a:srcRect b="0" l="-7" r="-6" t="0"/>
          <a:stretch/>
        </p:blipFill>
        <p:spPr>
          <a:xfrm>
            <a:off x="4819802" y="1628546"/>
            <a:ext cx="6801307" cy="4924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4" name="Google Shape;364;p13"/>
          <p:cNvPicPr preferRelativeResize="0"/>
          <p:nvPr/>
        </p:nvPicPr>
        <p:blipFill rotWithShape="1">
          <a:blip r:embed="rId8">
            <a:alphaModFix/>
          </a:blip>
          <a:srcRect b="-2" l="0" r="0" t="-2"/>
          <a:stretch/>
        </p:blipFill>
        <p:spPr>
          <a:xfrm>
            <a:off x="4828946" y="1638605"/>
            <a:ext cx="6782105" cy="490575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9434779" y="1828800"/>
            <a:ext cx="1990649" cy="694944"/>
          </a:xfrm>
          <a:prstGeom prst="roundRect">
            <a:avLst>
              <a:gd fmla="val 21629" name="adj"/>
            </a:avLst>
          </a:prstGeom>
          <a:solidFill>
            <a:srgbClr val="0F172A">
              <a:alpha val="90196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3"/>
          <p:cNvPicPr preferRelativeResize="0"/>
          <p:nvPr/>
        </p:nvPicPr>
        <p:blipFill rotWithShape="1">
          <a:blip r:embed="rId9">
            <a:alphaModFix/>
          </a:blip>
          <a:srcRect b="0" l="-323" r="-322" t="0"/>
          <a:stretch/>
        </p:blipFill>
        <p:spPr>
          <a:xfrm>
            <a:off x="9635033" y="2030882"/>
            <a:ext cx="237744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 txBox="1"/>
          <p:nvPr/>
        </p:nvSpPr>
        <p:spPr>
          <a:xfrm>
            <a:off x="9967874" y="1952244"/>
            <a:ext cx="146212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RMSProp 경로 (안정적)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8" name="Google Shape;368;p13"/>
          <p:cNvPicPr preferRelativeResize="0"/>
          <p:nvPr/>
        </p:nvPicPr>
        <p:blipFill rotWithShape="1">
          <a:blip r:embed="rId10">
            <a:alphaModFix amt="50000"/>
          </a:blip>
          <a:srcRect b="0" l="-323" r="-322" t="0"/>
          <a:stretch/>
        </p:blipFill>
        <p:spPr>
          <a:xfrm>
            <a:off x="9635033" y="2293315"/>
            <a:ext cx="237744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3"/>
          <p:cNvSpPr txBox="1"/>
          <p:nvPr/>
        </p:nvSpPr>
        <p:spPr>
          <a:xfrm>
            <a:off x="9967874" y="2214677"/>
            <a:ext cx="133776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SGD 경로 (심한 진동)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571500" y="838505"/>
            <a:ext cx="113541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1DC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CAD1DC"/>
                </a:solidFill>
                <a:latin typeface="Noto Sans KR"/>
                <a:ea typeface="Noto Sans KR"/>
                <a:cs typeface="Noto Sans KR"/>
                <a:sym typeface="Noto Sans KR"/>
              </a:rPr>
              <a:t>적응형 학습률의 진화와 안정화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381305"/>
            <a:ext cx="1666951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3"/>
          <p:cNvSpPr/>
          <p:nvPr/>
        </p:nvSpPr>
        <p:spPr>
          <a:xfrm>
            <a:off x="571500" y="381305"/>
            <a:ext cx="1666951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해결책 4: RMSProp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14"/>
          <p:cNvPicPr preferRelativeResize="0"/>
          <p:nvPr/>
        </p:nvPicPr>
        <p:blipFill rotWithShape="1">
          <a:blip r:embed="rId3">
            <a:alphaModFix/>
          </a:blip>
          <a:srcRect b="-5" l="0" r="0" t="-6"/>
          <a:stretch/>
        </p:blipFill>
        <p:spPr>
          <a:xfrm>
            <a:off x="571500" y="1712671"/>
            <a:ext cx="3866998" cy="1899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1" name="Google Shape;381;p14"/>
          <p:cNvPicPr preferRelativeResize="0"/>
          <p:nvPr/>
        </p:nvPicPr>
        <p:blipFill rotWithShape="1">
          <a:blip r:embed="rId4">
            <a:alphaModFix/>
          </a:blip>
          <a:srcRect b="0" l="-90" r="-90" t="0"/>
          <a:stretch/>
        </p:blipFill>
        <p:spPr>
          <a:xfrm>
            <a:off x="809244" y="1950415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4"/>
          <p:cNvSpPr txBox="1"/>
          <p:nvPr/>
        </p:nvSpPr>
        <p:spPr>
          <a:xfrm>
            <a:off x="1333195" y="1950415"/>
            <a:ext cx="2397557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818CF8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 가변 속도 자전거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809244" y="2398471"/>
            <a:ext cx="3467405" cy="981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Adam은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'내리막 속도(관성)'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를 유지하면서, 지형의 험난함에 따라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'기어(보폭)'</a:t>
            </a: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를 자동으로 바꾸는 자전거와 같습니다. 평탄한 길에선 빠르게, 급커브에선 정교하게 움직입니다.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71500" y="3897173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312E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5" name="Google Shape;38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4011473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4"/>
          <p:cNvSpPr txBox="1"/>
          <p:nvPr/>
        </p:nvSpPr>
        <p:spPr>
          <a:xfrm>
            <a:off x="1095451" y="3897173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Momentum (방향)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1095451" y="4202582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과거의 이동 방향을 기억하여 관성을 더해줍니다. 흔들림을 줄이고 속도를 높입니다.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71500" y="4793285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831843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490758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4"/>
          <p:cNvSpPr txBox="1"/>
          <p:nvPr/>
        </p:nvSpPr>
        <p:spPr>
          <a:xfrm>
            <a:off x="1095451" y="4793285"/>
            <a:ext cx="345826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RMSProp (보폭)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1095451" y="5097780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변화가 심한 파라미터는 보폭을 줄이고, 변화가 적은 곳은 보폭을 키워 균형을 맞춥니다.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571500" y="5688482"/>
            <a:ext cx="381305" cy="381305"/>
          </a:xfrm>
          <a:prstGeom prst="roundRect">
            <a:avLst>
              <a:gd fmla="val 59952" name="adj"/>
            </a:avLst>
          </a:prstGeom>
          <a:solidFill>
            <a:srgbClr val="064E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4"/>
          <p:cNvPicPr preferRelativeResize="0"/>
          <p:nvPr/>
        </p:nvPicPr>
        <p:blipFill rotWithShape="1">
          <a:blip r:embed="rId7">
            <a:alphaModFix/>
          </a:blip>
          <a:srcRect b="-42" l="0" r="0" t="-43"/>
          <a:stretch/>
        </p:blipFill>
        <p:spPr>
          <a:xfrm>
            <a:off x="694944" y="5802782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4"/>
          <p:cNvSpPr txBox="1"/>
          <p:nvPr/>
        </p:nvSpPr>
        <p:spPr>
          <a:xfrm>
            <a:off x="1095451" y="5688482"/>
            <a:ext cx="353415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최고의 시너지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1095451" y="5992978"/>
            <a:ext cx="3419856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빠른 수렴 속도와 안정적인 학습 경로를 동시에 달성하여 현재 가장 널리 쓰입니다.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4819802" y="1628546"/>
            <a:ext cx="6801307" cy="4848149"/>
          </a:xfrm>
          <a:prstGeom prst="roundRect">
            <a:avLst>
              <a:gd fmla="val 889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7" name="Google Shape;397;p14"/>
          <p:cNvPicPr preferRelativeResize="0"/>
          <p:nvPr/>
        </p:nvPicPr>
        <p:blipFill rotWithShape="1">
          <a:blip r:embed="rId8">
            <a:alphaModFix/>
          </a:blip>
          <a:srcRect b="0" l="-5" r="-4" t="0"/>
          <a:stretch/>
        </p:blipFill>
        <p:spPr>
          <a:xfrm>
            <a:off x="4828946" y="1638605"/>
            <a:ext cx="6782105" cy="482894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4"/>
          <p:cNvSpPr txBox="1"/>
          <p:nvPr/>
        </p:nvSpPr>
        <p:spPr>
          <a:xfrm>
            <a:off x="571500" y="838505"/>
            <a:ext cx="112398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Adam: 모멘텀과 RMSProp의 결합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1305"/>
            <a:ext cx="3238805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4"/>
          <p:cNvSpPr/>
          <p:nvPr/>
        </p:nvSpPr>
        <p:spPr>
          <a:xfrm>
            <a:off x="571500" y="381305"/>
            <a:ext cx="3238805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최적화의 완성 (The Ultimate Optimizer)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9864547" y="1828800"/>
            <a:ext cx="1561795" cy="961949"/>
          </a:xfrm>
          <a:prstGeom prst="roundRect">
            <a:avLst>
              <a:gd fmla="val 7529" name="adj"/>
            </a:avLst>
          </a:prstGeom>
          <a:solidFill>
            <a:srgbClr val="0F172A">
              <a:alpha val="90196"/>
            </a:srgbClr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 txBox="1"/>
          <p:nvPr/>
        </p:nvSpPr>
        <p:spPr>
          <a:xfrm>
            <a:off x="10397642" y="1952244"/>
            <a:ext cx="67665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Adam 경로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p14"/>
          <p:cNvPicPr preferRelativeResize="0"/>
          <p:nvPr/>
        </p:nvPicPr>
        <p:blipFill rotWithShape="1">
          <a:blip r:embed="rId10">
            <a:alphaModFix/>
          </a:blip>
          <a:srcRect b="0" l="-323" r="-322" t="0"/>
          <a:stretch/>
        </p:blipFill>
        <p:spPr>
          <a:xfrm>
            <a:off x="10064801" y="2030882"/>
            <a:ext cx="237744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4"/>
          <p:cNvSpPr txBox="1"/>
          <p:nvPr/>
        </p:nvSpPr>
        <p:spPr>
          <a:xfrm>
            <a:off x="10254996" y="2214677"/>
            <a:ext cx="74889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시작 (Start)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10064801" y="2259482"/>
            <a:ext cx="95098" cy="9509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 txBox="1"/>
          <p:nvPr/>
        </p:nvSpPr>
        <p:spPr>
          <a:xfrm>
            <a:off x="10254996" y="2476195"/>
            <a:ext cx="115671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(Global Min)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7" name="Google Shape;40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64801" y="2521915"/>
            <a:ext cx="95098" cy="95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5" name="Google Shape;415;p15"/>
          <p:cNvPicPr preferRelativeResize="0"/>
          <p:nvPr/>
        </p:nvPicPr>
        <p:blipFill rotWithShape="1">
          <a:blip r:embed="rId3">
            <a:alphaModFix/>
          </a:blip>
          <a:srcRect b="-2" l="0" r="0" t="-2"/>
          <a:stretch/>
        </p:blipFill>
        <p:spPr>
          <a:xfrm>
            <a:off x="571500" y="2070202"/>
            <a:ext cx="3866998" cy="17849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 txBox="1"/>
          <p:nvPr/>
        </p:nvSpPr>
        <p:spPr>
          <a:xfrm>
            <a:off x="1228954" y="2307946"/>
            <a:ext cx="316199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A78BFA"/>
                </a:solidFill>
                <a:latin typeface="Noto Sans KR"/>
                <a:ea typeface="Noto Sans KR"/>
                <a:cs typeface="Noto Sans KR"/>
                <a:sym typeface="Noto Sans KR"/>
              </a:rPr>
              <a:t> 스마트 가변 속도 자전거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7" name="Google Shape;417;p15"/>
          <p:cNvPicPr preferRelativeResize="0"/>
          <p:nvPr/>
        </p:nvPicPr>
        <p:blipFill rotWithShape="1">
          <a:blip r:embed="rId4">
            <a:alphaModFix/>
          </a:blip>
          <a:srcRect b="0" l="-80" r="-80" t="0"/>
          <a:stretch/>
        </p:blipFill>
        <p:spPr>
          <a:xfrm>
            <a:off x="847649" y="2364638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5"/>
          <p:cNvSpPr txBox="1"/>
          <p:nvPr/>
        </p:nvSpPr>
        <p:spPr>
          <a:xfrm>
            <a:off x="847649" y="2793492"/>
            <a:ext cx="3429000" cy="82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Adam은 </a:t>
            </a:r>
            <a:r>
              <a:rPr b="1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모멘텀(방향)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b="1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RMSProp(보폭)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을 결합하여, 울퉁불퉁한 지형에서도 가장 효율적인 경로를 찾아냅니다.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571500" y="4140403"/>
            <a:ext cx="3866998" cy="972007"/>
          </a:xfrm>
          <a:prstGeom prst="roundRect">
            <a:avLst>
              <a:gd fmla="val 110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771754" y="4416552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8B5CF6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15"/>
          <p:cNvPicPr preferRelativeResize="0"/>
          <p:nvPr/>
        </p:nvPicPr>
        <p:blipFill rotWithShape="1">
          <a:blip r:embed="rId5">
            <a:alphaModFix/>
          </a:blip>
          <a:srcRect b="0" l="-1282" r="-1282" t="0"/>
          <a:stretch/>
        </p:blipFill>
        <p:spPr>
          <a:xfrm>
            <a:off x="871423" y="453085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5"/>
          <p:cNvSpPr txBox="1"/>
          <p:nvPr/>
        </p:nvSpPr>
        <p:spPr>
          <a:xfrm>
            <a:off x="1333195" y="4293108"/>
            <a:ext cx="30202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기어 변속 (Adaptive)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1333195" y="4559198"/>
            <a:ext cx="2981858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경사가 급하면 신중하게(작은 보폭), 완만하면 과감하게(큰 보폭) 움직입니다.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571500" y="5255057"/>
            <a:ext cx="3866998" cy="972007"/>
          </a:xfrm>
          <a:prstGeom prst="roundRect">
            <a:avLst>
              <a:gd fmla="val 110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771754" y="5531206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6" name="Google Shape;4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054" y="564550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5"/>
          <p:cNvSpPr txBox="1"/>
          <p:nvPr/>
        </p:nvSpPr>
        <p:spPr>
          <a:xfrm>
            <a:off x="1333195" y="5406847"/>
            <a:ext cx="30202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관성 주행 (Momentum)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1333195" y="5673852"/>
            <a:ext cx="2981858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속도를 기억하여 얕은 골짜기나 평지에서도 멈추지 않고 나아갑니다.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15"/>
          <p:cNvPicPr preferRelativeResize="0"/>
          <p:nvPr/>
        </p:nvPicPr>
        <p:blipFill rotWithShape="1">
          <a:blip r:embed="rId7">
            <a:alphaModFix/>
          </a:blip>
          <a:srcRect b="-4" l="0" r="0" t="-5"/>
          <a:stretch/>
        </p:blipFill>
        <p:spPr>
          <a:xfrm>
            <a:off x="4914900" y="1819656"/>
            <a:ext cx="6705295" cy="4657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0" name="Google Shape;430;p15"/>
          <p:cNvPicPr preferRelativeResize="0"/>
          <p:nvPr/>
        </p:nvPicPr>
        <p:blipFill rotWithShape="1">
          <a:blip r:embed="rId8">
            <a:alphaModFix/>
          </a:blip>
          <a:srcRect b="0" l="-3" r="-3" t="0"/>
          <a:stretch/>
        </p:blipFill>
        <p:spPr>
          <a:xfrm>
            <a:off x="4924044" y="1828800"/>
            <a:ext cx="6687007" cy="4638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1" name="Google Shape;4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10251" y="5526634"/>
            <a:ext cx="2419502" cy="65745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5"/>
          <p:cNvSpPr/>
          <p:nvPr/>
        </p:nvSpPr>
        <p:spPr>
          <a:xfrm>
            <a:off x="5590642" y="5526634"/>
            <a:ext cx="2039112" cy="6574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Adam Path (Smooth &amp; Direct) SGD (Zigzag / Slow)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10505" y="571957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4" name="Google Shape;43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10505" y="5927141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5"/>
          <p:cNvSpPr txBox="1"/>
          <p:nvPr/>
        </p:nvSpPr>
        <p:spPr>
          <a:xfrm>
            <a:off x="571500" y="838505"/>
            <a:ext cx="11239805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C5FD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D3C5FD"/>
                </a:solidFill>
                <a:latin typeface="Noto Sans KR"/>
                <a:ea typeface="Noto Sans KR"/>
                <a:cs typeface="Noto Sans KR"/>
                <a:sym typeface="Noto Sans KR"/>
              </a:rPr>
              <a:t>Adam의 작동 시각화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6" name="Google Shape;43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381305"/>
            <a:ext cx="1152144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5"/>
          <p:cNvSpPr/>
          <p:nvPr/>
        </p:nvSpPr>
        <p:spPr>
          <a:xfrm>
            <a:off x="571500" y="381305"/>
            <a:ext cx="1153058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EDE9FE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최적화의 완성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571500" y="1495044"/>
            <a:ext cx="11048695" cy="1429207"/>
          </a:xfrm>
          <a:prstGeom prst="roundRect">
            <a:avLst>
              <a:gd fmla="val 6824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54" y="173827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6"/>
          <p:cNvSpPr txBox="1"/>
          <p:nvPr/>
        </p:nvSpPr>
        <p:spPr>
          <a:xfrm>
            <a:off x="1037844" y="1695298"/>
            <a:ext cx="276606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곡선 (Loss vs Iterations)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8" name="Google Shape;448;p16"/>
          <p:cNvPicPr preferRelativeResize="0"/>
          <p:nvPr/>
        </p:nvPicPr>
        <p:blipFill rotWithShape="1">
          <a:blip r:embed="rId4">
            <a:alphaModFix/>
          </a:blip>
          <a:srcRect b="-27" l="0" r="0" t="-27"/>
          <a:stretch/>
        </p:blipFill>
        <p:spPr>
          <a:xfrm>
            <a:off x="771754" y="2048256"/>
            <a:ext cx="10649102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6"/>
          <p:cNvSpPr/>
          <p:nvPr/>
        </p:nvSpPr>
        <p:spPr>
          <a:xfrm>
            <a:off x="571500" y="3114446"/>
            <a:ext cx="11048695" cy="3362249"/>
          </a:xfrm>
          <a:prstGeom prst="roundRect">
            <a:avLst>
              <a:gd fmla="val 123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0" name="Google Shape;4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754" y="3357677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6"/>
          <p:cNvSpPr txBox="1"/>
          <p:nvPr/>
        </p:nvSpPr>
        <p:spPr>
          <a:xfrm>
            <a:off x="1037844" y="3314700"/>
            <a:ext cx="131765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특성 상세 비교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771754" y="4180637"/>
            <a:ext cx="2133295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 txBox="1"/>
          <p:nvPr/>
        </p:nvSpPr>
        <p:spPr>
          <a:xfrm>
            <a:off x="771754" y="3666744"/>
            <a:ext cx="2210105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2901391" y="4180637"/>
            <a:ext cx="2133295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 txBox="1"/>
          <p:nvPr/>
        </p:nvSpPr>
        <p:spPr>
          <a:xfrm>
            <a:off x="2901391" y="3666744"/>
            <a:ext cx="2210105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수렴 속도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5031029" y="4180637"/>
            <a:ext cx="2133295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 txBox="1"/>
          <p:nvPr/>
        </p:nvSpPr>
        <p:spPr>
          <a:xfrm>
            <a:off x="5031029" y="3666744"/>
            <a:ext cx="2210105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안정성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7160666" y="4180637"/>
            <a:ext cx="2667305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 txBox="1"/>
          <p:nvPr/>
        </p:nvSpPr>
        <p:spPr>
          <a:xfrm>
            <a:off x="7160666" y="3666744"/>
            <a:ext cx="2743200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특징 요약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9823399" y="4180637"/>
            <a:ext cx="1600200" cy="1920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6"/>
          <p:cNvSpPr txBox="1"/>
          <p:nvPr/>
        </p:nvSpPr>
        <p:spPr>
          <a:xfrm>
            <a:off x="9823399" y="3666744"/>
            <a:ext cx="1664208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추천도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771754" y="4886554"/>
            <a:ext cx="2133295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3" name="Google Shape;46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4362602"/>
            <a:ext cx="790956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6"/>
          <p:cNvSpPr/>
          <p:nvPr/>
        </p:nvSpPr>
        <p:spPr>
          <a:xfrm>
            <a:off x="1266444" y="4362602"/>
            <a:ext cx="438912" cy="3621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Noto Sans KR"/>
                <a:ea typeface="Noto Sans KR"/>
                <a:cs typeface="Noto Sans KR"/>
                <a:sym typeface="Noto Sans KR"/>
              </a:rPr>
              <a:t>SGD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16"/>
          <p:cNvPicPr preferRelativeResize="0"/>
          <p:nvPr/>
        </p:nvPicPr>
        <p:blipFill rotWithShape="1">
          <a:blip r:embed="rId7">
            <a:alphaModFix/>
          </a:blip>
          <a:srcRect b="-42" l="0" r="0" t="-43"/>
          <a:stretch/>
        </p:blipFill>
        <p:spPr>
          <a:xfrm>
            <a:off x="1037844" y="4466844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6"/>
          <p:cNvSpPr/>
          <p:nvPr/>
        </p:nvSpPr>
        <p:spPr>
          <a:xfrm>
            <a:off x="2901391" y="4886554"/>
            <a:ext cx="2133295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4038" y="4381805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6"/>
          <p:cNvSpPr/>
          <p:nvPr/>
        </p:nvSpPr>
        <p:spPr>
          <a:xfrm>
            <a:off x="3177540" y="4381805"/>
            <a:ext cx="95098" cy="95098"/>
          </a:xfrm>
          <a:prstGeom prst="ellipse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3311042" y="4381805"/>
            <a:ext cx="95098" cy="95098"/>
          </a:xfrm>
          <a:prstGeom prst="ellipse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3444545" y="4381805"/>
            <a:ext cx="95098" cy="95098"/>
          </a:xfrm>
          <a:prstGeom prst="ellipse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3577133" y="4381805"/>
            <a:ext cx="95098" cy="95098"/>
          </a:xfrm>
          <a:prstGeom prst="ellipse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5031029" y="4886554"/>
            <a:ext cx="2133295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6"/>
          <p:cNvSpPr txBox="1"/>
          <p:nvPr/>
        </p:nvSpPr>
        <p:spPr>
          <a:xfrm>
            <a:off x="5031029" y="4200754"/>
            <a:ext cx="2210105" cy="54406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낮음 (진동 심함)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7160666" y="4886554"/>
            <a:ext cx="2667305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6"/>
          <p:cNvSpPr txBox="1"/>
          <p:nvPr/>
        </p:nvSpPr>
        <p:spPr>
          <a:xfrm>
            <a:off x="7303313" y="4343400"/>
            <a:ext cx="2457907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구현이 간단하나,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로컬 미니마 탈출이 어렵고 느림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9823399" y="4886554"/>
            <a:ext cx="1600200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6"/>
          <p:cNvSpPr txBox="1"/>
          <p:nvPr/>
        </p:nvSpPr>
        <p:spPr>
          <a:xfrm>
            <a:off x="9823399" y="4200754"/>
            <a:ext cx="1664208" cy="54406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학습용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771754" y="5581498"/>
            <a:ext cx="2133295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9" name="Google Shape;47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5057546"/>
            <a:ext cx="1362456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6"/>
          <p:cNvSpPr/>
          <p:nvPr/>
        </p:nvSpPr>
        <p:spPr>
          <a:xfrm>
            <a:off x="1285646" y="5057546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Momentum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1" name="Google Shape;48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7844" y="51627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6"/>
          <p:cNvSpPr/>
          <p:nvPr/>
        </p:nvSpPr>
        <p:spPr>
          <a:xfrm>
            <a:off x="2901391" y="5581498"/>
            <a:ext cx="2133295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4038" y="5076749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4" name="Google Shape;48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77540" y="5076749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5" name="Google Shape;48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11042" y="5076749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6"/>
          <p:cNvSpPr/>
          <p:nvPr/>
        </p:nvSpPr>
        <p:spPr>
          <a:xfrm>
            <a:off x="3444545" y="5076749"/>
            <a:ext cx="95098" cy="95098"/>
          </a:xfrm>
          <a:prstGeom prst="ellipse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3577133" y="5076749"/>
            <a:ext cx="95098" cy="95098"/>
          </a:xfrm>
          <a:prstGeom prst="ellipse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5031029" y="5581498"/>
            <a:ext cx="2133295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 txBox="1"/>
          <p:nvPr/>
        </p:nvSpPr>
        <p:spPr>
          <a:xfrm>
            <a:off x="5031029" y="4895698"/>
            <a:ext cx="2210105" cy="54406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중간 (오버슈팅 가능)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7160666" y="5581498"/>
            <a:ext cx="2667305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6"/>
          <p:cNvSpPr txBox="1"/>
          <p:nvPr/>
        </p:nvSpPr>
        <p:spPr>
          <a:xfrm>
            <a:off x="7303313" y="5038344"/>
            <a:ext cx="2457907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관성을 이용해 진동 억제 및 가속,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가파른 곡선에서 유리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9823399" y="5581498"/>
            <a:ext cx="1600200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 txBox="1"/>
          <p:nvPr/>
        </p:nvSpPr>
        <p:spPr>
          <a:xfrm>
            <a:off x="9823399" y="4895698"/>
            <a:ext cx="1664208" cy="54406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Good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4" name="Google Shape;49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4400" y="5753405"/>
            <a:ext cx="972007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6"/>
          <p:cNvSpPr/>
          <p:nvPr/>
        </p:nvSpPr>
        <p:spPr>
          <a:xfrm>
            <a:off x="1324051" y="5753405"/>
            <a:ext cx="562356" cy="3621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Adam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6" name="Google Shape;496;p16"/>
          <p:cNvPicPr preferRelativeResize="0"/>
          <p:nvPr/>
        </p:nvPicPr>
        <p:blipFill rotWithShape="1">
          <a:blip r:embed="rId12">
            <a:alphaModFix/>
          </a:blip>
          <a:srcRect b="-179" l="0" r="0" t="-180"/>
          <a:stretch/>
        </p:blipFill>
        <p:spPr>
          <a:xfrm>
            <a:off x="1037844" y="5857646"/>
            <a:ext cx="190195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7" name="Google Shape;49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4038" y="5772607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8" name="Google Shape;49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77540" y="5772607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9" name="Google Shape;49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11042" y="5772607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0" name="Google Shape;50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44545" y="5772607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1" name="Google Shape;50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77133" y="5772607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6"/>
          <p:cNvSpPr txBox="1"/>
          <p:nvPr/>
        </p:nvSpPr>
        <p:spPr>
          <a:xfrm>
            <a:off x="5031029" y="5591556"/>
            <a:ext cx="22101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높음 (보폭 자동조절)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 txBox="1"/>
          <p:nvPr/>
        </p:nvSpPr>
        <p:spPr>
          <a:xfrm>
            <a:off x="7303313" y="5734202"/>
            <a:ext cx="2457907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방향(Momentum)과 보폭(RMSProp)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모두 최적화. 현재의 표준(Standard).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 txBox="1"/>
          <p:nvPr/>
        </p:nvSpPr>
        <p:spPr>
          <a:xfrm>
            <a:off x="9823399" y="5591556"/>
            <a:ext cx="166420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Best Choice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 txBox="1"/>
          <p:nvPr/>
        </p:nvSpPr>
        <p:spPr>
          <a:xfrm>
            <a:off x="571500" y="694944"/>
            <a:ext cx="11239805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성능 비교: SGD vs Momentum vs Adam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6" name="Google Shape;50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1500" y="286207"/>
            <a:ext cx="886054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6"/>
          <p:cNvSpPr/>
          <p:nvPr/>
        </p:nvSpPr>
        <p:spPr>
          <a:xfrm>
            <a:off x="571500" y="286207"/>
            <a:ext cx="886054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571500" y="1495044"/>
            <a:ext cx="3866998" cy="4886554"/>
          </a:xfrm>
          <a:prstGeom prst="roundRect">
            <a:avLst>
              <a:gd fmla="val 932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7"/>
          <p:cNvSpPr/>
          <p:nvPr/>
        </p:nvSpPr>
        <p:spPr>
          <a:xfrm>
            <a:off x="819302" y="2171700"/>
            <a:ext cx="3372307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302" y="1790395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7"/>
          <p:cNvSpPr txBox="1"/>
          <p:nvPr/>
        </p:nvSpPr>
        <p:spPr>
          <a:xfrm>
            <a:off x="1104595" y="1742846"/>
            <a:ext cx="11622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최적화의 진화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 txBox="1"/>
          <p:nvPr/>
        </p:nvSpPr>
        <p:spPr>
          <a:xfrm>
            <a:off x="1304849" y="2371954"/>
            <a:ext cx="21497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GD (Gradient Descent)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 txBox="1"/>
          <p:nvPr/>
        </p:nvSpPr>
        <p:spPr>
          <a:xfrm>
            <a:off x="1304849" y="2638044"/>
            <a:ext cx="258775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단순하지만 느림. 전체 데이터를 봄.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 txBox="1"/>
          <p:nvPr/>
        </p:nvSpPr>
        <p:spPr>
          <a:xfrm>
            <a:off x="1304849" y="2983687"/>
            <a:ext cx="29324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SGD (Stochastic)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 txBox="1"/>
          <p:nvPr/>
        </p:nvSpPr>
        <p:spPr>
          <a:xfrm>
            <a:off x="1304849" y="3249778"/>
            <a:ext cx="351952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1개씩 빠르게 업데이트. 경로가 불안정(Zigzag).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 txBox="1"/>
          <p:nvPr/>
        </p:nvSpPr>
        <p:spPr>
          <a:xfrm>
            <a:off x="1304849" y="3594506"/>
            <a:ext cx="22393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Momentum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 txBox="1"/>
          <p:nvPr/>
        </p:nvSpPr>
        <p:spPr>
          <a:xfrm>
            <a:off x="1304849" y="3861511"/>
            <a:ext cx="26389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관성을 도입해 진동을 줄이고 속도를 높임.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 txBox="1"/>
          <p:nvPr/>
        </p:nvSpPr>
        <p:spPr>
          <a:xfrm>
            <a:off x="1304849" y="4206240"/>
            <a:ext cx="284652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Adaptive LR (Adagrad/RMSProp)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 txBox="1"/>
          <p:nvPr/>
        </p:nvSpPr>
        <p:spPr>
          <a:xfrm>
            <a:off x="1304849" y="4473245"/>
            <a:ext cx="31629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변수마다 보폭(Learning Rate)을 다르게 자동 조절.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 txBox="1"/>
          <p:nvPr/>
        </p:nvSpPr>
        <p:spPr>
          <a:xfrm>
            <a:off x="1304849" y="4817974"/>
            <a:ext cx="27441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Adam (Standard)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 txBox="1"/>
          <p:nvPr/>
        </p:nvSpPr>
        <p:spPr>
          <a:xfrm>
            <a:off x="1304849" y="5084978"/>
            <a:ext cx="303306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Momentum(방향) + RMSProp(보폭)의 장점 결합.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9" name="Google Shape;529;p17"/>
          <p:cNvPicPr preferRelativeResize="0"/>
          <p:nvPr/>
        </p:nvPicPr>
        <p:blipFill rotWithShape="1">
          <a:blip r:embed="rId4">
            <a:alphaModFix/>
          </a:blip>
          <a:srcRect b="-1" l="0" r="0" t="-1"/>
          <a:stretch/>
        </p:blipFill>
        <p:spPr>
          <a:xfrm>
            <a:off x="4717390" y="1495044"/>
            <a:ext cx="3318358" cy="4886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0" name="Google Shape;5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3291" y="1371600"/>
            <a:ext cx="115214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7"/>
          <p:cNvSpPr/>
          <p:nvPr/>
        </p:nvSpPr>
        <p:spPr>
          <a:xfrm>
            <a:off x="6953098" y="1371600"/>
            <a:ext cx="873252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The Standard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2" name="Google Shape;532;p17"/>
          <p:cNvPicPr preferRelativeResize="0"/>
          <p:nvPr/>
        </p:nvPicPr>
        <p:blipFill rotWithShape="1">
          <a:blip r:embed="rId6">
            <a:alphaModFix/>
          </a:blip>
          <a:srcRect b="0" l="-1911" r="-1910" t="0"/>
          <a:stretch/>
        </p:blipFill>
        <p:spPr>
          <a:xfrm>
            <a:off x="6787591" y="1452982"/>
            <a:ext cx="13350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7"/>
          <p:cNvSpPr/>
          <p:nvPr/>
        </p:nvSpPr>
        <p:spPr>
          <a:xfrm>
            <a:off x="4974336" y="2181758"/>
            <a:ext cx="2809951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4" name="Google Shape;5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4336" y="180045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7"/>
          <p:cNvSpPr txBox="1"/>
          <p:nvPr/>
        </p:nvSpPr>
        <p:spPr>
          <a:xfrm>
            <a:off x="5260543" y="1752905"/>
            <a:ext cx="1506017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왜 Adam을 쓸까?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4974336" y="2381098"/>
            <a:ext cx="2809951" cy="942746"/>
          </a:xfrm>
          <a:prstGeom prst="roundRect">
            <a:avLst>
              <a:gd fmla="val 11757" name="adj"/>
            </a:avLst>
          </a:prstGeom>
          <a:solidFill>
            <a:srgbClr val="10B981">
              <a:alpha val="5098"/>
            </a:srgbClr>
          </a:solidFill>
          <a:ln cap="flat" cmpd="sng" w="12700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7"/>
          <p:cNvSpPr txBox="1"/>
          <p:nvPr/>
        </p:nvSpPr>
        <p:spPr>
          <a:xfrm>
            <a:off x="5346497" y="2533802"/>
            <a:ext cx="247619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 빠른 수렴 속도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8" name="Google Shape;5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27041" y="2569464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7"/>
          <p:cNvSpPr txBox="1"/>
          <p:nvPr/>
        </p:nvSpPr>
        <p:spPr>
          <a:xfrm>
            <a:off x="5127041" y="2795321"/>
            <a:ext cx="2581351" cy="372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학습 속도가 매우 빠르며, 복잡한 지형에서도 골짜기를 효율적으로 찾아갑니다.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4974336" y="3461918"/>
            <a:ext cx="2809951" cy="942746"/>
          </a:xfrm>
          <a:prstGeom prst="roundRect">
            <a:avLst>
              <a:gd fmla="val 11757" name="adj"/>
            </a:avLst>
          </a:prstGeom>
          <a:solidFill>
            <a:srgbClr val="10B981">
              <a:alpha val="5098"/>
            </a:srgbClr>
          </a:solidFill>
          <a:ln cap="flat" cmpd="sng" w="12700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7"/>
          <p:cNvSpPr txBox="1"/>
          <p:nvPr/>
        </p:nvSpPr>
        <p:spPr>
          <a:xfrm>
            <a:off x="5383987" y="3614623"/>
            <a:ext cx="234909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 안정성 (Stability)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2" name="Google Shape;542;p17"/>
          <p:cNvPicPr preferRelativeResize="0"/>
          <p:nvPr/>
        </p:nvPicPr>
        <p:blipFill rotWithShape="1">
          <a:blip r:embed="rId9">
            <a:alphaModFix/>
          </a:blip>
          <a:srcRect b="0" l="-769" r="-768" t="0"/>
          <a:stretch/>
        </p:blipFill>
        <p:spPr>
          <a:xfrm>
            <a:off x="5127041" y="3650285"/>
            <a:ext cx="181051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7"/>
          <p:cNvSpPr txBox="1"/>
          <p:nvPr/>
        </p:nvSpPr>
        <p:spPr>
          <a:xfrm>
            <a:off x="5127041" y="3877056"/>
            <a:ext cx="2581351" cy="372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학습률이 파라미터별로 자동 조정되어, 튜닝에 대한 민감도가 낮습니다.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4974336" y="4543654"/>
            <a:ext cx="2809951" cy="942746"/>
          </a:xfrm>
          <a:prstGeom prst="roundRect">
            <a:avLst>
              <a:gd fmla="val 11757" name="adj"/>
            </a:avLst>
          </a:prstGeom>
          <a:solidFill>
            <a:srgbClr val="10B981">
              <a:alpha val="5098"/>
            </a:srgbClr>
          </a:solidFill>
          <a:ln cap="flat" cmpd="sng" w="12700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7"/>
          <p:cNvSpPr txBox="1"/>
          <p:nvPr/>
        </p:nvSpPr>
        <p:spPr>
          <a:xfrm>
            <a:off x="5346497" y="4695444"/>
            <a:ext cx="247619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 적은 튜닝 부담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6" name="Google Shape;54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7041" y="4731106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7"/>
          <p:cNvSpPr txBox="1"/>
          <p:nvPr/>
        </p:nvSpPr>
        <p:spPr>
          <a:xfrm>
            <a:off x="5127041" y="4957877"/>
            <a:ext cx="2581351" cy="372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설정값(lr=0.001, beta1=0.9)으로도 대부분의 문제에서 훌륭하게 작동합니다.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8321040" y="1495044"/>
            <a:ext cx="3305556" cy="4886554"/>
          </a:xfrm>
          <a:prstGeom prst="roundRect">
            <a:avLst>
              <a:gd fmla="val 127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8568842" y="2171700"/>
            <a:ext cx="2809951" cy="9144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8842" y="1790395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7"/>
          <p:cNvSpPr txBox="1"/>
          <p:nvPr/>
        </p:nvSpPr>
        <p:spPr>
          <a:xfrm>
            <a:off x="8807501" y="1742846"/>
            <a:ext cx="99121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실무 가이드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 txBox="1"/>
          <p:nvPr/>
        </p:nvSpPr>
        <p:spPr>
          <a:xfrm>
            <a:off x="8568842" y="2371954"/>
            <a:ext cx="300106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 선택 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3" name="Google Shape;553;p17"/>
          <p:cNvPicPr preferRelativeResize="0"/>
          <p:nvPr/>
        </p:nvPicPr>
        <p:blipFill rotWithShape="1">
          <a:blip r:embed="rId12">
            <a:alphaModFix/>
          </a:blip>
          <a:srcRect b="-1100" l="0" r="0" t="-1100"/>
          <a:stretch/>
        </p:blipFill>
        <p:spPr>
          <a:xfrm>
            <a:off x="8568842" y="2695651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7"/>
          <p:cNvSpPr txBox="1"/>
          <p:nvPr/>
        </p:nvSpPr>
        <p:spPr>
          <a:xfrm>
            <a:off x="8911742" y="2667305"/>
            <a:ext cx="2985516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일반적인 경우: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무조건 </a:t>
            </a: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Adam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시작하세요.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5" name="Google Shape;555;p17"/>
          <p:cNvPicPr preferRelativeResize="0"/>
          <p:nvPr/>
        </p:nvPicPr>
        <p:blipFill rotWithShape="1">
          <a:blip r:embed="rId12">
            <a:alphaModFix/>
          </a:blip>
          <a:srcRect b="-1100" l="0" r="0" t="-1100"/>
          <a:stretch/>
        </p:blipFill>
        <p:spPr>
          <a:xfrm>
            <a:off x="8568842" y="2991002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7"/>
          <p:cNvSpPr txBox="1"/>
          <p:nvPr/>
        </p:nvSpPr>
        <p:spPr>
          <a:xfrm>
            <a:off x="8911742" y="2962656"/>
            <a:ext cx="2543861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컴퓨터 비전(CV):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SGD + Momentum이 더 좋은 일반화 성능을 낼 때도 있습니다.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7" name="Google Shape;557;p17"/>
          <p:cNvPicPr preferRelativeResize="0"/>
          <p:nvPr/>
        </p:nvPicPr>
        <p:blipFill rotWithShape="1">
          <a:blip r:embed="rId12">
            <a:alphaModFix/>
          </a:blip>
          <a:srcRect b="-1100" l="0" r="0" t="-1100"/>
          <a:stretch/>
        </p:blipFill>
        <p:spPr>
          <a:xfrm>
            <a:off x="8568842" y="3486607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17"/>
          <p:cNvSpPr txBox="1"/>
          <p:nvPr/>
        </p:nvSpPr>
        <p:spPr>
          <a:xfrm>
            <a:off x="8911742" y="3457346"/>
            <a:ext cx="2543861" cy="40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희소 데이터(NLP 등):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Adagrad나 Adam이 유리합니다.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 txBox="1"/>
          <p:nvPr/>
        </p:nvSpPr>
        <p:spPr>
          <a:xfrm>
            <a:off x="8568842" y="4143146"/>
            <a:ext cx="300106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체크리스트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0" name="Google Shape;560;p17"/>
          <p:cNvPicPr preferRelativeResize="0"/>
          <p:nvPr/>
        </p:nvPicPr>
        <p:blipFill rotWithShape="1">
          <a:blip r:embed="rId13">
            <a:alphaModFix/>
          </a:blip>
          <a:srcRect b="-1100" l="0" r="0" t="-1100"/>
          <a:stretch/>
        </p:blipFill>
        <p:spPr>
          <a:xfrm>
            <a:off x="8568842" y="4438498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7"/>
          <p:cNvSpPr txBox="1"/>
          <p:nvPr/>
        </p:nvSpPr>
        <p:spPr>
          <a:xfrm>
            <a:off x="8911742" y="4438498"/>
            <a:ext cx="2439619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Learning Rate는 1e-3, 1e-4부터 시도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2" name="Google Shape;562;p17"/>
          <p:cNvPicPr preferRelativeResize="0"/>
          <p:nvPr/>
        </p:nvPicPr>
        <p:blipFill rotWithShape="1">
          <a:blip r:embed="rId13">
            <a:alphaModFix/>
          </a:blip>
          <a:srcRect b="-1100" l="0" r="0" t="-1100"/>
          <a:stretch/>
        </p:blipFill>
        <p:spPr>
          <a:xfrm>
            <a:off x="8568842" y="4733849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7"/>
          <p:cNvSpPr txBox="1"/>
          <p:nvPr/>
        </p:nvSpPr>
        <p:spPr>
          <a:xfrm>
            <a:off x="8911742" y="4733849"/>
            <a:ext cx="268925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Loss가 줄지 않으면 LR을 1/10로 줄여보기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4" name="Google Shape;564;p17"/>
          <p:cNvPicPr preferRelativeResize="0"/>
          <p:nvPr/>
        </p:nvPicPr>
        <p:blipFill rotWithShape="1">
          <a:blip r:embed="rId14">
            <a:alphaModFix/>
          </a:blip>
          <a:srcRect b="0" l="-14" r="-14" t="0"/>
          <a:stretch/>
        </p:blipFill>
        <p:spPr>
          <a:xfrm>
            <a:off x="8568842" y="5348326"/>
            <a:ext cx="2803550" cy="78547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7"/>
          <p:cNvSpPr txBox="1"/>
          <p:nvPr/>
        </p:nvSpPr>
        <p:spPr>
          <a:xfrm>
            <a:off x="8711489" y="5462626"/>
            <a:ext cx="2628900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💡 Tip:</a:t>
            </a:r>
            <a:r>
              <a:rPr b="0" i="0" lang="en-US" sz="9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 어떤 옵티마이저를 쓰든, 데이터의 </a:t>
            </a:r>
            <a:r>
              <a:rPr b="1" i="0" lang="en-US" sz="9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전처리(Scaling)</a:t>
            </a:r>
            <a:r>
              <a:rPr b="0" i="0" lang="en-US" sz="9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와 </a:t>
            </a:r>
            <a:r>
              <a:rPr b="1" i="0" lang="en-US" sz="9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초기화(Initialization)</a:t>
            </a:r>
            <a:r>
              <a:rPr b="0" i="0" lang="en-US" sz="900" u="none" cap="none" strike="noStrike">
                <a:solidFill>
                  <a:srgbClr val="E0E7FF"/>
                </a:solidFill>
                <a:latin typeface="Noto Sans KR"/>
                <a:ea typeface="Noto Sans KR"/>
                <a:cs typeface="Noto Sans KR"/>
                <a:sym typeface="Noto Sans KR"/>
              </a:rPr>
              <a:t>가 더 중요할 수 있습니다.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6" name="Google Shape;566;p17"/>
          <p:cNvPicPr preferRelativeResize="0"/>
          <p:nvPr/>
        </p:nvPicPr>
        <p:blipFill rotWithShape="1">
          <a:blip r:embed="rId15">
            <a:alphaModFix/>
          </a:blip>
          <a:srcRect b="0" l="-338" r="-337" t="0"/>
          <a:stretch/>
        </p:blipFill>
        <p:spPr>
          <a:xfrm>
            <a:off x="990295" y="2714854"/>
            <a:ext cx="19202" cy="288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7" name="Google Shape;567;p17"/>
          <p:cNvPicPr preferRelativeResize="0"/>
          <p:nvPr/>
        </p:nvPicPr>
        <p:blipFill rotWithShape="1">
          <a:blip r:embed="rId15">
            <a:alphaModFix/>
          </a:blip>
          <a:srcRect b="0" l="-338" r="-337" t="0"/>
          <a:stretch/>
        </p:blipFill>
        <p:spPr>
          <a:xfrm>
            <a:off x="990295" y="3326587"/>
            <a:ext cx="19202" cy="288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8" name="Google Shape;568;p17"/>
          <p:cNvPicPr preferRelativeResize="0"/>
          <p:nvPr/>
        </p:nvPicPr>
        <p:blipFill rotWithShape="1">
          <a:blip r:embed="rId15">
            <a:alphaModFix/>
          </a:blip>
          <a:srcRect b="0" l="-338" r="-337" t="0"/>
          <a:stretch/>
        </p:blipFill>
        <p:spPr>
          <a:xfrm>
            <a:off x="990295" y="3937406"/>
            <a:ext cx="19202" cy="288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9" name="Google Shape;569;p17"/>
          <p:cNvPicPr preferRelativeResize="0"/>
          <p:nvPr/>
        </p:nvPicPr>
        <p:blipFill rotWithShape="1">
          <a:blip r:embed="rId15">
            <a:alphaModFix/>
          </a:blip>
          <a:srcRect b="0" l="-338" r="-337" t="0"/>
          <a:stretch/>
        </p:blipFill>
        <p:spPr>
          <a:xfrm>
            <a:off x="990295" y="4549140"/>
            <a:ext cx="19202" cy="288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0" name="Google Shape;570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9302" y="23719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7"/>
          <p:cNvSpPr/>
          <p:nvPr/>
        </p:nvSpPr>
        <p:spPr>
          <a:xfrm>
            <a:off x="819302" y="2371954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2" name="Google Shape;572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9302" y="298368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7"/>
          <p:cNvSpPr/>
          <p:nvPr/>
        </p:nvSpPr>
        <p:spPr>
          <a:xfrm>
            <a:off x="819302" y="298368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4" name="Google Shape;574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9302" y="359450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7"/>
          <p:cNvSpPr/>
          <p:nvPr/>
        </p:nvSpPr>
        <p:spPr>
          <a:xfrm>
            <a:off x="819302" y="359450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6" name="Google Shape;576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9302" y="420624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7"/>
          <p:cNvSpPr/>
          <p:nvPr/>
        </p:nvSpPr>
        <p:spPr>
          <a:xfrm>
            <a:off x="819302" y="420624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8B5CF6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8" name="Google Shape;578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19302" y="481797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17"/>
          <p:cNvSpPr/>
          <p:nvPr/>
        </p:nvSpPr>
        <p:spPr>
          <a:xfrm>
            <a:off x="819302" y="4817974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 txBox="1"/>
          <p:nvPr/>
        </p:nvSpPr>
        <p:spPr>
          <a:xfrm>
            <a:off x="571500" y="694944"/>
            <a:ext cx="11354105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단원 요약 및 선택 가이드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1" name="Google Shape;581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71500" y="286207"/>
            <a:ext cx="886054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7"/>
          <p:cNvSpPr/>
          <p:nvPr/>
        </p:nvSpPr>
        <p:spPr>
          <a:xfrm>
            <a:off x="571500" y="286207"/>
            <a:ext cx="886054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EDE9FE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요약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