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6858000" cx="12192000"/>
  <p:notesSz cx="6858000" cy="12192000"/>
  <p:embeddedFontLst>
    <p:embeddedFont>
      <p:font typeface="Noto Sans KR"/>
      <p:regular r:id="rId20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otoSansKR-regular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schemas.openxmlformats.org/officeDocument/2006/relationships/font" Target="fonts/NotoSansKR-bold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" name="Google Shape;3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8" name="Google Shape;33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4" name="Google Shape;39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4" name="Google Shape;47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7" name="Google Shape;52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8" name="Google Shape;56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8" name="Google Shape;60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7" name="Google Shape;65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0" name="Google Shape;710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1" name="Google Shape;80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2" name="Google Shape;802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8.jpg"/><Relationship Id="rId4" Type="http://schemas.openxmlformats.org/officeDocument/2006/relationships/image" Target="../media/image158.png"/><Relationship Id="rId11" Type="http://schemas.openxmlformats.org/officeDocument/2006/relationships/image" Target="../media/image16.png"/><Relationship Id="rId10" Type="http://schemas.openxmlformats.org/officeDocument/2006/relationships/image" Target="../media/image4.png"/><Relationship Id="rId12" Type="http://schemas.openxmlformats.org/officeDocument/2006/relationships/image" Target="../media/image1.png"/><Relationship Id="rId9" Type="http://schemas.openxmlformats.org/officeDocument/2006/relationships/image" Target="../media/image9.png"/><Relationship Id="rId5" Type="http://schemas.openxmlformats.org/officeDocument/2006/relationships/image" Target="../media/image14.png"/><Relationship Id="rId6" Type="http://schemas.openxmlformats.org/officeDocument/2006/relationships/image" Target="../media/image8.png"/><Relationship Id="rId7" Type="http://schemas.openxmlformats.org/officeDocument/2006/relationships/image" Target="../media/image15.png"/><Relationship Id="rId8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8.jpg"/><Relationship Id="rId4" Type="http://schemas.openxmlformats.org/officeDocument/2006/relationships/image" Target="../media/image7.png"/><Relationship Id="rId9" Type="http://schemas.openxmlformats.org/officeDocument/2006/relationships/image" Target="../media/image10.png"/><Relationship Id="rId5" Type="http://schemas.openxmlformats.org/officeDocument/2006/relationships/image" Target="../media/image13.png"/><Relationship Id="rId6" Type="http://schemas.openxmlformats.org/officeDocument/2006/relationships/image" Target="../media/image6.png"/><Relationship Id="rId7" Type="http://schemas.openxmlformats.org/officeDocument/2006/relationships/image" Target="../media/image2.png"/><Relationship Id="rId8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21.png"/><Relationship Id="rId10" Type="http://schemas.openxmlformats.org/officeDocument/2006/relationships/image" Target="../media/image24.png"/><Relationship Id="rId13" Type="http://schemas.openxmlformats.org/officeDocument/2006/relationships/image" Target="../media/image30.png"/><Relationship Id="rId1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9.png"/><Relationship Id="rId4" Type="http://schemas.openxmlformats.org/officeDocument/2006/relationships/image" Target="../media/image20.png"/><Relationship Id="rId9" Type="http://schemas.openxmlformats.org/officeDocument/2006/relationships/image" Target="../media/image29.png"/><Relationship Id="rId15" Type="http://schemas.openxmlformats.org/officeDocument/2006/relationships/image" Target="../media/image35.png"/><Relationship Id="rId14" Type="http://schemas.openxmlformats.org/officeDocument/2006/relationships/image" Target="../media/image41.png"/><Relationship Id="rId16" Type="http://schemas.openxmlformats.org/officeDocument/2006/relationships/image" Target="../media/image31.png"/><Relationship Id="rId5" Type="http://schemas.openxmlformats.org/officeDocument/2006/relationships/image" Target="../media/image23.png"/><Relationship Id="rId6" Type="http://schemas.openxmlformats.org/officeDocument/2006/relationships/image" Target="../media/image26.png"/><Relationship Id="rId7" Type="http://schemas.openxmlformats.org/officeDocument/2006/relationships/image" Target="../media/image25.png"/><Relationship Id="rId8" Type="http://schemas.openxmlformats.org/officeDocument/2006/relationships/image" Target="../media/image19.png"/></Relationships>
</file>

<file path=ppt/slides/_rels/slide4.xml.rels><?xml version="1.0" encoding="UTF-8" standalone="yes"?><Relationships xmlns="http://schemas.openxmlformats.org/package/2006/relationships"><Relationship Id="rId10" Type="http://schemas.openxmlformats.org/officeDocument/2006/relationships/image" Target="../media/image5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2.png"/><Relationship Id="rId4" Type="http://schemas.openxmlformats.org/officeDocument/2006/relationships/image" Target="../media/image37.png"/><Relationship Id="rId9" Type="http://schemas.openxmlformats.org/officeDocument/2006/relationships/image" Target="../media/image34.png"/><Relationship Id="rId5" Type="http://schemas.openxmlformats.org/officeDocument/2006/relationships/image" Target="../media/image40.png"/><Relationship Id="rId6" Type="http://schemas.openxmlformats.org/officeDocument/2006/relationships/image" Target="../media/image38.png"/><Relationship Id="rId7" Type="http://schemas.openxmlformats.org/officeDocument/2006/relationships/image" Target="../media/image33.png"/><Relationship Id="rId8" Type="http://schemas.openxmlformats.org/officeDocument/2006/relationships/image" Target="../media/image3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2.png"/><Relationship Id="rId4" Type="http://schemas.openxmlformats.org/officeDocument/2006/relationships/image" Target="../media/image42.png"/><Relationship Id="rId9" Type="http://schemas.openxmlformats.org/officeDocument/2006/relationships/image" Target="../media/image44.png"/><Relationship Id="rId5" Type="http://schemas.openxmlformats.org/officeDocument/2006/relationships/image" Target="../media/image43.png"/><Relationship Id="rId6" Type="http://schemas.openxmlformats.org/officeDocument/2006/relationships/image" Target="../media/image45.png"/><Relationship Id="rId7" Type="http://schemas.openxmlformats.org/officeDocument/2006/relationships/image" Target="../media/image39.png"/><Relationship Id="rId8" Type="http://schemas.openxmlformats.org/officeDocument/2006/relationships/image" Target="../media/image32.png"/></Relationships>
</file>

<file path=ppt/slides/_rels/slide6.xml.rels><?xml version="1.0" encoding="UTF-8" standalone="yes"?><Relationships xmlns="http://schemas.openxmlformats.org/package/2006/relationships"><Relationship Id="rId10" Type="http://schemas.openxmlformats.org/officeDocument/2006/relationships/image" Target="../media/image5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9" Type="http://schemas.openxmlformats.org/officeDocument/2006/relationships/image" Target="../media/image59.png"/><Relationship Id="rId5" Type="http://schemas.openxmlformats.org/officeDocument/2006/relationships/image" Target="../media/image47.png"/><Relationship Id="rId6" Type="http://schemas.openxmlformats.org/officeDocument/2006/relationships/image" Target="../media/image57.png"/><Relationship Id="rId7" Type="http://schemas.openxmlformats.org/officeDocument/2006/relationships/image" Target="../media/image52.png"/><Relationship Id="rId8" Type="http://schemas.openxmlformats.org/officeDocument/2006/relationships/image" Target="../media/image49.png"/></Relationships>
</file>

<file path=ppt/slides/_rels/slide7.xml.rels><?xml version="1.0" encoding="UTF-8" standalone="yes"?><Relationships xmlns="http://schemas.openxmlformats.org/package/2006/relationships"><Relationship Id="rId10" Type="http://schemas.openxmlformats.org/officeDocument/2006/relationships/image" Target="../media/image6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2.png"/><Relationship Id="rId4" Type="http://schemas.openxmlformats.org/officeDocument/2006/relationships/image" Target="../media/image55.png"/><Relationship Id="rId9" Type="http://schemas.openxmlformats.org/officeDocument/2006/relationships/image" Target="../media/image60.png"/><Relationship Id="rId5" Type="http://schemas.openxmlformats.org/officeDocument/2006/relationships/image" Target="../media/image58.png"/><Relationship Id="rId6" Type="http://schemas.openxmlformats.org/officeDocument/2006/relationships/image" Target="../media/image72.png"/><Relationship Id="rId7" Type="http://schemas.openxmlformats.org/officeDocument/2006/relationships/image" Target="../media/image61.png"/><Relationship Id="rId8" Type="http://schemas.openxmlformats.org/officeDocument/2006/relationships/image" Target="../media/image32.png"/></Relationships>
</file>

<file path=ppt/slides/_rels/slide8.xml.rels><?xml version="1.0" encoding="UTF-8" standalone="yes"?><Relationships xmlns="http://schemas.openxmlformats.org/package/2006/relationships"><Relationship Id="rId11" Type="http://schemas.openxmlformats.org/officeDocument/2006/relationships/image" Target="../media/image67.png"/><Relationship Id="rId10" Type="http://schemas.openxmlformats.org/officeDocument/2006/relationships/image" Target="../media/image68.png"/><Relationship Id="rId13" Type="http://schemas.openxmlformats.org/officeDocument/2006/relationships/image" Target="../media/image69.png"/><Relationship Id="rId12" Type="http://schemas.openxmlformats.org/officeDocument/2006/relationships/image" Target="../media/image7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2.png"/><Relationship Id="rId4" Type="http://schemas.openxmlformats.org/officeDocument/2006/relationships/image" Target="../media/image64.png"/><Relationship Id="rId9" Type="http://schemas.openxmlformats.org/officeDocument/2006/relationships/image" Target="../media/image65.png"/><Relationship Id="rId15" Type="http://schemas.openxmlformats.org/officeDocument/2006/relationships/image" Target="../media/image77.png"/><Relationship Id="rId14" Type="http://schemas.openxmlformats.org/officeDocument/2006/relationships/image" Target="../media/image73.png"/><Relationship Id="rId5" Type="http://schemas.openxmlformats.org/officeDocument/2006/relationships/image" Target="../media/image70.png"/><Relationship Id="rId6" Type="http://schemas.openxmlformats.org/officeDocument/2006/relationships/image" Target="../media/image63.png"/><Relationship Id="rId7" Type="http://schemas.openxmlformats.org/officeDocument/2006/relationships/image" Target="../media/image74.png"/><Relationship Id="rId8" Type="http://schemas.openxmlformats.org/officeDocument/2006/relationships/image" Target="../media/image71.png"/></Relationships>
</file>

<file path=ppt/slides/_rels/slide9.xml.rels><?xml version="1.0" encoding="UTF-8" standalone="yes"?><Relationships xmlns="http://schemas.openxmlformats.org/package/2006/relationships"><Relationship Id="rId11" Type="http://schemas.openxmlformats.org/officeDocument/2006/relationships/image" Target="../media/image82.png"/><Relationship Id="rId10" Type="http://schemas.openxmlformats.org/officeDocument/2006/relationships/image" Target="../media/image81.png"/><Relationship Id="rId13" Type="http://schemas.openxmlformats.org/officeDocument/2006/relationships/image" Target="../media/image90.png"/><Relationship Id="rId12" Type="http://schemas.openxmlformats.org/officeDocument/2006/relationships/image" Target="../media/image8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9.png"/><Relationship Id="rId4" Type="http://schemas.openxmlformats.org/officeDocument/2006/relationships/image" Target="../media/image92.png"/><Relationship Id="rId9" Type="http://schemas.openxmlformats.org/officeDocument/2006/relationships/image" Target="../media/image80.png"/><Relationship Id="rId15" Type="http://schemas.openxmlformats.org/officeDocument/2006/relationships/image" Target="../media/image94.png"/><Relationship Id="rId14" Type="http://schemas.openxmlformats.org/officeDocument/2006/relationships/image" Target="../media/image76.png"/><Relationship Id="rId17" Type="http://schemas.openxmlformats.org/officeDocument/2006/relationships/image" Target="../media/image85.png"/><Relationship Id="rId16" Type="http://schemas.openxmlformats.org/officeDocument/2006/relationships/image" Target="../media/image91.png"/><Relationship Id="rId5" Type="http://schemas.openxmlformats.org/officeDocument/2006/relationships/image" Target="../media/image88.png"/><Relationship Id="rId6" Type="http://schemas.openxmlformats.org/officeDocument/2006/relationships/image" Target="../media/image84.png"/><Relationship Id="rId18" Type="http://schemas.openxmlformats.org/officeDocument/2006/relationships/image" Target="../media/image89.png"/><Relationship Id="rId7" Type="http://schemas.openxmlformats.org/officeDocument/2006/relationships/image" Target="../media/image79.png"/><Relationship Id="rId8" Type="http://schemas.openxmlformats.org/officeDocument/2006/relationships/image" Target="../media/image78.png"/></Relationships>
</file>

<file path=ppt/slides/_rels/slide10.xml.rels><?xml version="1.0" encoding="UTF-8" standalone="yes"?><Relationships xmlns="http://schemas.openxmlformats.org/package/2006/relationships"><Relationship Id="rId11" Type="http://schemas.openxmlformats.org/officeDocument/2006/relationships/image" Target="../media/image105.png"/><Relationship Id="rId10" Type="http://schemas.openxmlformats.org/officeDocument/2006/relationships/image" Target="../media/image101.png"/><Relationship Id="rId12" Type="http://schemas.openxmlformats.org/officeDocument/2006/relationships/image" Target="../media/image9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6.png"/><Relationship Id="rId4" Type="http://schemas.openxmlformats.org/officeDocument/2006/relationships/image" Target="../media/image87.png"/><Relationship Id="rId9" Type="http://schemas.openxmlformats.org/officeDocument/2006/relationships/image" Target="../media/image97.jpg"/><Relationship Id="rId5" Type="http://schemas.openxmlformats.org/officeDocument/2006/relationships/image" Target="../media/image93.png"/><Relationship Id="rId6" Type="http://schemas.openxmlformats.org/officeDocument/2006/relationships/image" Target="../media/image95.png"/><Relationship Id="rId7" Type="http://schemas.openxmlformats.org/officeDocument/2006/relationships/image" Target="../media/image99.png"/><Relationship Id="rId8" Type="http://schemas.openxmlformats.org/officeDocument/2006/relationships/image" Target="../media/image10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0.jpg"/><Relationship Id="rId4" Type="http://schemas.openxmlformats.org/officeDocument/2006/relationships/image" Target="../media/image98.png"/><Relationship Id="rId5" Type="http://schemas.openxmlformats.org/officeDocument/2006/relationships/image" Target="../media/image104.png"/><Relationship Id="rId6" Type="http://schemas.openxmlformats.org/officeDocument/2006/relationships/image" Target="../media/image107.png"/><Relationship Id="rId7" Type="http://schemas.openxmlformats.org/officeDocument/2006/relationships/image" Target="../media/image102.png"/></Relationships>
</file>

<file path=ppt/slides/_rels/slide12.xml.rels><?xml version="1.0" encoding="UTF-8" standalone="yes"?><Relationships xmlns="http://schemas.openxmlformats.org/package/2006/relationships"><Relationship Id="rId11" Type="http://schemas.openxmlformats.org/officeDocument/2006/relationships/image" Target="../media/image115.jpg"/><Relationship Id="rId10" Type="http://schemas.openxmlformats.org/officeDocument/2006/relationships/image" Target="../media/image111.png"/><Relationship Id="rId13" Type="http://schemas.openxmlformats.org/officeDocument/2006/relationships/image" Target="../media/image121.png"/><Relationship Id="rId12" Type="http://schemas.openxmlformats.org/officeDocument/2006/relationships/image" Target="../media/image11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9.png"/><Relationship Id="rId4" Type="http://schemas.openxmlformats.org/officeDocument/2006/relationships/image" Target="../media/image103.png"/><Relationship Id="rId9" Type="http://schemas.openxmlformats.org/officeDocument/2006/relationships/image" Target="../media/image110.png"/><Relationship Id="rId14" Type="http://schemas.openxmlformats.org/officeDocument/2006/relationships/image" Target="../media/image120.png"/><Relationship Id="rId5" Type="http://schemas.openxmlformats.org/officeDocument/2006/relationships/image" Target="../media/image113.png"/><Relationship Id="rId6" Type="http://schemas.openxmlformats.org/officeDocument/2006/relationships/image" Target="../media/image108.png"/><Relationship Id="rId7" Type="http://schemas.openxmlformats.org/officeDocument/2006/relationships/image" Target="../media/image112.png"/><Relationship Id="rId8" Type="http://schemas.openxmlformats.org/officeDocument/2006/relationships/image" Target="../media/image114.png"/></Relationships>
</file>

<file path=ppt/slides/_rels/slide13.xml.rels><?xml version="1.0" encoding="UTF-8" standalone="yes"?><Relationships xmlns="http://schemas.openxmlformats.org/package/2006/relationships"><Relationship Id="rId11" Type="http://schemas.openxmlformats.org/officeDocument/2006/relationships/image" Target="../media/image126.png"/><Relationship Id="rId10" Type="http://schemas.openxmlformats.org/officeDocument/2006/relationships/image" Target="../media/image125.png"/><Relationship Id="rId13" Type="http://schemas.openxmlformats.org/officeDocument/2006/relationships/image" Target="../media/image128.png"/><Relationship Id="rId12" Type="http://schemas.openxmlformats.org/officeDocument/2006/relationships/image" Target="../media/image12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9.png"/><Relationship Id="rId4" Type="http://schemas.openxmlformats.org/officeDocument/2006/relationships/image" Target="../media/image123.png"/><Relationship Id="rId9" Type="http://schemas.openxmlformats.org/officeDocument/2006/relationships/image" Target="../media/image129.png"/><Relationship Id="rId15" Type="http://schemas.openxmlformats.org/officeDocument/2006/relationships/image" Target="../media/image142.png"/><Relationship Id="rId14" Type="http://schemas.openxmlformats.org/officeDocument/2006/relationships/image" Target="../media/image134.png"/><Relationship Id="rId5" Type="http://schemas.openxmlformats.org/officeDocument/2006/relationships/image" Target="../media/image124.png"/><Relationship Id="rId6" Type="http://schemas.openxmlformats.org/officeDocument/2006/relationships/image" Target="../media/image118.png"/><Relationship Id="rId7" Type="http://schemas.openxmlformats.org/officeDocument/2006/relationships/image" Target="../media/image117.png"/><Relationship Id="rId8" Type="http://schemas.openxmlformats.org/officeDocument/2006/relationships/image" Target="../media/image122.png"/></Relationships>
</file>

<file path=ppt/slides/_rels/slide14.xml.rels><?xml version="1.0" encoding="UTF-8" standalone="yes"?><Relationships xmlns="http://schemas.openxmlformats.org/package/2006/relationships"><Relationship Id="rId11" Type="http://schemas.openxmlformats.org/officeDocument/2006/relationships/image" Target="../media/image141.png"/><Relationship Id="rId10" Type="http://schemas.openxmlformats.org/officeDocument/2006/relationships/image" Target="../media/image139.png"/><Relationship Id="rId13" Type="http://schemas.openxmlformats.org/officeDocument/2006/relationships/image" Target="../media/image143.png"/><Relationship Id="rId12" Type="http://schemas.openxmlformats.org/officeDocument/2006/relationships/image" Target="../media/image13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6.png"/><Relationship Id="rId4" Type="http://schemas.openxmlformats.org/officeDocument/2006/relationships/image" Target="../media/image130.png"/><Relationship Id="rId9" Type="http://schemas.openxmlformats.org/officeDocument/2006/relationships/image" Target="../media/image148.png"/><Relationship Id="rId5" Type="http://schemas.openxmlformats.org/officeDocument/2006/relationships/image" Target="../media/image135.png"/><Relationship Id="rId6" Type="http://schemas.openxmlformats.org/officeDocument/2006/relationships/image" Target="../media/image140.png"/><Relationship Id="rId7" Type="http://schemas.openxmlformats.org/officeDocument/2006/relationships/image" Target="../media/image132.png"/><Relationship Id="rId8" Type="http://schemas.openxmlformats.org/officeDocument/2006/relationships/image" Target="../media/image137.png"/></Relationships>
</file>

<file path=ppt/slides/_rels/slide15.xml.rels><?xml version="1.0" encoding="UTF-8" standalone="yes"?><Relationships xmlns="http://schemas.openxmlformats.org/package/2006/relationships"><Relationship Id="rId11" Type="http://schemas.openxmlformats.org/officeDocument/2006/relationships/image" Target="../media/image150.png"/><Relationship Id="rId10" Type="http://schemas.openxmlformats.org/officeDocument/2006/relationships/image" Target="../media/image153.png"/><Relationship Id="rId12" Type="http://schemas.openxmlformats.org/officeDocument/2006/relationships/image" Target="../media/image15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9.png"/><Relationship Id="rId4" Type="http://schemas.openxmlformats.org/officeDocument/2006/relationships/image" Target="../media/image160.png"/><Relationship Id="rId9" Type="http://schemas.openxmlformats.org/officeDocument/2006/relationships/image" Target="../media/image147.png"/><Relationship Id="rId5" Type="http://schemas.openxmlformats.org/officeDocument/2006/relationships/image" Target="../media/image145.png"/><Relationship Id="rId6" Type="http://schemas.openxmlformats.org/officeDocument/2006/relationships/image" Target="../media/image149.png"/><Relationship Id="rId7" Type="http://schemas.openxmlformats.org/officeDocument/2006/relationships/image" Target="../media/image146.png"/><Relationship Id="rId8" Type="http://schemas.openxmlformats.org/officeDocument/2006/relationships/image" Target="../media/image14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3"/>
          <p:cNvPicPr preferRelativeResize="0"/>
          <p:nvPr/>
        </p:nvPicPr>
        <p:blipFill rotWithShape="1">
          <a:blip r:embed="rId3">
            <a:alphaModFix/>
          </a:blip>
          <a:srcRect b="0" l="389" r="388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" name="Google Shape;18;p3"/>
          <p:cNvPicPr preferRelativeResize="0"/>
          <p:nvPr/>
        </p:nvPicPr>
        <p:blipFill rotWithShape="1">
          <a:blip r:embed="rId4">
            <a:alphaModFix/>
          </a:blip>
          <a:srcRect b="-1" l="0" r="0" t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" name="Google Shape;19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1695" y="1670609"/>
            <a:ext cx="2848356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/>
          <p:nvPr/>
        </p:nvSpPr>
        <p:spPr>
          <a:xfrm>
            <a:off x="1132942" y="1670609"/>
            <a:ext cx="2477110" cy="342900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12700">
            <a:solidFill>
              <a:srgbClr val="3B82F6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000"/>
              <a:buFont typeface="Noto Sans KR"/>
              <a:buNone/>
            </a:pPr>
            <a:r>
              <a:rPr b="1" i="0" lang="en-US" sz="1000" u="none" cap="none" strike="noStrike">
                <a:solidFill>
                  <a:srgbClr val="60A5FA"/>
                </a:solidFill>
                <a:latin typeface="Noto Sans KR"/>
                <a:ea typeface="Noto Sans KR"/>
                <a:cs typeface="Noto Sans KR"/>
                <a:sym typeface="Noto Sans KR"/>
              </a:rPr>
              <a:t>Deep Learning Optimization Series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" name="Google Shape;21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23544" y="1773022"/>
            <a:ext cx="133502" cy="133502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 txBox="1"/>
          <p:nvPr/>
        </p:nvSpPr>
        <p:spPr>
          <a:xfrm>
            <a:off x="761695" y="2238451"/>
            <a:ext cx="10840212" cy="1286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4F8"/>
              </a:buClr>
              <a:buSzPts val="4200"/>
              <a:buFont typeface="Noto Sans KR"/>
              <a:buNone/>
            </a:pPr>
            <a:r>
              <a:rPr b="1" i="0" lang="en-US" sz="4200" u="none" cap="none" strike="noStrike">
                <a:solidFill>
                  <a:srgbClr val="F1F4F8"/>
                </a:solidFill>
                <a:latin typeface="Noto Sans KR"/>
                <a:ea typeface="Noto Sans KR"/>
                <a:cs typeface="Noto Sans KR"/>
                <a:sym typeface="Noto Sans KR"/>
              </a:rPr>
              <a:t> 딥러닝의 나침반: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4F8"/>
              </a:buClr>
              <a:buSzPts val="4200"/>
              <a:buFont typeface="Noto Sans KR"/>
              <a:buNone/>
            </a:pPr>
            <a:r>
              <a:rPr b="1" i="0" lang="en-US" sz="4200" u="none" cap="none" strike="noStrike">
                <a:solidFill>
                  <a:srgbClr val="F1F4F8"/>
                </a:solidFill>
                <a:latin typeface="Noto Sans KR"/>
                <a:ea typeface="Noto Sans KR"/>
                <a:cs typeface="Noto Sans KR"/>
                <a:sym typeface="Noto Sans KR"/>
              </a:rPr>
              <a:t> 손실 함수(Loss Function)의 지형 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761695" y="3670402"/>
            <a:ext cx="38405" cy="418795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 txBox="1"/>
          <p:nvPr/>
        </p:nvSpPr>
        <p:spPr>
          <a:xfrm>
            <a:off x="990295" y="3670402"/>
            <a:ext cx="10629900" cy="419710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2100"/>
              <a:buFont typeface="Noto Sans KR"/>
              <a:buNone/>
            </a:pPr>
            <a:r>
              <a:rPr b="0" i="0" lang="en-US" sz="21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거대한 가중치 공간에서 최적의 길을 찾아가는 여정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" name="Google Shape;25;p3"/>
          <p:cNvPicPr preferRelativeResize="0"/>
          <p:nvPr/>
        </p:nvPicPr>
        <p:blipFill rotWithShape="1">
          <a:blip r:embed="rId7">
            <a:alphaModFix/>
          </a:blip>
          <a:srcRect b="-6" l="0" r="0" t="-7"/>
          <a:stretch/>
        </p:blipFill>
        <p:spPr>
          <a:xfrm>
            <a:off x="761695" y="4730191"/>
            <a:ext cx="2051914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" name="Google Shape;26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81151" y="4868266"/>
            <a:ext cx="181051" cy="181051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3"/>
          <p:cNvSpPr txBox="1"/>
          <p:nvPr/>
        </p:nvSpPr>
        <p:spPr>
          <a:xfrm>
            <a:off x="1276502" y="4730191"/>
            <a:ext cx="141000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00"/>
              <a:buFont typeface="Noto Sans KR"/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Noto Sans KR"/>
                <a:ea typeface="Noto Sans KR"/>
                <a:cs typeface="Noto Sans KR"/>
                <a:sym typeface="Noto Sans KR"/>
              </a:rPr>
              <a:t>손실의 기하학적 이해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8" name="Google Shape;28;p3"/>
          <p:cNvPicPr preferRelativeResize="0"/>
          <p:nvPr/>
        </p:nvPicPr>
        <p:blipFill rotWithShape="1">
          <a:blip r:embed="rId9">
            <a:alphaModFix/>
          </a:blip>
          <a:srcRect b="-3" l="0" r="0" t="-3"/>
          <a:stretch/>
        </p:blipFill>
        <p:spPr>
          <a:xfrm>
            <a:off x="3043123" y="4730191"/>
            <a:ext cx="2338121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9" name="Google Shape;29;p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261665" y="4868266"/>
            <a:ext cx="181051" cy="181051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3"/>
          <p:cNvSpPr txBox="1"/>
          <p:nvPr/>
        </p:nvSpPr>
        <p:spPr>
          <a:xfrm>
            <a:off x="3557016" y="4730191"/>
            <a:ext cx="170444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00"/>
              <a:buFont typeface="Noto Sans KR"/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Noto Sans KR"/>
                <a:ea typeface="Noto Sans KR"/>
                <a:cs typeface="Noto Sans KR"/>
                <a:sym typeface="Noto Sans KR"/>
              </a:rPr>
              <a:t>Cross-Entropy의 강력함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1" name="Google Shape;31;p3"/>
          <p:cNvPicPr preferRelativeResize="0"/>
          <p:nvPr/>
        </p:nvPicPr>
        <p:blipFill rotWithShape="1">
          <a:blip r:embed="rId11">
            <a:alphaModFix/>
          </a:blip>
          <a:srcRect b="0" l="-7" r="-6" t="0"/>
          <a:stretch/>
        </p:blipFill>
        <p:spPr>
          <a:xfrm>
            <a:off x="5609844" y="4730191"/>
            <a:ext cx="2375611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2" name="Google Shape;32;p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828386" y="4868266"/>
            <a:ext cx="181051" cy="181051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3"/>
          <p:cNvSpPr txBox="1"/>
          <p:nvPr/>
        </p:nvSpPr>
        <p:spPr>
          <a:xfrm>
            <a:off x="6123737" y="4730191"/>
            <a:ext cx="1743761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00"/>
              <a:buFont typeface="Noto Sans KR"/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Noto Sans KR"/>
                <a:ea typeface="Noto Sans KR"/>
                <a:cs typeface="Noto Sans KR"/>
                <a:sym typeface="Noto Sans KR"/>
              </a:rPr>
              <a:t>지형을 다루는 최적화 감각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761695" y="5864962"/>
            <a:ext cx="10668305" cy="9144"/>
          </a:xfrm>
          <a:prstGeom prst="rect">
            <a:avLst/>
          </a:prstGeom>
          <a:solidFill>
            <a:srgbClr val="FFFFFF">
              <a:alpha val="10196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3"/>
          <p:cNvSpPr txBox="1"/>
          <p:nvPr/>
        </p:nvSpPr>
        <p:spPr>
          <a:xfrm>
            <a:off x="761695" y="6065215"/>
            <a:ext cx="2732227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Course: Deep Learning Foundations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3"/>
          <p:cNvSpPr txBox="1"/>
          <p:nvPr/>
        </p:nvSpPr>
        <p:spPr>
          <a:xfrm>
            <a:off x="761695" y="6270955"/>
            <a:ext cx="2387498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Instructor: AI Lecturer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3" name="Google Shape;43;p4"/>
          <p:cNvPicPr preferRelativeResize="0"/>
          <p:nvPr/>
        </p:nvPicPr>
        <p:blipFill rotWithShape="1">
          <a:blip r:embed="rId3">
            <a:alphaModFix amt="15000"/>
          </a:blip>
          <a:srcRect b="0" l="389" r="388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4"/>
          <p:cNvSpPr txBox="1"/>
          <p:nvPr/>
        </p:nvSpPr>
        <p:spPr>
          <a:xfrm>
            <a:off x="10534802" y="6362395"/>
            <a:ext cx="1286561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02 Introduction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10382098" y="6420002"/>
            <a:ext cx="75895" cy="75895"/>
          </a:xfrm>
          <a:prstGeom prst="ellipse">
            <a:avLst/>
          </a:prstGeom>
          <a:solidFill>
            <a:srgbClr val="3B82F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761695" y="241402"/>
            <a:ext cx="2018995" cy="362102"/>
          </a:xfrm>
          <a:prstGeom prst="roundRect">
            <a:avLst>
              <a:gd fmla="val 252526" name="adj"/>
            </a:avLst>
          </a:prstGeom>
          <a:solidFill>
            <a:srgbClr val="1E3A8A">
              <a:alpha val="50196"/>
            </a:srgbClr>
          </a:solidFill>
          <a:ln cap="flat" cmpd="sng" w="12700">
            <a:solidFill>
              <a:srgbClr val="1D4ED8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7" name="Google Shape;47;p4"/>
          <p:cNvPicPr preferRelativeResize="0"/>
          <p:nvPr/>
        </p:nvPicPr>
        <p:blipFill rotWithShape="1">
          <a:blip r:embed="rId4">
            <a:alphaModFix/>
          </a:blip>
          <a:srcRect b="0" l="-1506" r="-1506" t="0"/>
          <a:stretch/>
        </p:blipFill>
        <p:spPr>
          <a:xfrm>
            <a:off x="923544" y="355702"/>
            <a:ext cx="171907" cy="133502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4"/>
          <p:cNvSpPr txBox="1"/>
          <p:nvPr/>
        </p:nvSpPr>
        <p:spPr>
          <a:xfrm>
            <a:off x="1171346" y="241402"/>
            <a:ext cx="1506017" cy="3621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00"/>
              <a:buFont typeface="Noto Sans KR"/>
              <a:buNone/>
            </a:pPr>
            <a:r>
              <a:rPr b="1" i="0" lang="en-US" sz="1000" u="none" cap="none" strike="noStrike">
                <a:solidFill>
                  <a:srgbClr val="93C5FD"/>
                </a:solidFill>
                <a:latin typeface="Noto Sans KR"/>
                <a:ea typeface="Noto Sans KR"/>
                <a:cs typeface="Noto Sans KR"/>
                <a:sym typeface="Noto Sans KR"/>
              </a:rPr>
              <a:t>Learning Concept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9" name="Google Shape;49;p4"/>
          <p:cNvPicPr preferRelativeResize="0"/>
          <p:nvPr/>
        </p:nvPicPr>
        <p:blipFill rotWithShape="1">
          <a:blip r:embed="rId5">
            <a:alphaModFix/>
          </a:blip>
          <a:srcRect b="0" l="-3" r="-3" t="0"/>
          <a:stretch/>
        </p:blipFill>
        <p:spPr>
          <a:xfrm>
            <a:off x="761695" y="4709160"/>
            <a:ext cx="3353105" cy="1907438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4"/>
          <p:cNvSpPr/>
          <p:nvPr/>
        </p:nvSpPr>
        <p:spPr>
          <a:xfrm>
            <a:off x="1076249" y="5022799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3B82F6">
              <a:alpha val="20000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1" name="Google Shape;51;p4"/>
          <p:cNvPicPr preferRelativeResize="0"/>
          <p:nvPr/>
        </p:nvPicPr>
        <p:blipFill rotWithShape="1">
          <a:blip r:embed="rId6">
            <a:alphaModFix/>
          </a:blip>
          <a:srcRect b="-16600" l="0" r="0" t="-16600"/>
          <a:stretch/>
        </p:blipFill>
        <p:spPr>
          <a:xfrm>
            <a:off x="1190549" y="5099609"/>
            <a:ext cx="228600" cy="304495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4"/>
          <p:cNvSpPr txBox="1"/>
          <p:nvPr/>
        </p:nvSpPr>
        <p:spPr>
          <a:xfrm>
            <a:off x="1686154" y="5118811"/>
            <a:ext cx="1167689" cy="2670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Noto Sans KR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목표 (Goal)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 txBox="1"/>
          <p:nvPr/>
        </p:nvSpPr>
        <p:spPr>
          <a:xfrm>
            <a:off x="1076249" y="5632704"/>
            <a:ext cx="2800807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 데이터에 대한 예측 오차를 나타내는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 손실 함수 </a:t>
            </a:r>
            <a:r>
              <a:rPr b="0" i="0" lang="en-US" sz="10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L(W)</a:t>
            </a:r>
            <a:r>
              <a:rPr b="0" i="0" lang="en-US" sz="10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의 값을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Noto Sans KR"/>
              <a:buNone/>
            </a:pPr>
            <a:r>
              <a:rPr b="1" i="0" lang="en-US" sz="10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0에 가깝게 최소화</a:t>
            </a:r>
            <a:r>
              <a:rPr b="0" i="0" lang="en-US" sz="10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하는 것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4" name="Google Shape;54;p4"/>
          <p:cNvPicPr preferRelativeResize="0"/>
          <p:nvPr/>
        </p:nvPicPr>
        <p:blipFill rotWithShape="1">
          <a:blip r:embed="rId5">
            <a:alphaModFix/>
          </a:blip>
          <a:srcRect b="0" l="-3" r="-3" t="0"/>
          <a:stretch/>
        </p:blipFill>
        <p:spPr>
          <a:xfrm>
            <a:off x="4419295" y="4709160"/>
            <a:ext cx="3353105" cy="1907438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4"/>
          <p:cNvSpPr/>
          <p:nvPr/>
        </p:nvSpPr>
        <p:spPr>
          <a:xfrm>
            <a:off x="4733849" y="5022799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A855F7">
              <a:alpha val="20000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6" name="Google Shape;56;p4"/>
          <p:cNvPicPr preferRelativeResize="0"/>
          <p:nvPr/>
        </p:nvPicPr>
        <p:blipFill rotWithShape="1">
          <a:blip r:embed="rId7">
            <a:alphaModFix/>
          </a:blip>
          <a:srcRect b="-18437" l="0" r="0" t="-18437"/>
          <a:stretch/>
        </p:blipFill>
        <p:spPr>
          <a:xfrm>
            <a:off x="4852721" y="5118811"/>
            <a:ext cx="219456" cy="26700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4"/>
          <p:cNvSpPr txBox="1"/>
          <p:nvPr/>
        </p:nvSpPr>
        <p:spPr>
          <a:xfrm>
            <a:off x="5343754" y="5118811"/>
            <a:ext cx="1314907" cy="2670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Noto Sans KR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공간 (Space)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 txBox="1"/>
          <p:nvPr/>
        </p:nvSpPr>
        <p:spPr>
          <a:xfrm>
            <a:off x="4733849" y="5632704"/>
            <a:ext cx="2800807" cy="6574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 수만 개에서 수천억 개의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Noto Sans KR"/>
              <a:buNone/>
            </a:pPr>
            <a:r>
              <a:rPr b="1" i="0" lang="en-US" sz="10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파라미터(W)가 얽혀있는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 초고차원 가중치 공간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9" name="Google Shape;59;p4"/>
          <p:cNvPicPr preferRelativeResize="0"/>
          <p:nvPr/>
        </p:nvPicPr>
        <p:blipFill rotWithShape="1">
          <a:blip r:embed="rId5">
            <a:alphaModFix/>
          </a:blip>
          <a:srcRect b="0" l="-3" r="-3" t="0"/>
          <a:stretch/>
        </p:blipFill>
        <p:spPr>
          <a:xfrm>
            <a:off x="8076895" y="4709160"/>
            <a:ext cx="3353105" cy="1907438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4"/>
          <p:cNvSpPr/>
          <p:nvPr/>
        </p:nvSpPr>
        <p:spPr>
          <a:xfrm>
            <a:off x="8391449" y="5022799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10B981">
              <a:alpha val="20000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1" name="Google Shape;61;p4"/>
          <p:cNvPicPr preferRelativeResize="0"/>
          <p:nvPr/>
        </p:nvPicPr>
        <p:blipFill rotWithShape="1">
          <a:blip r:embed="rId8">
            <a:alphaModFix/>
          </a:blip>
          <a:srcRect b="-16600" l="0" r="0" t="-16600"/>
          <a:stretch/>
        </p:blipFill>
        <p:spPr>
          <a:xfrm>
            <a:off x="8505749" y="5099609"/>
            <a:ext cx="228600" cy="30449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4"/>
          <p:cNvSpPr txBox="1"/>
          <p:nvPr/>
        </p:nvSpPr>
        <p:spPr>
          <a:xfrm>
            <a:off x="9001354" y="5118811"/>
            <a:ext cx="1349654" cy="2670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Noto Sans KR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신호 (Signal)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 txBox="1"/>
          <p:nvPr/>
        </p:nvSpPr>
        <p:spPr>
          <a:xfrm>
            <a:off x="8391449" y="5632704"/>
            <a:ext cx="2800807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 손실 함수가 미분을 통해 알려주는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E7B7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EE7B7"/>
                </a:solidFill>
                <a:latin typeface="Arial"/>
                <a:ea typeface="Arial"/>
                <a:cs typeface="Arial"/>
                <a:sym typeface="Arial"/>
              </a:rPr>
              <a:t>Gradient</a:t>
            </a:r>
            <a:r>
              <a:rPr b="0" i="0" lang="en-US" sz="10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(기울기)가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Noto Sans KR"/>
              <a:buNone/>
            </a:pPr>
            <a:r>
              <a:rPr b="1" i="0" lang="en-US" sz="10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나아갈 방향을 제시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 txBox="1"/>
          <p:nvPr/>
        </p:nvSpPr>
        <p:spPr>
          <a:xfrm>
            <a:off x="761695" y="907999"/>
            <a:ext cx="10840212" cy="21433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Noto Sans KR"/>
              <a:buNone/>
            </a:pPr>
            <a:r>
              <a:rPr b="1" i="0" lang="en-US" sz="45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 딥러닝 학습은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4500"/>
              <a:buFont typeface="Noto Sans KR"/>
              <a:buNone/>
            </a:pPr>
            <a:r>
              <a:rPr b="1" i="0" lang="en-US" sz="4500" u="none" cap="none" strike="noStrike">
                <a:solidFill>
                  <a:srgbClr val="60A5FA"/>
                </a:solidFill>
                <a:latin typeface="Noto Sans KR"/>
                <a:ea typeface="Noto Sans KR"/>
                <a:cs typeface="Noto Sans KR"/>
                <a:sym typeface="Noto Sans KR"/>
              </a:rPr>
              <a:t>오차를 최소화하는 W</a:t>
            </a:r>
            <a:r>
              <a:rPr b="1" i="0" lang="en-US" sz="45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를 찾는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Noto Sans KR"/>
              <a:buNone/>
            </a:pPr>
            <a:r>
              <a:rPr b="1" i="0" lang="en-US" sz="45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 거대한 게임입니다. 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5" name="Google Shape;65;p4"/>
          <p:cNvPicPr preferRelativeResize="0"/>
          <p:nvPr/>
        </p:nvPicPr>
        <p:blipFill rotWithShape="1">
          <a:blip r:embed="rId9">
            <a:alphaModFix/>
          </a:blip>
          <a:srcRect b="0" l="-374" r="-374" t="0"/>
          <a:stretch/>
        </p:blipFill>
        <p:spPr>
          <a:xfrm>
            <a:off x="761695" y="3318358"/>
            <a:ext cx="38405" cy="609905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4"/>
          <p:cNvSpPr txBox="1"/>
          <p:nvPr/>
        </p:nvSpPr>
        <p:spPr>
          <a:xfrm>
            <a:off x="952805" y="3279953"/>
            <a:ext cx="6191402" cy="7434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800"/>
              <a:buFont typeface="Noto Sans KR"/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우리는 </a:t>
            </a:r>
            <a:r>
              <a:rPr b="0" i="0" lang="en-US" sz="18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손실 함수 L(W)</a:t>
            </a:r>
            <a:r>
              <a:rPr b="0" i="0" lang="en-US" sz="18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라는 지도를 들고,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800"/>
              <a:buFont typeface="Noto Sans KR"/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안개 낀 고차원 산맥에서 가장 낮은 계곡을 찾아 탐험을 떠납니다.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3" name="Google Shape;73;p5"/>
          <p:cNvPicPr preferRelativeResize="0"/>
          <p:nvPr/>
        </p:nvPicPr>
        <p:blipFill rotWithShape="1">
          <a:blip r:embed="rId3">
            <a:alphaModFix/>
          </a:blip>
          <a:srcRect b="-1" l="0" r="0" t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5"/>
          <p:cNvSpPr/>
          <p:nvPr/>
        </p:nvSpPr>
        <p:spPr>
          <a:xfrm>
            <a:off x="571500" y="6048756"/>
            <a:ext cx="11048695" cy="9144"/>
          </a:xfrm>
          <a:prstGeom prst="rect">
            <a:avLst/>
          </a:prstGeom>
          <a:solidFill>
            <a:srgbClr val="1E293B">
              <a:alpha val="50196"/>
            </a:srgbClr>
          </a:solidFill>
          <a:ln cap="flat" cmpd="sng" w="12700">
            <a:solidFill>
              <a:srgbClr val="1E293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571500" y="6344107"/>
            <a:ext cx="75895" cy="75895"/>
          </a:xfrm>
          <a:prstGeom prst="ellipse">
            <a:avLst/>
          </a:prstGeom>
          <a:solidFill>
            <a:srgbClr val="3B82F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"/>
          <p:cNvSpPr txBox="1"/>
          <p:nvPr/>
        </p:nvSpPr>
        <p:spPr>
          <a:xfrm>
            <a:off x="724205" y="6286500"/>
            <a:ext cx="1133856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Parameters (W)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7" name="Google Shape;77;p5"/>
          <p:cNvPicPr preferRelativeResize="0"/>
          <p:nvPr/>
        </p:nvPicPr>
        <p:blipFill rotWithShape="1">
          <a:blip r:embed="rId4">
            <a:alphaModFix/>
          </a:blip>
          <a:srcRect b="-13532" l="0" r="0" t="-13533"/>
          <a:stretch/>
        </p:blipFill>
        <p:spPr>
          <a:xfrm>
            <a:off x="1826971" y="6305702"/>
            <a:ext cx="105156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5"/>
          <p:cNvSpPr/>
          <p:nvPr/>
        </p:nvSpPr>
        <p:spPr>
          <a:xfrm>
            <a:off x="2083918" y="6344107"/>
            <a:ext cx="75895" cy="75895"/>
          </a:xfrm>
          <a:prstGeom prst="ellipse">
            <a:avLst/>
          </a:prstGeom>
          <a:solidFill>
            <a:srgbClr val="60A5F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5"/>
          <p:cNvSpPr txBox="1"/>
          <p:nvPr/>
        </p:nvSpPr>
        <p:spPr>
          <a:xfrm>
            <a:off x="2236622" y="6286500"/>
            <a:ext cx="770839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Output (ŷ)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0" name="Google Shape;80;p5"/>
          <p:cNvPicPr preferRelativeResize="0"/>
          <p:nvPr/>
        </p:nvPicPr>
        <p:blipFill rotWithShape="1">
          <a:blip r:embed="rId4">
            <a:alphaModFix/>
          </a:blip>
          <a:srcRect b="-13532" l="0" r="0" t="-13533"/>
          <a:stretch/>
        </p:blipFill>
        <p:spPr>
          <a:xfrm>
            <a:off x="3027578" y="6305702"/>
            <a:ext cx="105156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5"/>
          <p:cNvSpPr/>
          <p:nvPr/>
        </p:nvSpPr>
        <p:spPr>
          <a:xfrm>
            <a:off x="3284525" y="6344107"/>
            <a:ext cx="75895" cy="75895"/>
          </a:xfrm>
          <a:prstGeom prst="ellipse">
            <a:avLst/>
          </a:prstGeom>
          <a:solidFill>
            <a:srgbClr val="F43F5E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5"/>
          <p:cNvSpPr txBox="1"/>
          <p:nvPr/>
        </p:nvSpPr>
        <p:spPr>
          <a:xfrm>
            <a:off x="3437230" y="6286500"/>
            <a:ext cx="566928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Loss (L)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 txBox="1"/>
          <p:nvPr/>
        </p:nvSpPr>
        <p:spPr>
          <a:xfrm>
            <a:off x="10162642" y="6286500"/>
            <a:ext cx="174559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03 Prediction vs Reality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4" name="Google Shape;84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81305"/>
            <a:ext cx="809244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5"/>
          <p:cNvSpPr/>
          <p:nvPr/>
        </p:nvSpPr>
        <p:spPr>
          <a:xfrm>
            <a:off x="571500" y="381305"/>
            <a:ext cx="810158" cy="228600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Noto Sans KR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Concept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 txBox="1"/>
          <p:nvPr/>
        </p:nvSpPr>
        <p:spPr>
          <a:xfrm>
            <a:off x="1487729" y="400507"/>
            <a:ext cx="2108606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Step 1: Quantifying the Gap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 txBox="1"/>
          <p:nvPr/>
        </p:nvSpPr>
        <p:spPr>
          <a:xfrm>
            <a:off x="571500" y="685800"/>
            <a:ext cx="11354105" cy="381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Noto Sans KR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모델의 예측 vs 실제: 간극을 숫자로 만드는 순간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 txBox="1"/>
          <p:nvPr/>
        </p:nvSpPr>
        <p:spPr>
          <a:xfrm>
            <a:off x="571500" y="1143000"/>
            <a:ext cx="11239805" cy="2670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Noto Sans KR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신경망의 끝단에서 예측값과 정답 사이의 거리가 '손실(Loss)'로 정의됩니다.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9" name="Google Shape;89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038905" y="2395728"/>
            <a:ext cx="4114800" cy="304769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5"/>
          <p:cNvSpPr/>
          <p:nvPr/>
        </p:nvSpPr>
        <p:spPr>
          <a:xfrm>
            <a:off x="952805" y="2395728"/>
            <a:ext cx="3086100" cy="3047695"/>
          </a:xfrm>
          <a:prstGeom prst="roundRect">
            <a:avLst>
              <a:gd fmla="val 1500" name="adj"/>
            </a:avLst>
          </a:prstGeom>
          <a:solidFill>
            <a:srgbClr val="1E293B">
              <a:alpha val="40000"/>
            </a:srgbClr>
          </a:solidFill>
          <a:ln cap="flat" cmpd="sng" w="12700">
            <a:solidFill>
              <a:srgbClr val="94A3B8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1" name="Google Shape;91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782166" y="2253082"/>
            <a:ext cx="1429207" cy="26700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5"/>
          <p:cNvSpPr/>
          <p:nvPr/>
        </p:nvSpPr>
        <p:spPr>
          <a:xfrm>
            <a:off x="1782166" y="2253082"/>
            <a:ext cx="1429207" cy="267005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Noto Sans KR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Model Prediction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3" name="Google Shape;93;p5"/>
          <p:cNvPicPr preferRelativeResize="0"/>
          <p:nvPr/>
        </p:nvPicPr>
        <p:blipFill rotWithShape="1">
          <a:blip r:embed="rId8">
            <a:alphaModFix/>
          </a:blip>
          <a:srcRect b="-15" l="0" r="0" t="-16"/>
          <a:stretch/>
        </p:blipFill>
        <p:spPr>
          <a:xfrm>
            <a:off x="2138782" y="2735885"/>
            <a:ext cx="714146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5"/>
          <p:cNvSpPr txBox="1"/>
          <p:nvPr/>
        </p:nvSpPr>
        <p:spPr>
          <a:xfrm>
            <a:off x="2392985" y="3460090"/>
            <a:ext cx="286207" cy="381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ŷ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 txBox="1"/>
          <p:nvPr/>
        </p:nvSpPr>
        <p:spPr>
          <a:xfrm>
            <a:off x="2215591" y="3917290"/>
            <a:ext cx="638251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BFE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BFDBFE"/>
                </a:solidFill>
                <a:latin typeface="Arial"/>
                <a:ea typeface="Arial"/>
                <a:cs typeface="Arial"/>
                <a:sym typeface="Arial"/>
              </a:rPr>
              <a:t>(y_hat)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 txBox="1"/>
          <p:nvPr/>
        </p:nvSpPr>
        <p:spPr>
          <a:xfrm>
            <a:off x="1190549" y="4336085"/>
            <a:ext cx="710489" cy="152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Confidence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 txBox="1"/>
          <p:nvPr/>
        </p:nvSpPr>
        <p:spPr>
          <a:xfrm>
            <a:off x="3578047" y="4336085"/>
            <a:ext cx="305410" cy="152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0.85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8" name="Google Shape;98;p5"/>
          <p:cNvPicPr preferRelativeResize="0"/>
          <p:nvPr/>
        </p:nvPicPr>
        <p:blipFill rotWithShape="1">
          <a:blip r:embed="rId9">
            <a:alphaModFix/>
          </a:blip>
          <a:srcRect b="0" l="-198" r="-197" t="0"/>
          <a:stretch/>
        </p:blipFill>
        <p:spPr>
          <a:xfrm>
            <a:off x="1190549" y="4527194"/>
            <a:ext cx="2609698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9" name="Google Shape;99;p5"/>
          <p:cNvPicPr preferRelativeResize="0"/>
          <p:nvPr/>
        </p:nvPicPr>
        <p:blipFill rotWithShape="1">
          <a:blip r:embed="rId10">
            <a:alphaModFix/>
          </a:blip>
          <a:srcRect b="0" l="-202" r="-201" t="0"/>
          <a:stretch/>
        </p:blipFill>
        <p:spPr>
          <a:xfrm>
            <a:off x="1190549" y="4527194"/>
            <a:ext cx="2218334" cy="7589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5"/>
          <p:cNvSpPr txBox="1"/>
          <p:nvPr/>
        </p:nvSpPr>
        <p:spPr>
          <a:xfrm>
            <a:off x="1710842" y="4755794"/>
            <a:ext cx="1575511" cy="381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학습된 가중치(W)를 통과한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신경망의 최종 출력값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5045659" y="4481474"/>
            <a:ext cx="2104949" cy="705002"/>
          </a:xfrm>
          <a:prstGeom prst="roundRect">
            <a:avLst>
              <a:gd fmla="val 14022" name="adj"/>
            </a:avLst>
          </a:prstGeom>
          <a:solidFill>
            <a:srgbClr val="1E293B">
              <a:alpha val="50196"/>
            </a:srgbClr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"/>
          <p:cNvSpPr txBox="1"/>
          <p:nvPr/>
        </p:nvSpPr>
        <p:spPr>
          <a:xfrm>
            <a:off x="5214823" y="4604918"/>
            <a:ext cx="1766621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7185"/>
              </a:buClr>
              <a:buSzPts val="1200"/>
              <a:buFont typeface="Noto Sans KR"/>
              <a:buNone/>
            </a:pPr>
            <a:r>
              <a:rPr b="1" i="0" lang="en-US" sz="1200" u="none" cap="none" strike="noStrike">
                <a:solidFill>
                  <a:srgbClr val="FB7185"/>
                </a:solidFill>
                <a:latin typeface="Noto Sans KR"/>
                <a:ea typeface="Noto Sans KR"/>
                <a:cs typeface="Noto Sans KR"/>
                <a:sym typeface="Noto Sans KR"/>
              </a:rPr>
              <a:t>Gap Quantification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 txBox="1"/>
          <p:nvPr/>
        </p:nvSpPr>
        <p:spPr>
          <a:xfrm>
            <a:off x="5088636" y="4871923"/>
            <a:ext cx="2018995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차이가 클수록 손실(L)도 커짐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4" name="Google Shape;104;p5"/>
          <p:cNvPicPr preferRelativeResize="0"/>
          <p:nvPr/>
        </p:nvPicPr>
        <p:blipFill rotWithShape="1">
          <a:blip r:embed="rId11">
            <a:alphaModFix amt="89000"/>
          </a:blip>
          <a:srcRect b="-1100" l="0" r="0" t="-1100"/>
          <a:stretch/>
        </p:blipFill>
        <p:spPr>
          <a:xfrm>
            <a:off x="5051146" y="5700370"/>
            <a:ext cx="114300" cy="133502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5"/>
          <p:cNvSpPr txBox="1"/>
          <p:nvPr/>
        </p:nvSpPr>
        <p:spPr>
          <a:xfrm>
            <a:off x="5241341" y="5672023"/>
            <a:ext cx="2267712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CC15"/>
              </a:buClr>
              <a:buSzPts val="1000"/>
              <a:buFont typeface="Noto Sans KR"/>
              <a:buNone/>
            </a:pPr>
            <a:r>
              <a:rPr b="1" i="0" lang="en-US" sz="1000" u="none" cap="none" strike="noStrike">
                <a:solidFill>
                  <a:srgbClr val="FACC15"/>
                </a:solidFill>
                <a:latin typeface="Noto Sans KR"/>
                <a:ea typeface="Noto Sans KR"/>
                <a:cs typeface="Noto Sans KR"/>
                <a:sym typeface="Noto Sans KR"/>
              </a:rPr>
              <a:t>Backpropagation Starts Here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 txBox="1"/>
          <p:nvPr/>
        </p:nvSpPr>
        <p:spPr>
          <a:xfrm>
            <a:off x="5581498" y="5900623"/>
            <a:ext cx="1114654" cy="152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Gradient: ∂L/∂ŷ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8153705" y="2395728"/>
            <a:ext cx="3086100" cy="3047695"/>
          </a:xfrm>
          <a:prstGeom prst="roundRect">
            <a:avLst>
              <a:gd fmla="val 1500" name="adj"/>
            </a:avLst>
          </a:prstGeom>
          <a:solidFill>
            <a:srgbClr val="1E293B">
              <a:alpha val="40000"/>
            </a:srgbClr>
          </a:solidFill>
          <a:ln cap="flat" cmpd="sng" w="12700">
            <a:solidFill>
              <a:srgbClr val="94A3B8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8" name="Google Shape;108;p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099194" y="2253082"/>
            <a:ext cx="1200607" cy="26700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5"/>
          <p:cNvSpPr/>
          <p:nvPr/>
        </p:nvSpPr>
        <p:spPr>
          <a:xfrm>
            <a:off x="9099194" y="2253082"/>
            <a:ext cx="1200607" cy="267005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Noto Sans KR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Ground Truth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0" name="Google Shape;110;p5"/>
          <p:cNvPicPr preferRelativeResize="0"/>
          <p:nvPr/>
        </p:nvPicPr>
        <p:blipFill rotWithShape="1">
          <a:blip r:embed="rId13">
            <a:alphaModFix/>
          </a:blip>
          <a:srcRect b="0" l="-469" r="-469" t="0"/>
          <a:stretch/>
        </p:blipFill>
        <p:spPr>
          <a:xfrm>
            <a:off x="9443923" y="2735885"/>
            <a:ext cx="504749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5"/>
          <p:cNvSpPr txBox="1"/>
          <p:nvPr/>
        </p:nvSpPr>
        <p:spPr>
          <a:xfrm>
            <a:off x="9593885" y="3460090"/>
            <a:ext cx="286207" cy="381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 txBox="1"/>
          <p:nvPr/>
        </p:nvSpPr>
        <p:spPr>
          <a:xfrm>
            <a:off x="9416491" y="3917290"/>
            <a:ext cx="638251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7F3D0"/>
                </a:solidFill>
                <a:latin typeface="Arial"/>
                <a:ea typeface="Arial"/>
                <a:cs typeface="Arial"/>
                <a:sym typeface="Arial"/>
              </a:rPr>
              <a:t>(Label)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 txBox="1"/>
          <p:nvPr/>
        </p:nvSpPr>
        <p:spPr>
          <a:xfrm>
            <a:off x="8391449" y="4336085"/>
            <a:ext cx="703174" cy="152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Probability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 txBox="1"/>
          <p:nvPr/>
        </p:nvSpPr>
        <p:spPr>
          <a:xfrm>
            <a:off x="10778947" y="4336085"/>
            <a:ext cx="305410" cy="152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1.00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5" name="Google Shape;115;p5"/>
          <p:cNvPicPr preferRelativeResize="0"/>
          <p:nvPr/>
        </p:nvPicPr>
        <p:blipFill rotWithShape="1">
          <a:blip r:embed="rId9">
            <a:alphaModFix/>
          </a:blip>
          <a:srcRect b="0" l="-198" r="-197" t="0"/>
          <a:stretch/>
        </p:blipFill>
        <p:spPr>
          <a:xfrm>
            <a:off x="8391449" y="4527194"/>
            <a:ext cx="2609698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6" name="Google Shape;116;p5"/>
          <p:cNvPicPr preferRelativeResize="0"/>
          <p:nvPr/>
        </p:nvPicPr>
        <p:blipFill rotWithShape="1">
          <a:blip r:embed="rId14">
            <a:alphaModFix/>
          </a:blip>
          <a:srcRect b="0" l="-198" r="-197" t="0"/>
          <a:stretch/>
        </p:blipFill>
        <p:spPr>
          <a:xfrm>
            <a:off x="8391449" y="4527194"/>
            <a:ext cx="2609698" cy="7589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8808415" y="4755794"/>
            <a:ext cx="1783080" cy="381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우리가 모델이 도달하길 원하는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이상적인 정답 (Target)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8" name="Google Shape;118;p5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5333695" y="2652674"/>
            <a:ext cx="1524305" cy="152430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5"/>
          <p:cNvSpPr txBox="1"/>
          <p:nvPr/>
        </p:nvSpPr>
        <p:spPr>
          <a:xfrm>
            <a:off x="5848502" y="3357677"/>
            <a:ext cx="587045" cy="3054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E4E6"/>
              </a:buClr>
              <a:buSzPts val="1800"/>
              <a:buFont typeface="Noto Sans KR"/>
              <a:buNone/>
            </a:pPr>
            <a:r>
              <a:rPr b="1" i="0" lang="en-US" sz="1800" u="none" cap="none" strike="noStrike">
                <a:solidFill>
                  <a:srgbClr val="FFE4E6"/>
                </a:solidFill>
                <a:latin typeface="Noto Sans KR"/>
                <a:ea typeface="Noto Sans KR"/>
                <a:cs typeface="Noto Sans KR"/>
                <a:sym typeface="Noto Sans KR"/>
              </a:rPr>
              <a:t>Loss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 txBox="1"/>
          <p:nvPr/>
        </p:nvSpPr>
        <p:spPr>
          <a:xfrm>
            <a:off x="5855818" y="3700577"/>
            <a:ext cx="562356" cy="152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A4A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DA4AF"/>
                </a:solidFill>
                <a:latin typeface="Arial"/>
                <a:ea typeface="Arial"/>
                <a:cs typeface="Arial"/>
                <a:sym typeface="Arial"/>
              </a:rPr>
              <a:t>L(ŷ, y)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1" name="Google Shape;121;p5"/>
          <p:cNvPicPr preferRelativeResize="0"/>
          <p:nvPr/>
        </p:nvPicPr>
        <p:blipFill rotWithShape="1">
          <a:blip r:embed="rId16">
            <a:alphaModFix/>
          </a:blip>
          <a:srcRect b="0" l="-607" r="-607" t="0"/>
          <a:stretch/>
        </p:blipFill>
        <p:spPr>
          <a:xfrm>
            <a:off x="5915254" y="3022092"/>
            <a:ext cx="362102" cy="2862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9" name="Google Shape;129;p6"/>
          <p:cNvPicPr preferRelativeResize="0"/>
          <p:nvPr/>
        </p:nvPicPr>
        <p:blipFill rotWithShape="1">
          <a:blip r:embed="rId3">
            <a:alphaModFix amt="50000"/>
          </a:blip>
          <a:srcRect b="-1" l="0" r="0" t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0" name="Google Shape;13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81305"/>
            <a:ext cx="972007" cy="247802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6"/>
          <p:cNvSpPr/>
          <p:nvPr/>
        </p:nvSpPr>
        <p:spPr>
          <a:xfrm>
            <a:off x="571500" y="381305"/>
            <a:ext cx="972007" cy="247802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12700">
            <a:solidFill>
              <a:srgbClr val="6366F1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5B4FC"/>
              </a:buClr>
              <a:buSzPts val="900"/>
              <a:buFont typeface="Noto Sans KR"/>
              <a:buNone/>
            </a:pPr>
            <a:r>
              <a:rPr b="1" i="0" lang="en-US" sz="900" u="none" cap="none" strike="noStrike">
                <a:solidFill>
                  <a:srgbClr val="A5B4FC"/>
                </a:solidFill>
                <a:latin typeface="Noto Sans KR"/>
                <a:ea typeface="Noto Sans KR"/>
                <a:cs typeface="Noto Sans KR"/>
                <a:sym typeface="Noto Sans KR"/>
              </a:rPr>
              <a:t>Definition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 txBox="1"/>
          <p:nvPr/>
        </p:nvSpPr>
        <p:spPr>
          <a:xfrm>
            <a:off x="1653235" y="409651"/>
            <a:ext cx="1983334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Mathematical Foundation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 txBox="1"/>
          <p:nvPr/>
        </p:nvSpPr>
        <p:spPr>
          <a:xfrm>
            <a:off x="571500" y="705002"/>
            <a:ext cx="5491886" cy="381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Noto Sans KR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손실 함수는 왜 '함수'인가?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 txBox="1"/>
          <p:nvPr/>
        </p:nvSpPr>
        <p:spPr>
          <a:xfrm>
            <a:off x="9703613" y="457200"/>
            <a:ext cx="1924812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Loss Landscape Geometry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 txBox="1"/>
          <p:nvPr/>
        </p:nvSpPr>
        <p:spPr>
          <a:xfrm>
            <a:off x="571500" y="1162202"/>
            <a:ext cx="7392010" cy="5623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Noto Sans KR"/>
              <a:buNone/>
            </a:pPr>
            <a:r>
              <a:rPr b="0" i="0" lang="en-US" sz="13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손실 함수는 단순히 오차를 계산하는 식을 넘어, 수만 개의 파라미터(W)가 만드는 </a:t>
            </a:r>
            <a:r>
              <a:rPr b="1" i="0" lang="en-US" sz="1300" u="none" cap="none" strike="noStrike">
                <a:solidFill>
                  <a:srgbClr val="60A5FA"/>
                </a:solidFill>
                <a:latin typeface="Noto Sans KR"/>
                <a:ea typeface="Noto Sans KR"/>
                <a:cs typeface="Noto Sans KR"/>
                <a:sym typeface="Noto Sans KR"/>
              </a:rPr>
              <a:t>고차원 공간</a:t>
            </a:r>
            <a:r>
              <a:rPr b="0" i="0" lang="en-US" sz="13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을 하나의 </a:t>
            </a:r>
            <a:r>
              <a:rPr b="1" i="0" lang="en-US" sz="1300" u="none" cap="none" strike="noStrike">
                <a:solidFill>
                  <a:srgbClr val="FB7185"/>
                </a:solidFill>
                <a:latin typeface="Noto Sans KR"/>
                <a:ea typeface="Noto Sans KR"/>
                <a:cs typeface="Noto Sans KR"/>
                <a:sym typeface="Noto Sans KR"/>
              </a:rPr>
              <a:t>스칼라 값(높이)</a:t>
            </a:r>
            <a:r>
              <a:rPr b="0" i="0" lang="en-US" sz="13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으로 연결하는 매핑입니다.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571500" y="4214470"/>
            <a:ext cx="3534156" cy="2553005"/>
          </a:xfrm>
          <a:prstGeom prst="roundRect">
            <a:avLst>
              <a:gd fmla="val 1604" name="adj"/>
            </a:avLst>
          </a:prstGeom>
          <a:solidFill>
            <a:srgbClr val="0F172A">
              <a:alpha val="80000"/>
            </a:srgbClr>
          </a:solidFill>
          <a:ln cap="flat" cmpd="sng" w="12700">
            <a:solidFill>
              <a:srgbClr val="94A3B8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6"/>
          <p:cNvSpPr/>
          <p:nvPr/>
        </p:nvSpPr>
        <p:spPr>
          <a:xfrm>
            <a:off x="809244" y="4453128"/>
            <a:ext cx="457200" cy="457200"/>
          </a:xfrm>
          <a:prstGeom prst="roundRect">
            <a:avLst>
              <a:gd fmla="val 41667" name="adj"/>
            </a:avLst>
          </a:prstGeom>
          <a:solidFill>
            <a:srgbClr val="3B82F6">
              <a:alpha val="20000"/>
            </a:srgbClr>
          </a:solidFill>
          <a:ln cap="flat" cmpd="sng" w="12700">
            <a:solidFill>
              <a:srgbClr val="3B82F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8" name="Google Shape;138;p6"/>
          <p:cNvPicPr preferRelativeResize="0"/>
          <p:nvPr/>
        </p:nvPicPr>
        <p:blipFill rotWithShape="1">
          <a:blip r:embed="rId5">
            <a:alphaModFix/>
          </a:blip>
          <a:srcRect b="-45" l="0" r="0" t="-44"/>
          <a:stretch/>
        </p:blipFill>
        <p:spPr>
          <a:xfrm>
            <a:off x="909828" y="4567428"/>
            <a:ext cx="256946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6"/>
          <p:cNvSpPr txBox="1"/>
          <p:nvPr/>
        </p:nvSpPr>
        <p:spPr>
          <a:xfrm>
            <a:off x="809244" y="5062118"/>
            <a:ext cx="3172054" cy="2670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Noto Sans KR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지형 (Landscape) 형성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 txBox="1"/>
          <p:nvPr/>
        </p:nvSpPr>
        <p:spPr>
          <a:xfrm>
            <a:off x="809244" y="5405018"/>
            <a:ext cx="3134563" cy="6574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입력값 W가 변함에 따라 출력값 L이 변하는 관계가 형성됩니다. 이 관계가 모여 산맥, 계곡, 평원 같은 '지형'을 만듭니다.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809244" y="6207862"/>
            <a:ext cx="3057754" cy="9144"/>
          </a:xfrm>
          <a:prstGeom prst="rect">
            <a:avLst/>
          </a:prstGeom>
          <a:solidFill>
            <a:srgbClr val="334155">
              <a:alpha val="50196"/>
            </a:srgbClr>
          </a:solidFill>
          <a:ln cap="flat" cmpd="sng" w="12700">
            <a:solidFill>
              <a:srgbClr val="33415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"/>
          <p:cNvSpPr txBox="1"/>
          <p:nvPr/>
        </p:nvSpPr>
        <p:spPr>
          <a:xfrm>
            <a:off x="809244" y="6369710"/>
            <a:ext cx="3172054" cy="152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W → Height of terrain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4330598" y="4214470"/>
            <a:ext cx="3534156" cy="2553005"/>
          </a:xfrm>
          <a:prstGeom prst="roundRect">
            <a:avLst>
              <a:gd fmla="val 1604" name="adj"/>
            </a:avLst>
          </a:prstGeom>
          <a:solidFill>
            <a:srgbClr val="0F172A">
              <a:alpha val="80000"/>
            </a:srgbClr>
          </a:solidFill>
          <a:ln cap="flat" cmpd="sng" w="12700">
            <a:solidFill>
              <a:srgbClr val="94A3B8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"/>
          <p:cNvSpPr/>
          <p:nvPr/>
        </p:nvSpPr>
        <p:spPr>
          <a:xfrm>
            <a:off x="4568342" y="4453128"/>
            <a:ext cx="457200" cy="457200"/>
          </a:xfrm>
          <a:prstGeom prst="roundRect">
            <a:avLst>
              <a:gd fmla="val 41667" name="adj"/>
            </a:avLst>
          </a:prstGeom>
          <a:solidFill>
            <a:srgbClr val="A855F7">
              <a:alpha val="20000"/>
            </a:srgbClr>
          </a:solidFill>
          <a:ln cap="flat" cmpd="sng" w="12700">
            <a:solidFill>
              <a:srgbClr val="A855F7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5" name="Google Shape;145;p6"/>
          <p:cNvPicPr preferRelativeResize="0"/>
          <p:nvPr/>
        </p:nvPicPr>
        <p:blipFill rotWithShape="1">
          <a:blip r:embed="rId6">
            <a:alphaModFix/>
          </a:blip>
          <a:srcRect b="0" l="-80" r="-80" t="0"/>
          <a:stretch/>
        </p:blipFill>
        <p:spPr>
          <a:xfrm>
            <a:off x="4654296" y="4567428"/>
            <a:ext cx="286207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6"/>
          <p:cNvSpPr txBox="1"/>
          <p:nvPr/>
        </p:nvSpPr>
        <p:spPr>
          <a:xfrm>
            <a:off x="4568342" y="5062118"/>
            <a:ext cx="3539642" cy="2670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Noto Sans KR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미분 가능성 (Differentiability)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 txBox="1"/>
          <p:nvPr/>
        </p:nvSpPr>
        <p:spPr>
          <a:xfrm>
            <a:off x="4568342" y="5405018"/>
            <a:ext cx="3134563" cy="6574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 최적화를 위해 함수는 부드러워야 합니다. 모든 지점에서 기울기(Gradient)를 계산할 수 있어야 </a:t>
            </a:r>
            <a:r>
              <a:rPr b="0" i="0" lang="en-US" sz="1000" u="none" cap="none" strike="noStrike">
                <a:solidFill>
                  <a:srgbClr val="D8B4FE"/>
                </a:solidFill>
                <a:latin typeface="Noto Sans KR"/>
                <a:ea typeface="Noto Sans KR"/>
                <a:cs typeface="Noto Sans KR"/>
                <a:sym typeface="Noto Sans KR"/>
              </a:rPr>
              <a:t>역전파</a:t>
            </a:r>
            <a:r>
              <a:rPr b="0" i="0" lang="en-US" sz="10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가 가능합니다.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4568342" y="6207862"/>
            <a:ext cx="3057754" cy="9144"/>
          </a:xfrm>
          <a:prstGeom prst="rect">
            <a:avLst/>
          </a:prstGeom>
          <a:solidFill>
            <a:srgbClr val="334155">
              <a:alpha val="50196"/>
            </a:srgbClr>
          </a:solidFill>
          <a:ln cap="flat" cmpd="sng" w="12700">
            <a:solidFill>
              <a:srgbClr val="33415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"/>
          <p:cNvSpPr txBox="1"/>
          <p:nvPr/>
        </p:nvSpPr>
        <p:spPr>
          <a:xfrm>
            <a:off x="4568342" y="6369710"/>
            <a:ext cx="3172054" cy="152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B4FE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D8B4FE"/>
                </a:solidFill>
                <a:latin typeface="Arial"/>
                <a:ea typeface="Arial"/>
                <a:cs typeface="Arial"/>
                <a:sym typeface="Arial"/>
              </a:rPr>
              <a:t>Requires ∇L (Gradient)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8089697" y="4214470"/>
            <a:ext cx="3534156" cy="2553005"/>
          </a:xfrm>
          <a:prstGeom prst="roundRect">
            <a:avLst>
              <a:gd fmla="val 1604" name="adj"/>
            </a:avLst>
          </a:prstGeom>
          <a:solidFill>
            <a:srgbClr val="0F172A">
              <a:alpha val="80000"/>
            </a:srgbClr>
          </a:solidFill>
          <a:ln cap="flat" cmpd="sng" w="12700">
            <a:solidFill>
              <a:srgbClr val="94A3B8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6"/>
          <p:cNvSpPr/>
          <p:nvPr/>
        </p:nvSpPr>
        <p:spPr>
          <a:xfrm>
            <a:off x="8328355" y="4453128"/>
            <a:ext cx="457200" cy="457200"/>
          </a:xfrm>
          <a:prstGeom prst="roundRect">
            <a:avLst>
              <a:gd fmla="val 41667" name="adj"/>
            </a:avLst>
          </a:prstGeom>
          <a:solidFill>
            <a:srgbClr val="F97316">
              <a:alpha val="20000"/>
            </a:srgbClr>
          </a:solidFill>
          <a:ln cap="flat" cmpd="sng" w="12700">
            <a:solidFill>
              <a:srgbClr val="F9731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2" name="Google Shape;152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42655" y="4567428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6"/>
          <p:cNvSpPr txBox="1"/>
          <p:nvPr/>
        </p:nvSpPr>
        <p:spPr>
          <a:xfrm>
            <a:off x="8328355" y="5062118"/>
            <a:ext cx="3172054" cy="2670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Noto Sans KR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형태의 복잡성 (Non-Convex)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 txBox="1"/>
          <p:nvPr/>
        </p:nvSpPr>
        <p:spPr>
          <a:xfrm>
            <a:off x="8328355" y="5405018"/>
            <a:ext cx="3134563" cy="6574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단순한 그릇 모양(Convex)이 아니라, 수많은 웅덩이(Local Minima)가 존재하는 복잡한 비볼록(Non-Convex) 형태를 띱니다.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8328355" y="6207862"/>
            <a:ext cx="3057754" cy="9144"/>
          </a:xfrm>
          <a:prstGeom prst="rect">
            <a:avLst/>
          </a:prstGeom>
          <a:solidFill>
            <a:srgbClr val="334155">
              <a:alpha val="50196"/>
            </a:srgbClr>
          </a:solidFill>
          <a:ln cap="flat" cmpd="sng" w="12700">
            <a:solidFill>
              <a:srgbClr val="33415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"/>
          <p:cNvSpPr txBox="1"/>
          <p:nvPr/>
        </p:nvSpPr>
        <p:spPr>
          <a:xfrm>
            <a:off x="8328355" y="6369710"/>
            <a:ext cx="3172054" cy="152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BA74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DBA74"/>
                </a:solidFill>
                <a:latin typeface="Arial"/>
                <a:ea typeface="Arial"/>
                <a:cs typeface="Arial"/>
                <a:sym typeface="Arial"/>
              </a:rPr>
              <a:t>Deep Neural Nets = Complex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571500" y="6988759"/>
            <a:ext cx="11048695" cy="9144"/>
          </a:xfrm>
          <a:prstGeom prst="rect">
            <a:avLst/>
          </a:prstGeom>
          <a:solidFill>
            <a:srgbClr val="1E293B">
              <a:alpha val="50196"/>
            </a:srgbClr>
          </a:solidFill>
          <a:ln cap="flat" cmpd="sng" w="12700">
            <a:solidFill>
              <a:srgbClr val="1E293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"/>
          <p:cNvSpPr txBox="1"/>
          <p:nvPr/>
        </p:nvSpPr>
        <p:spPr>
          <a:xfrm>
            <a:off x="571500" y="7150608"/>
            <a:ext cx="2645359" cy="152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Slide 04: Definition of Loss Function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 txBox="1"/>
          <p:nvPr/>
        </p:nvSpPr>
        <p:spPr>
          <a:xfrm>
            <a:off x="8847734" y="7150608"/>
            <a:ext cx="3161081" cy="152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손실 함수는 최적화 알고리즘이 걸어갈 땅(Ground)입니다. 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0" name="Google Shape;160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663026" y="7174382"/>
            <a:ext cx="1143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1" name="Google Shape;161;p6"/>
          <p:cNvPicPr preferRelativeResize="0"/>
          <p:nvPr/>
        </p:nvPicPr>
        <p:blipFill rotWithShape="1">
          <a:blip r:embed="rId9">
            <a:alphaModFix/>
          </a:blip>
          <a:srcRect b="0" l="-3" r="-3" t="0"/>
          <a:stretch/>
        </p:blipFill>
        <p:spPr>
          <a:xfrm>
            <a:off x="571500" y="2138782"/>
            <a:ext cx="11048695" cy="1695298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6"/>
          <p:cNvSpPr txBox="1"/>
          <p:nvPr/>
        </p:nvSpPr>
        <p:spPr>
          <a:xfrm>
            <a:off x="4750308" y="2529230"/>
            <a:ext cx="410017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3F5E"/>
              </a:buClr>
              <a:buSzPts val="3000"/>
              <a:buFont typeface="Courier New"/>
              <a:buNone/>
            </a:pPr>
            <a:r>
              <a:rPr b="1" i="0" lang="en-US" sz="3000" u="none" cap="none" strike="noStrike">
                <a:solidFill>
                  <a:srgbClr val="F43F5E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0" i="0" lang="en-US" sz="3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i="0" lang="en-US" sz="3000" u="none" cap="none" strike="noStrik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W</a:t>
            </a:r>
            <a:r>
              <a:rPr b="0" i="0" lang="en-US" sz="3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0" i="0" lang="en-US" sz="300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b="0" i="0" lang="en-US" sz="3000" u="none" cap="none" strike="noStrike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b="0" i="0" lang="en-US" sz="1000" u="none" cap="none" strike="noStrike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rPr>
              <a:t>d</a:t>
            </a:r>
            <a:r>
              <a:rPr b="0" i="0" lang="en-US" sz="300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r>
              <a:rPr b="0" i="0" lang="en-US" sz="3000" u="none" cap="none" strike="noStrike">
                <a:solidFill>
                  <a:srgbClr val="FB7185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 txBox="1"/>
          <p:nvPr/>
        </p:nvSpPr>
        <p:spPr>
          <a:xfrm>
            <a:off x="4750308" y="2557577"/>
            <a:ext cx="324612" cy="5056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3F5E"/>
              </a:buClr>
              <a:buSzPts val="3000"/>
              <a:buFont typeface="Courier New"/>
              <a:buNone/>
            </a:pPr>
            <a:r>
              <a:rPr b="1" i="0" lang="en-US" sz="3000" u="none" cap="none" strike="noStrike">
                <a:solidFill>
                  <a:srgbClr val="F43F5E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 txBox="1"/>
          <p:nvPr/>
        </p:nvSpPr>
        <p:spPr>
          <a:xfrm>
            <a:off x="5226710" y="2557577"/>
            <a:ext cx="324612" cy="5056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3000"/>
              <a:buFont typeface="Courier New"/>
              <a:buNone/>
            </a:pPr>
            <a:r>
              <a:rPr b="1" i="0" lang="en-US" sz="3000" u="none" cap="none" strike="noStrik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W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 txBox="1"/>
          <p:nvPr/>
        </p:nvSpPr>
        <p:spPr>
          <a:xfrm>
            <a:off x="6017666" y="2557577"/>
            <a:ext cx="324612" cy="5056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3000"/>
              <a:buFont typeface="Courier New"/>
              <a:buNone/>
            </a:pPr>
            <a:r>
              <a:rPr b="0" i="0" lang="en-US" sz="300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 txBox="1"/>
          <p:nvPr/>
        </p:nvSpPr>
        <p:spPr>
          <a:xfrm>
            <a:off x="6332220" y="2557577"/>
            <a:ext cx="324612" cy="5056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3000"/>
              <a:buFont typeface="Courier New"/>
              <a:buNone/>
            </a:pPr>
            <a:r>
              <a:rPr b="0" i="0" lang="en-US" sz="3000" u="none" cap="none" strike="noStrike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 txBox="1"/>
          <p:nvPr/>
        </p:nvSpPr>
        <p:spPr>
          <a:xfrm>
            <a:off x="6736385" y="2557577"/>
            <a:ext cx="467258" cy="5056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3000"/>
              <a:buFont typeface="Courier New"/>
              <a:buNone/>
            </a:pPr>
            <a:r>
              <a:rPr b="0" i="0" lang="en-US" sz="300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 txBox="1"/>
          <p:nvPr/>
        </p:nvSpPr>
        <p:spPr>
          <a:xfrm>
            <a:off x="7202729" y="2557577"/>
            <a:ext cx="324612" cy="5056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7185"/>
              </a:buClr>
              <a:buSzPts val="3000"/>
              <a:buFont typeface="Courier New"/>
              <a:buNone/>
            </a:pPr>
            <a:r>
              <a:rPr b="0" i="0" lang="en-US" sz="3000" u="none" cap="none" strike="noStrike">
                <a:solidFill>
                  <a:srgbClr val="FB7185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3144622" y="3290926"/>
            <a:ext cx="114300" cy="114300"/>
          </a:xfrm>
          <a:prstGeom prst="ellipse">
            <a:avLst/>
          </a:prstGeom>
          <a:solidFill>
            <a:srgbClr val="3B82F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6"/>
          <p:cNvSpPr txBox="1"/>
          <p:nvPr/>
        </p:nvSpPr>
        <p:spPr>
          <a:xfrm>
            <a:off x="3334817" y="3252521"/>
            <a:ext cx="1762963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Input: Parameters (W)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5320894" y="3290926"/>
            <a:ext cx="114300" cy="114300"/>
          </a:xfrm>
          <a:prstGeom prst="ellipse">
            <a:avLst/>
          </a:prstGeom>
          <a:solidFill>
            <a:srgbClr val="10B981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6"/>
          <p:cNvSpPr txBox="1"/>
          <p:nvPr/>
        </p:nvSpPr>
        <p:spPr>
          <a:xfrm>
            <a:off x="5511089" y="3252521"/>
            <a:ext cx="160020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Space: d-Dimensions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7336231" y="3290926"/>
            <a:ext cx="114300" cy="114300"/>
          </a:xfrm>
          <a:prstGeom prst="ellipse">
            <a:avLst/>
          </a:prstGeom>
          <a:solidFill>
            <a:srgbClr val="F43F5E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"/>
          <p:cNvSpPr txBox="1"/>
          <p:nvPr/>
        </p:nvSpPr>
        <p:spPr>
          <a:xfrm>
            <a:off x="7526426" y="3252521"/>
            <a:ext cx="160020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Output: Scalar Loss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5" name="Google Shape;175;p6"/>
          <p:cNvPicPr preferRelativeResize="0"/>
          <p:nvPr/>
        </p:nvPicPr>
        <p:blipFill rotWithShape="1">
          <a:blip r:embed="rId10">
            <a:alphaModFix/>
          </a:blip>
          <a:srcRect b="0" l="-133" r="-133" t="0"/>
          <a:stretch/>
        </p:blipFill>
        <p:spPr>
          <a:xfrm>
            <a:off x="6010351" y="3829507"/>
            <a:ext cx="171907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3" name="Google Shape;183;p7"/>
          <p:cNvPicPr preferRelativeResize="0"/>
          <p:nvPr/>
        </p:nvPicPr>
        <p:blipFill rotWithShape="1">
          <a:blip r:embed="rId3">
            <a:alphaModFix amt="50000"/>
          </a:blip>
          <a:srcRect b="-1" l="0" r="0" t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4" name="Google Shape;18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81305"/>
            <a:ext cx="1037844" cy="247802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7"/>
          <p:cNvSpPr/>
          <p:nvPr/>
        </p:nvSpPr>
        <p:spPr>
          <a:xfrm>
            <a:off x="571500" y="381305"/>
            <a:ext cx="1038758" cy="247802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12700">
            <a:solidFill>
              <a:srgbClr val="3B82F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900"/>
              <a:buFont typeface="Noto Sans KR"/>
              <a:buNone/>
            </a:pPr>
            <a:r>
              <a:rPr b="1" i="0" lang="en-US" sz="900" u="none" cap="none" strike="noStrike">
                <a:solidFill>
                  <a:srgbClr val="93C5FD"/>
                </a:solidFill>
                <a:latin typeface="Noto Sans KR"/>
                <a:ea typeface="Noto Sans KR"/>
                <a:cs typeface="Noto Sans KR"/>
                <a:sym typeface="Noto Sans KR"/>
              </a:rPr>
              <a:t>Regression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 txBox="1"/>
          <p:nvPr/>
        </p:nvSpPr>
        <p:spPr>
          <a:xfrm>
            <a:off x="1719986" y="409651"/>
            <a:ext cx="1550822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Mean Squared Error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 txBox="1"/>
          <p:nvPr/>
        </p:nvSpPr>
        <p:spPr>
          <a:xfrm>
            <a:off x="571500" y="705002"/>
            <a:ext cx="3948379" cy="381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Noto Sans KR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회귀 모델의 손실: MSE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 txBox="1"/>
          <p:nvPr/>
        </p:nvSpPr>
        <p:spPr>
          <a:xfrm>
            <a:off x="9623146" y="457200"/>
            <a:ext cx="2001622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Quadratic Loss Landscape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 txBox="1"/>
          <p:nvPr/>
        </p:nvSpPr>
        <p:spPr>
          <a:xfrm>
            <a:off x="571500" y="1162202"/>
            <a:ext cx="8610905" cy="5623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Noto Sans KR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MSE(평균제곱오차)</a:t>
            </a:r>
            <a:r>
              <a:rPr b="0" i="0" lang="en-US" sz="13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는 예측값과 실제값의 차이를 </a:t>
            </a:r>
            <a:r>
              <a:rPr b="1" i="0" lang="en-US" sz="1300" u="none" cap="none" strike="noStrike">
                <a:solidFill>
                  <a:srgbClr val="FBBF24"/>
                </a:solidFill>
                <a:latin typeface="Noto Sans KR"/>
                <a:ea typeface="Noto Sans KR"/>
                <a:cs typeface="Noto Sans KR"/>
                <a:sym typeface="Noto Sans KR"/>
              </a:rPr>
              <a:t>제곱</a:t>
            </a:r>
            <a:r>
              <a:rPr b="0" i="0" lang="en-US" sz="13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하여 평균을 냅니다. 이는 큰 오차에 대해 더 가혹한 벌점(Penalty)을 부과하는 효과가 있습니다.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571500" y="4214470"/>
            <a:ext cx="3534156" cy="2553005"/>
          </a:xfrm>
          <a:prstGeom prst="roundRect">
            <a:avLst>
              <a:gd fmla="val 1604" name="adj"/>
            </a:avLst>
          </a:prstGeom>
          <a:solidFill>
            <a:srgbClr val="0F172A">
              <a:alpha val="80000"/>
            </a:srgbClr>
          </a:solidFill>
          <a:ln cap="flat" cmpd="sng" w="12700">
            <a:solidFill>
              <a:srgbClr val="94A3B8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7"/>
          <p:cNvSpPr/>
          <p:nvPr/>
        </p:nvSpPr>
        <p:spPr>
          <a:xfrm>
            <a:off x="809244" y="4453128"/>
            <a:ext cx="457200" cy="457200"/>
          </a:xfrm>
          <a:prstGeom prst="roundRect">
            <a:avLst>
              <a:gd fmla="val 41667" name="adj"/>
            </a:avLst>
          </a:prstGeom>
          <a:solidFill>
            <a:srgbClr val="F59E0B">
              <a:alpha val="20000"/>
            </a:srgbClr>
          </a:solidFill>
          <a:ln cap="flat" cmpd="sng" w="12700">
            <a:solidFill>
              <a:srgbClr val="F59E0B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2" name="Google Shape;192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23544" y="4567428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7"/>
          <p:cNvSpPr txBox="1"/>
          <p:nvPr/>
        </p:nvSpPr>
        <p:spPr>
          <a:xfrm>
            <a:off x="809244" y="5062118"/>
            <a:ext cx="3172054" cy="2670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Noto Sans KR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제곱의 페널티 (Penalty)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 txBox="1"/>
          <p:nvPr/>
        </p:nvSpPr>
        <p:spPr>
          <a:xfrm>
            <a:off x="809244" y="5405018"/>
            <a:ext cx="3134563" cy="6574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오차가 2배가 되면 손실은 4배가 됩니다. 모델이 '큰 실수'를 하지 않도록 강하게 압박하며, 작은 오차는 상대적으로 관대하게 다룹니다.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809244" y="6207862"/>
            <a:ext cx="3057754" cy="9144"/>
          </a:xfrm>
          <a:prstGeom prst="rect">
            <a:avLst/>
          </a:prstGeom>
          <a:solidFill>
            <a:srgbClr val="334155">
              <a:alpha val="50196"/>
            </a:srgbClr>
          </a:solidFill>
          <a:ln cap="flat" cmpd="sng" w="12700">
            <a:solidFill>
              <a:srgbClr val="33415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7"/>
          <p:cNvSpPr txBox="1"/>
          <p:nvPr/>
        </p:nvSpPr>
        <p:spPr>
          <a:xfrm>
            <a:off x="809244" y="6369710"/>
            <a:ext cx="3172054" cy="152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CD34D"/>
                </a:solidFill>
                <a:latin typeface="Arial"/>
                <a:ea typeface="Arial"/>
                <a:cs typeface="Arial"/>
                <a:sym typeface="Arial"/>
              </a:rPr>
              <a:t>Error ↑ → Loss ↑↑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4330598" y="4214470"/>
            <a:ext cx="3534156" cy="2553005"/>
          </a:xfrm>
          <a:prstGeom prst="roundRect">
            <a:avLst>
              <a:gd fmla="val 1604" name="adj"/>
            </a:avLst>
          </a:prstGeom>
          <a:solidFill>
            <a:srgbClr val="0F172A">
              <a:alpha val="80000"/>
            </a:srgbClr>
          </a:solidFill>
          <a:ln cap="flat" cmpd="sng" w="12700">
            <a:solidFill>
              <a:srgbClr val="94A3B8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7"/>
          <p:cNvSpPr/>
          <p:nvPr/>
        </p:nvSpPr>
        <p:spPr>
          <a:xfrm>
            <a:off x="4568342" y="4453128"/>
            <a:ext cx="457200" cy="457200"/>
          </a:xfrm>
          <a:prstGeom prst="roundRect">
            <a:avLst>
              <a:gd fmla="val 41667" name="adj"/>
            </a:avLst>
          </a:prstGeom>
          <a:solidFill>
            <a:srgbClr val="10B981">
              <a:alpha val="20000"/>
            </a:srgbClr>
          </a:solidFill>
          <a:ln cap="flat" cmpd="sng" w="12700">
            <a:solidFill>
              <a:srgbClr val="10B981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9" name="Google Shape;199;p7"/>
          <p:cNvPicPr preferRelativeResize="0"/>
          <p:nvPr/>
        </p:nvPicPr>
        <p:blipFill rotWithShape="1">
          <a:blip r:embed="rId6">
            <a:alphaModFix/>
          </a:blip>
          <a:srcRect b="0" l="-80" r="-80" t="0"/>
          <a:stretch/>
        </p:blipFill>
        <p:spPr>
          <a:xfrm>
            <a:off x="4654296" y="4567428"/>
            <a:ext cx="286207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7"/>
          <p:cNvSpPr txBox="1"/>
          <p:nvPr/>
        </p:nvSpPr>
        <p:spPr>
          <a:xfrm>
            <a:off x="4568342" y="5062118"/>
            <a:ext cx="3248863" cy="2670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Noto Sans KR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부드러운 최적화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 txBox="1"/>
          <p:nvPr/>
        </p:nvSpPr>
        <p:spPr>
          <a:xfrm>
            <a:off x="4568342" y="5405018"/>
            <a:ext cx="3134563" cy="6574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미분 가능한 곡선 형태를 가집니다. 정답에 가까워질수록 기울기가 자연스럽게 줄어들어(0에 수렴), 안정적으로 최저점에 착륙합니다.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4568342" y="6207862"/>
            <a:ext cx="3057754" cy="9144"/>
          </a:xfrm>
          <a:prstGeom prst="rect">
            <a:avLst/>
          </a:prstGeom>
          <a:solidFill>
            <a:srgbClr val="334155">
              <a:alpha val="50196"/>
            </a:srgbClr>
          </a:solidFill>
          <a:ln cap="flat" cmpd="sng" w="12700">
            <a:solidFill>
              <a:srgbClr val="33415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7"/>
          <p:cNvSpPr txBox="1"/>
          <p:nvPr/>
        </p:nvSpPr>
        <p:spPr>
          <a:xfrm>
            <a:off x="4568342" y="6369710"/>
            <a:ext cx="3172054" cy="152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E7B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EE7B7"/>
                </a:solidFill>
                <a:latin typeface="Arial"/>
                <a:ea typeface="Arial"/>
                <a:cs typeface="Arial"/>
                <a:sym typeface="Arial"/>
              </a:rPr>
              <a:t>Differentiable Everywhere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8089697" y="4214470"/>
            <a:ext cx="3534156" cy="2553005"/>
          </a:xfrm>
          <a:prstGeom prst="roundRect">
            <a:avLst>
              <a:gd fmla="val 1604" name="adj"/>
            </a:avLst>
          </a:prstGeom>
          <a:solidFill>
            <a:srgbClr val="0F172A">
              <a:alpha val="80000"/>
            </a:srgbClr>
          </a:solidFill>
          <a:ln cap="flat" cmpd="sng" w="12700">
            <a:solidFill>
              <a:srgbClr val="94A3B8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7"/>
          <p:cNvSpPr/>
          <p:nvPr/>
        </p:nvSpPr>
        <p:spPr>
          <a:xfrm>
            <a:off x="8328355" y="4453128"/>
            <a:ext cx="457200" cy="457200"/>
          </a:xfrm>
          <a:prstGeom prst="roundRect">
            <a:avLst>
              <a:gd fmla="val 41667" name="adj"/>
            </a:avLst>
          </a:prstGeom>
          <a:solidFill>
            <a:srgbClr val="F43F5E">
              <a:alpha val="20000"/>
            </a:srgbClr>
          </a:solidFill>
          <a:ln cap="flat" cmpd="sng" w="12700">
            <a:solidFill>
              <a:srgbClr val="F43F5E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6" name="Google Shape;206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42655" y="4567428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7"/>
          <p:cNvSpPr txBox="1"/>
          <p:nvPr/>
        </p:nvSpPr>
        <p:spPr>
          <a:xfrm>
            <a:off x="8328355" y="5062118"/>
            <a:ext cx="3172054" cy="2670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Noto Sans KR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이상치(Outlier) 민감성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 txBox="1"/>
          <p:nvPr/>
        </p:nvSpPr>
        <p:spPr>
          <a:xfrm>
            <a:off x="8328355" y="5405018"/>
            <a:ext cx="3134563" cy="6574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데이터에 튀는 값(이상치)이 있으면, 그 오차를 줄이려다 전체 모델이 왜곡될 수 있습니다. 제곱의 특성이 양날의 검이 되는 순간입니다.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8328355" y="6207862"/>
            <a:ext cx="3057754" cy="9144"/>
          </a:xfrm>
          <a:prstGeom prst="rect">
            <a:avLst/>
          </a:prstGeom>
          <a:solidFill>
            <a:srgbClr val="334155">
              <a:alpha val="50196"/>
            </a:srgbClr>
          </a:solidFill>
          <a:ln cap="flat" cmpd="sng" w="12700">
            <a:solidFill>
              <a:srgbClr val="33415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7"/>
          <p:cNvSpPr txBox="1"/>
          <p:nvPr/>
        </p:nvSpPr>
        <p:spPr>
          <a:xfrm>
            <a:off x="8328355" y="6369710"/>
            <a:ext cx="3172054" cy="152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A4A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DA4AF"/>
                </a:solidFill>
                <a:latin typeface="Arial"/>
                <a:ea typeface="Arial"/>
                <a:cs typeface="Arial"/>
                <a:sym typeface="Arial"/>
              </a:rPr>
              <a:t>Sensitive to Noise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571500" y="6988759"/>
            <a:ext cx="11048695" cy="9144"/>
          </a:xfrm>
          <a:prstGeom prst="rect">
            <a:avLst/>
          </a:prstGeom>
          <a:solidFill>
            <a:srgbClr val="1E293B">
              <a:alpha val="50196"/>
            </a:srgbClr>
          </a:solidFill>
          <a:ln cap="flat" cmpd="sng" w="12700">
            <a:solidFill>
              <a:srgbClr val="1E293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7"/>
          <p:cNvSpPr txBox="1"/>
          <p:nvPr/>
        </p:nvSpPr>
        <p:spPr>
          <a:xfrm>
            <a:off x="571500" y="7150608"/>
            <a:ext cx="2219249" cy="152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Slide 05: Regression Loss - MSE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7"/>
          <p:cNvSpPr txBox="1"/>
          <p:nvPr/>
        </p:nvSpPr>
        <p:spPr>
          <a:xfrm>
            <a:off x="8882482" y="7150608"/>
            <a:ext cx="3215945" cy="152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주가 예측, 온도 예측 같은 수치형 문제에 주로 사용됩니다. 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4" name="Google Shape;214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697773" y="7174382"/>
            <a:ext cx="1143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5" name="Google Shape;215;p7"/>
          <p:cNvPicPr preferRelativeResize="0"/>
          <p:nvPr/>
        </p:nvPicPr>
        <p:blipFill rotWithShape="1">
          <a:blip r:embed="rId9">
            <a:alphaModFix/>
          </a:blip>
          <a:srcRect b="-13" l="0" r="0" t="-14"/>
          <a:stretch/>
        </p:blipFill>
        <p:spPr>
          <a:xfrm>
            <a:off x="571500" y="2042770"/>
            <a:ext cx="11048695" cy="1886407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7"/>
          <p:cNvSpPr txBox="1"/>
          <p:nvPr/>
        </p:nvSpPr>
        <p:spPr>
          <a:xfrm>
            <a:off x="3766414" y="2529230"/>
            <a:ext cx="8001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3F5E"/>
              </a:buClr>
              <a:buSzPts val="3000"/>
              <a:buFont typeface="Courier New"/>
              <a:buNone/>
            </a:pPr>
            <a:r>
              <a:rPr b="1" i="0" lang="en-US" sz="3000" u="none" cap="none" strike="noStrike">
                <a:solidFill>
                  <a:srgbClr val="F43F5E"/>
                </a:solidFill>
                <a:latin typeface="Courier New"/>
                <a:ea typeface="Courier New"/>
                <a:cs typeface="Courier New"/>
                <a:sym typeface="Courier New"/>
              </a:rPr>
              <a:t>MSE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7"/>
          <p:cNvSpPr txBox="1"/>
          <p:nvPr/>
        </p:nvSpPr>
        <p:spPr>
          <a:xfrm>
            <a:off x="4661611" y="2529230"/>
            <a:ext cx="324612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3000"/>
              <a:buFont typeface="Courier New"/>
              <a:buNone/>
            </a:pPr>
            <a:r>
              <a:rPr b="0" i="0" lang="en-US" sz="300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5176418" y="2814523"/>
            <a:ext cx="200254" cy="19202"/>
          </a:xfrm>
          <a:prstGeom prst="rect">
            <a:avLst/>
          </a:prstGeom>
          <a:solidFill>
            <a:srgbClr val="CBD5E1"/>
          </a:solidFill>
          <a:ln cap="flat" cmpd="sng" w="12700">
            <a:solidFill>
              <a:srgbClr val="CBD5E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7"/>
          <p:cNvSpPr txBox="1"/>
          <p:nvPr/>
        </p:nvSpPr>
        <p:spPr>
          <a:xfrm>
            <a:off x="5138014" y="2338121"/>
            <a:ext cx="277063" cy="457200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7"/>
          <p:cNvSpPr txBox="1"/>
          <p:nvPr/>
        </p:nvSpPr>
        <p:spPr>
          <a:xfrm>
            <a:off x="5176418" y="2833726"/>
            <a:ext cx="277063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7"/>
          <p:cNvSpPr txBox="1"/>
          <p:nvPr/>
        </p:nvSpPr>
        <p:spPr>
          <a:xfrm>
            <a:off x="5607101" y="2385670"/>
            <a:ext cx="495605" cy="8577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4500"/>
              <a:buFont typeface="Courier New"/>
              <a:buNone/>
            </a:pPr>
            <a:r>
              <a:rPr b="0" i="0" lang="en-US" sz="45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∑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7"/>
          <p:cNvSpPr txBox="1"/>
          <p:nvPr/>
        </p:nvSpPr>
        <p:spPr>
          <a:xfrm>
            <a:off x="6261811" y="2529230"/>
            <a:ext cx="324612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3000"/>
              <a:buFont typeface="Courier New"/>
              <a:buNone/>
            </a:pPr>
            <a:r>
              <a:rPr b="0" i="0" lang="en-US" sz="30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7"/>
          <p:cNvSpPr txBox="1"/>
          <p:nvPr/>
        </p:nvSpPr>
        <p:spPr>
          <a:xfrm>
            <a:off x="6643116" y="2529230"/>
            <a:ext cx="324612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3000"/>
              <a:buFont typeface="Courier New"/>
              <a:buNone/>
            </a:pPr>
            <a:r>
              <a:rPr b="1" i="0" lang="en-US" sz="3000" u="none" cap="none" strike="noStrik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7"/>
          <p:cNvSpPr txBox="1"/>
          <p:nvPr/>
        </p:nvSpPr>
        <p:spPr>
          <a:xfrm>
            <a:off x="7062826" y="2529230"/>
            <a:ext cx="324612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3000"/>
              <a:buFont typeface="Courier New"/>
              <a:buNone/>
            </a:pPr>
            <a:r>
              <a:rPr b="0" i="0" lang="en-US" sz="300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-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7"/>
          <p:cNvSpPr txBox="1"/>
          <p:nvPr/>
        </p:nvSpPr>
        <p:spPr>
          <a:xfrm>
            <a:off x="7481621" y="2529230"/>
            <a:ext cx="324612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3000"/>
              <a:buFont typeface="Courier New"/>
              <a:buNone/>
            </a:pPr>
            <a:r>
              <a:rPr b="0" i="0" lang="en-US" sz="3000" u="none" cap="none" strike="noStrike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rPr>
              <a:t>ŷ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7"/>
          <p:cNvSpPr txBox="1"/>
          <p:nvPr/>
        </p:nvSpPr>
        <p:spPr>
          <a:xfrm>
            <a:off x="7862926" y="2529230"/>
            <a:ext cx="324612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3000"/>
              <a:buFont typeface="Courier New"/>
              <a:buNone/>
            </a:pPr>
            <a:r>
              <a:rPr b="0" i="0" lang="en-US" sz="30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7"/>
          <p:cNvSpPr txBox="1"/>
          <p:nvPr/>
        </p:nvSpPr>
        <p:spPr>
          <a:xfrm>
            <a:off x="8244230" y="2481682"/>
            <a:ext cx="247802" cy="3721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4005986" y="3481121"/>
            <a:ext cx="114300" cy="114300"/>
          </a:xfrm>
          <a:prstGeom prst="ellipse">
            <a:avLst/>
          </a:prstGeom>
          <a:solidFill>
            <a:srgbClr val="3B82F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7"/>
          <p:cNvSpPr txBox="1"/>
          <p:nvPr/>
        </p:nvSpPr>
        <p:spPr>
          <a:xfrm>
            <a:off x="4196182" y="3443630"/>
            <a:ext cx="933602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y: 실제 정답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5507431" y="3481121"/>
            <a:ext cx="114300" cy="114300"/>
          </a:xfrm>
          <a:prstGeom prst="ellipse">
            <a:avLst/>
          </a:prstGeom>
          <a:solidFill>
            <a:srgbClr val="10B981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7"/>
          <p:cNvSpPr txBox="1"/>
          <p:nvPr/>
        </p:nvSpPr>
        <p:spPr>
          <a:xfrm>
            <a:off x="5697626" y="3443630"/>
            <a:ext cx="1069848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ŷ: 모델 예측값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7"/>
          <p:cNvSpPr/>
          <p:nvPr/>
        </p:nvSpPr>
        <p:spPr>
          <a:xfrm>
            <a:off x="7141464" y="3481121"/>
            <a:ext cx="114300" cy="114300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7"/>
          <p:cNvSpPr txBox="1"/>
          <p:nvPr/>
        </p:nvSpPr>
        <p:spPr>
          <a:xfrm>
            <a:off x="7332574" y="3443630"/>
            <a:ext cx="933602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²: 오차 제곱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8"/>
          <p:cNvSpPr/>
          <p:nvPr/>
        </p:nvSpPr>
        <p:spPr>
          <a:xfrm>
            <a:off x="476402" y="1258214"/>
            <a:ext cx="11239805" cy="9144"/>
          </a:xfrm>
          <a:prstGeom prst="rect">
            <a:avLst/>
          </a:prstGeom>
          <a:solidFill>
            <a:srgbClr val="334155">
              <a:alpha val="50196"/>
            </a:srgbClr>
          </a:solidFill>
          <a:ln cap="flat" cmpd="sng" w="12700">
            <a:solidFill>
              <a:srgbClr val="33415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2" name="Google Shape;24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402" y="286207"/>
            <a:ext cx="1000354" cy="247802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8"/>
          <p:cNvSpPr/>
          <p:nvPr/>
        </p:nvSpPr>
        <p:spPr>
          <a:xfrm>
            <a:off x="476402" y="286207"/>
            <a:ext cx="1000354" cy="247802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12700">
            <a:solidFill>
              <a:srgbClr val="3B82F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900"/>
              <a:buFont typeface="Noto Sans KR"/>
              <a:buNone/>
            </a:pPr>
            <a:r>
              <a:rPr b="1" i="0" lang="en-US" sz="900" u="none" cap="none" strike="noStrike">
                <a:solidFill>
                  <a:srgbClr val="93C5FD"/>
                </a:solidFill>
                <a:latin typeface="Noto Sans KR"/>
                <a:ea typeface="Noto Sans KR"/>
                <a:cs typeface="Noto Sans KR"/>
                <a:sym typeface="Noto Sans KR"/>
              </a:rPr>
              <a:t>Mechanism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8"/>
          <p:cNvSpPr txBox="1"/>
          <p:nvPr/>
        </p:nvSpPr>
        <p:spPr>
          <a:xfrm>
            <a:off x="1584655" y="314554"/>
            <a:ext cx="2176272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Classification Output Layer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8"/>
          <p:cNvSpPr txBox="1"/>
          <p:nvPr/>
        </p:nvSpPr>
        <p:spPr>
          <a:xfrm>
            <a:off x="476402" y="571500"/>
            <a:ext cx="11354105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Noto Sans KR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분류 모델의 출력: Softmax로 확률 만들기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8"/>
          <p:cNvSpPr txBox="1"/>
          <p:nvPr/>
        </p:nvSpPr>
        <p:spPr>
          <a:xfrm>
            <a:off x="476402" y="952805"/>
            <a:ext cx="1135410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Noto Sans KR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신경망의 마지막 값(Logits)을 확률 분포(Probability Distribution)로 변환하여 해석 가능하게 만듭니다.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7" name="Google Shape;247;p8"/>
          <p:cNvPicPr preferRelativeResize="0"/>
          <p:nvPr/>
        </p:nvPicPr>
        <p:blipFill rotWithShape="1">
          <a:blip r:embed="rId4">
            <a:alphaModFix/>
          </a:blip>
          <a:srcRect b="0" l="-4" r="-4" t="0"/>
          <a:stretch/>
        </p:blipFill>
        <p:spPr>
          <a:xfrm>
            <a:off x="476402" y="1828800"/>
            <a:ext cx="3147365" cy="3333902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8"/>
          <p:cNvSpPr/>
          <p:nvPr/>
        </p:nvSpPr>
        <p:spPr>
          <a:xfrm>
            <a:off x="676656" y="2591410"/>
            <a:ext cx="2752344" cy="9144"/>
          </a:xfrm>
          <a:prstGeom prst="rect">
            <a:avLst/>
          </a:prstGeom>
          <a:solidFill>
            <a:srgbClr val="94A3B8">
              <a:alpha val="10196"/>
            </a:srgbClr>
          </a:solidFill>
          <a:ln cap="flat" cmpd="sng" w="12700">
            <a:solidFill>
              <a:srgbClr val="94A3B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8"/>
          <p:cNvSpPr txBox="1"/>
          <p:nvPr/>
        </p:nvSpPr>
        <p:spPr>
          <a:xfrm>
            <a:off x="620878" y="2029054"/>
            <a:ext cx="2862986" cy="2670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Noto Sans KR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1. Raw Logits (z)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8"/>
          <p:cNvSpPr txBox="1"/>
          <p:nvPr/>
        </p:nvSpPr>
        <p:spPr>
          <a:xfrm>
            <a:off x="620878" y="2310689"/>
            <a:ext cx="2862986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Unbounded Scores (-∞ to +∞)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8"/>
          <p:cNvSpPr txBox="1"/>
          <p:nvPr/>
        </p:nvSpPr>
        <p:spPr>
          <a:xfrm>
            <a:off x="676656" y="2758745"/>
            <a:ext cx="419710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Dog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8"/>
          <p:cNvSpPr/>
          <p:nvPr/>
        </p:nvSpPr>
        <p:spPr>
          <a:xfrm>
            <a:off x="1095451" y="2713025"/>
            <a:ext cx="1828800" cy="286207"/>
          </a:xfrm>
          <a:prstGeom prst="roundRect">
            <a:avLst>
              <a:gd fmla="val 42599" name="adj"/>
            </a:avLst>
          </a:prstGeom>
          <a:solidFill>
            <a:srgbClr val="0F172A">
              <a:alpha val="50196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8"/>
          <p:cNvSpPr/>
          <p:nvPr/>
        </p:nvSpPr>
        <p:spPr>
          <a:xfrm>
            <a:off x="1095451" y="2741371"/>
            <a:ext cx="1276502" cy="228600"/>
          </a:xfrm>
          <a:prstGeom prst="roundRect">
            <a:avLst>
              <a:gd fmla="val 50000" name="adj"/>
            </a:avLst>
          </a:prstGeom>
          <a:solidFill>
            <a:srgbClr val="64748B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4" name="Google Shape;254;p8"/>
          <p:cNvPicPr preferRelativeResize="0"/>
          <p:nvPr/>
        </p:nvPicPr>
        <p:blipFill rotWithShape="1">
          <a:blip r:embed="rId5">
            <a:alphaModFix amt="30000"/>
          </a:blip>
          <a:srcRect b="0" l="-320" r="-320" t="0"/>
          <a:stretch/>
        </p:blipFill>
        <p:spPr>
          <a:xfrm>
            <a:off x="2007108" y="2713025"/>
            <a:ext cx="19202" cy="286207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8"/>
          <p:cNvSpPr txBox="1"/>
          <p:nvPr/>
        </p:nvSpPr>
        <p:spPr>
          <a:xfrm>
            <a:off x="2918765" y="2758745"/>
            <a:ext cx="505663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2.0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8"/>
          <p:cNvSpPr txBox="1"/>
          <p:nvPr/>
        </p:nvSpPr>
        <p:spPr>
          <a:xfrm>
            <a:off x="676656" y="3158338"/>
            <a:ext cx="419710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Cat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8"/>
          <p:cNvSpPr/>
          <p:nvPr/>
        </p:nvSpPr>
        <p:spPr>
          <a:xfrm>
            <a:off x="1095451" y="3112618"/>
            <a:ext cx="1828800" cy="286207"/>
          </a:xfrm>
          <a:prstGeom prst="roundRect">
            <a:avLst>
              <a:gd fmla="val 42599" name="adj"/>
            </a:avLst>
          </a:prstGeom>
          <a:solidFill>
            <a:srgbClr val="0F172A">
              <a:alpha val="50196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8"/>
          <p:cNvSpPr/>
          <p:nvPr/>
        </p:nvSpPr>
        <p:spPr>
          <a:xfrm>
            <a:off x="1095451" y="3141878"/>
            <a:ext cx="733349" cy="228600"/>
          </a:xfrm>
          <a:prstGeom prst="roundRect">
            <a:avLst>
              <a:gd fmla="val 50000" name="adj"/>
            </a:avLst>
          </a:prstGeom>
          <a:solidFill>
            <a:srgbClr val="64748B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9" name="Google Shape;259;p8"/>
          <p:cNvPicPr preferRelativeResize="0"/>
          <p:nvPr/>
        </p:nvPicPr>
        <p:blipFill rotWithShape="1">
          <a:blip r:embed="rId5">
            <a:alphaModFix amt="30000"/>
          </a:blip>
          <a:srcRect b="0" l="-320" r="-320" t="0"/>
          <a:stretch/>
        </p:blipFill>
        <p:spPr>
          <a:xfrm>
            <a:off x="2007108" y="3112618"/>
            <a:ext cx="19202" cy="286207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8"/>
          <p:cNvSpPr txBox="1"/>
          <p:nvPr/>
        </p:nvSpPr>
        <p:spPr>
          <a:xfrm>
            <a:off x="2918765" y="3158338"/>
            <a:ext cx="505663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1.0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8"/>
          <p:cNvSpPr txBox="1"/>
          <p:nvPr/>
        </p:nvSpPr>
        <p:spPr>
          <a:xfrm>
            <a:off x="676656" y="3558845"/>
            <a:ext cx="419710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Bird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8"/>
          <p:cNvSpPr/>
          <p:nvPr/>
        </p:nvSpPr>
        <p:spPr>
          <a:xfrm>
            <a:off x="1095451" y="3513125"/>
            <a:ext cx="1828800" cy="286207"/>
          </a:xfrm>
          <a:prstGeom prst="roundRect">
            <a:avLst>
              <a:gd fmla="val 42599" name="adj"/>
            </a:avLst>
          </a:prstGeom>
          <a:solidFill>
            <a:srgbClr val="0F172A">
              <a:alpha val="50196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8"/>
          <p:cNvSpPr/>
          <p:nvPr/>
        </p:nvSpPr>
        <p:spPr>
          <a:xfrm>
            <a:off x="1095451" y="3541471"/>
            <a:ext cx="457200" cy="228600"/>
          </a:xfrm>
          <a:prstGeom prst="roundRect">
            <a:avLst>
              <a:gd fmla="val 50000" name="adj"/>
            </a:avLst>
          </a:prstGeom>
          <a:solidFill>
            <a:srgbClr val="64748B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4" name="Google Shape;264;p8"/>
          <p:cNvPicPr preferRelativeResize="0"/>
          <p:nvPr/>
        </p:nvPicPr>
        <p:blipFill rotWithShape="1">
          <a:blip r:embed="rId5">
            <a:alphaModFix amt="30000"/>
          </a:blip>
          <a:srcRect b="0" l="-320" r="-320" t="0"/>
          <a:stretch/>
        </p:blipFill>
        <p:spPr>
          <a:xfrm>
            <a:off x="2007108" y="3513125"/>
            <a:ext cx="19202" cy="286207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8"/>
          <p:cNvSpPr txBox="1"/>
          <p:nvPr/>
        </p:nvSpPr>
        <p:spPr>
          <a:xfrm>
            <a:off x="2918765" y="3558845"/>
            <a:ext cx="505663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0.1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8"/>
          <p:cNvSpPr/>
          <p:nvPr/>
        </p:nvSpPr>
        <p:spPr>
          <a:xfrm>
            <a:off x="676656" y="4044391"/>
            <a:ext cx="2752344" cy="923544"/>
          </a:xfrm>
          <a:prstGeom prst="roundRect">
            <a:avLst>
              <a:gd fmla="val 8166" name="adj"/>
            </a:avLst>
          </a:prstGeom>
          <a:solidFill>
            <a:srgbClr val="3B82F6">
              <a:alpha val="10196"/>
            </a:srgbClr>
          </a:solidFill>
          <a:ln cap="flat" cmpd="sng" w="12700">
            <a:solidFill>
              <a:srgbClr val="3B82F6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8"/>
          <p:cNvSpPr txBox="1"/>
          <p:nvPr/>
        </p:nvSpPr>
        <p:spPr>
          <a:xfrm>
            <a:off x="780898" y="4149547"/>
            <a:ext cx="2645359" cy="152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Noto Sans KR"/>
              <a:buNone/>
            </a:pPr>
            <a:r>
              <a:rPr b="1" i="0" lang="en-US" sz="9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Characteristics: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8"/>
          <p:cNvSpPr txBox="1"/>
          <p:nvPr/>
        </p:nvSpPr>
        <p:spPr>
          <a:xfrm>
            <a:off x="780898" y="4339742"/>
            <a:ext cx="2734056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Noto Sans KR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값의 범위 제한 없음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8"/>
          <p:cNvSpPr txBox="1"/>
          <p:nvPr/>
        </p:nvSpPr>
        <p:spPr>
          <a:xfrm>
            <a:off x="780898" y="4518965"/>
            <a:ext cx="2734056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Noto Sans KR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음수 값 가능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8"/>
          <p:cNvSpPr txBox="1"/>
          <p:nvPr/>
        </p:nvSpPr>
        <p:spPr>
          <a:xfrm>
            <a:off x="780898" y="4698187"/>
            <a:ext cx="2734056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Noto Sans KR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합계가 의미 없음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8"/>
          <p:cNvSpPr/>
          <p:nvPr/>
        </p:nvSpPr>
        <p:spPr>
          <a:xfrm>
            <a:off x="3766414" y="3486607"/>
            <a:ext cx="619049" cy="19202"/>
          </a:xfrm>
          <a:prstGeom prst="rect">
            <a:avLst/>
          </a:prstGeom>
          <a:solidFill>
            <a:srgbClr val="475569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2" name="Google Shape;272;p8"/>
          <p:cNvPicPr preferRelativeResize="0"/>
          <p:nvPr/>
        </p:nvPicPr>
        <p:blipFill rotWithShape="1">
          <a:blip r:embed="rId6">
            <a:alphaModFix/>
          </a:blip>
          <a:srcRect b="0" l="-4" r="-4" t="0"/>
          <a:stretch/>
        </p:blipFill>
        <p:spPr>
          <a:xfrm>
            <a:off x="4522622" y="1828800"/>
            <a:ext cx="3147365" cy="3333902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8"/>
          <p:cNvSpPr/>
          <p:nvPr/>
        </p:nvSpPr>
        <p:spPr>
          <a:xfrm>
            <a:off x="4722876" y="2591410"/>
            <a:ext cx="2752344" cy="9144"/>
          </a:xfrm>
          <a:prstGeom prst="rect">
            <a:avLst/>
          </a:prstGeom>
          <a:solidFill>
            <a:srgbClr val="94A3B8">
              <a:alpha val="10196"/>
            </a:srgbClr>
          </a:solidFill>
          <a:ln cap="flat" cmpd="sng" w="12700">
            <a:solidFill>
              <a:srgbClr val="94A3B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8"/>
          <p:cNvSpPr txBox="1"/>
          <p:nvPr/>
        </p:nvSpPr>
        <p:spPr>
          <a:xfrm>
            <a:off x="4667098" y="2029054"/>
            <a:ext cx="2862986" cy="2670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Noto Sans KR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2. Exponentials (exp)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8"/>
          <p:cNvSpPr txBox="1"/>
          <p:nvPr/>
        </p:nvSpPr>
        <p:spPr>
          <a:xfrm>
            <a:off x="4667098" y="2310689"/>
            <a:ext cx="2862986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B4FE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D8B4FE"/>
                </a:solidFill>
                <a:latin typeface="Courier New"/>
                <a:ea typeface="Courier New"/>
                <a:cs typeface="Courier New"/>
                <a:sym typeface="Courier New"/>
              </a:rPr>
              <a:t>Non-negative Scores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8"/>
          <p:cNvSpPr txBox="1"/>
          <p:nvPr/>
        </p:nvSpPr>
        <p:spPr>
          <a:xfrm>
            <a:off x="4722876" y="2758745"/>
            <a:ext cx="419710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Dog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8"/>
          <p:cNvSpPr/>
          <p:nvPr/>
        </p:nvSpPr>
        <p:spPr>
          <a:xfrm>
            <a:off x="5141671" y="2713025"/>
            <a:ext cx="1828800" cy="286207"/>
          </a:xfrm>
          <a:prstGeom prst="roundRect">
            <a:avLst>
              <a:gd fmla="val 42599" name="adj"/>
            </a:avLst>
          </a:prstGeom>
          <a:solidFill>
            <a:srgbClr val="0F172A">
              <a:alpha val="50196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8"/>
          <p:cNvSpPr/>
          <p:nvPr/>
        </p:nvSpPr>
        <p:spPr>
          <a:xfrm>
            <a:off x="5141671" y="2741371"/>
            <a:ext cx="1647749" cy="228600"/>
          </a:xfrm>
          <a:prstGeom prst="roundRect">
            <a:avLst>
              <a:gd fmla="val 50000" name="adj"/>
            </a:avLst>
          </a:prstGeom>
          <a:solidFill>
            <a:srgbClr val="A855F7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8"/>
          <p:cNvSpPr txBox="1"/>
          <p:nvPr/>
        </p:nvSpPr>
        <p:spPr>
          <a:xfrm>
            <a:off x="6964985" y="2758745"/>
            <a:ext cx="505663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8B4FE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D8B4FE"/>
                </a:solidFill>
                <a:latin typeface="Courier New"/>
                <a:ea typeface="Courier New"/>
                <a:cs typeface="Courier New"/>
                <a:sym typeface="Courier New"/>
              </a:rPr>
              <a:t>7.39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8"/>
          <p:cNvSpPr txBox="1"/>
          <p:nvPr/>
        </p:nvSpPr>
        <p:spPr>
          <a:xfrm>
            <a:off x="4722876" y="3158338"/>
            <a:ext cx="419710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Cat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8"/>
          <p:cNvSpPr/>
          <p:nvPr/>
        </p:nvSpPr>
        <p:spPr>
          <a:xfrm>
            <a:off x="5141671" y="3112618"/>
            <a:ext cx="1828800" cy="286207"/>
          </a:xfrm>
          <a:prstGeom prst="roundRect">
            <a:avLst>
              <a:gd fmla="val 42599" name="adj"/>
            </a:avLst>
          </a:prstGeom>
          <a:solidFill>
            <a:srgbClr val="0F172A">
              <a:alpha val="50196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8"/>
          <p:cNvSpPr/>
          <p:nvPr/>
        </p:nvSpPr>
        <p:spPr>
          <a:xfrm>
            <a:off x="5141671" y="3141878"/>
            <a:ext cx="638251" cy="228600"/>
          </a:xfrm>
          <a:prstGeom prst="roundRect">
            <a:avLst>
              <a:gd fmla="val 50000" name="adj"/>
            </a:avLst>
          </a:prstGeom>
          <a:solidFill>
            <a:srgbClr val="A855F7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8"/>
          <p:cNvSpPr txBox="1"/>
          <p:nvPr/>
        </p:nvSpPr>
        <p:spPr>
          <a:xfrm>
            <a:off x="6964985" y="3158338"/>
            <a:ext cx="505663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8B4FE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D8B4FE"/>
                </a:solidFill>
                <a:latin typeface="Courier New"/>
                <a:ea typeface="Courier New"/>
                <a:cs typeface="Courier New"/>
                <a:sym typeface="Courier New"/>
              </a:rPr>
              <a:t>2.72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8"/>
          <p:cNvSpPr txBox="1"/>
          <p:nvPr/>
        </p:nvSpPr>
        <p:spPr>
          <a:xfrm>
            <a:off x="4722876" y="3558845"/>
            <a:ext cx="419710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Bird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8"/>
          <p:cNvSpPr/>
          <p:nvPr/>
        </p:nvSpPr>
        <p:spPr>
          <a:xfrm>
            <a:off x="5141671" y="3513125"/>
            <a:ext cx="1828800" cy="286207"/>
          </a:xfrm>
          <a:prstGeom prst="roundRect">
            <a:avLst>
              <a:gd fmla="val 42599" name="adj"/>
            </a:avLst>
          </a:prstGeom>
          <a:solidFill>
            <a:srgbClr val="0F172A">
              <a:alpha val="50196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8"/>
          <p:cNvSpPr/>
          <p:nvPr/>
        </p:nvSpPr>
        <p:spPr>
          <a:xfrm>
            <a:off x="5141671" y="3541471"/>
            <a:ext cx="276149" cy="228600"/>
          </a:xfrm>
          <a:prstGeom prst="roundRect">
            <a:avLst>
              <a:gd fmla="val 50000" name="adj"/>
            </a:avLst>
          </a:prstGeom>
          <a:solidFill>
            <a:srgbClr val="A855F7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8"/>
          <p:cNvSpPr txBox="1"/>
          <p:nvPr/>
        </p:nvSpPr>
        <p:spPr>
          <a:xfrm>
            <a:off x="6964985" y="3558845"/>
            <a:ext cx="505663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8B4FE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D8B4FE"/>
                </a:solidFill>
                <a:latin typeface="Courier New"/>
                <a:ea typeface="Courier New"/>
                <a:cs typeface="Courier New"/>
                <a:sym typeface="Courier New"/>
              </a:rPr>
              <a:t>1.10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8"/>
          <p:cNvSpPr/>
          <p:nvPr/>
        </p:nvSpPr>
        <p:spPr>
          <a:xfrm>
            <a:off x="4722876" y="4044391"/>
            <a:ext cx="2752344" cy="923544"/>
          </a:xfrm>
          <a:prstGeom prst="roundRect">
            <a:avLst>
              <a:gd fmla="val 8166" name="adj"/>
            </a:avLst>
          </a:prstGeom>
          <a:solidFill>
            <a:srgbClr val="A855F7">
              <a:alpha val="10196"/>
            </a:srgbClr>
          </a:solidFill>
          <a:ln cap="flat" cmpd="sng" w="12700">
            <a:solidFill>
              <a:srgbClr val="A855F7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8"/>
          <p:cNvSpPr txBox="1"/>
          <p:nvPr/>
        </p:nvSpPr>
        <p:spPr>
          <a:xfrm>
            <a:off x="4827118" y="4149547"/>
            <a:ext cx="2645359" cy="152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B4FE"/>
              </a:buClr>
              <a:buSzPts val="900"/>
              <a:buFont typeface="Noto Sans KR"/>
              <a:buNone/>
            </a:pPr>
            <a:r>
              <a:rPr b="1" i="0" lang="en-US" sz="900" u="none" cap="none" strike="noStrike">
                <a:solidFill>
                  <a:srgbClr val="D8B4FE"/>
                </a:solidFill>
                <a:latin typeface="Noto Sans KR"/>
                <a:ea typeface="Noto Sans KR"/>
                <a:cs typeface="Noto Sans KR"/>
                <a:sym typeface="Noto Sans KR"/>
              </a:rPr>
              <a:t>Transformation: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8"/>
          <p:cNvSpPr txBox="1"/>
          <p:nvPr/>
        </p:nvSpPr>
        <p:spPr>
          <a:xfrm>
            <a:off x="4827118" y="4339742"/>
            <a:ext cx="2734056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D5FF"/>
              </a:buClr>
              <a:buSzPts val="800"/>
              <a:buFont typeface="Noto Sans KR"/>
              <a:buNone/>
            </a:pPr>
            <a:r>
              <a:rPr b="0" i="0" lang="en-US" sz="800" u="none" cap="none" strike="noStrike">
                <a:solidFill>
                  <a:srgbClr val="E9D5FF"/>
                </a:solidFill>
                <a:latin typeface="Noto Sans KR"/>
                <a:ea typeface="Noto Sans KR"/>
                <a:cs typeface="Noto Sans KR"/>
                <a:sym typeface="Noto Sans KR"/>
              </a:rPr>
              <a:t>모든 값을 양수로 변환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8"/>
          <p:cNvSpPr txBox="1"/>
          <p:nvPr/>
        </p:nvSpPr>
        <p:spPr>
          <a:xfrm>
            <a:off x="4827118" y="4518965"/>
            <a:ext cx="2645359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D5FF"/>
              </a:buClr>
              <a:buSzPts val="800"/>
              <a:buFont typeface="Noto Sans KR"/>
              <a:buNone/>
            </a:pPr>
            <a:r>
              <a:rPr b="0" i="0" lang="en-US" sz="800" u="none" cap="none" strike="noStrike">
                <a:solidFill>
                  <a:srgbClr val="E9D5FF"/>
                </a:solidFill>
                <a:latin typeface="Noto Sans KR"/>
                <a:ea typeface="Noto Sans KR"/>
                <a:cs typeface="Noto Sans KR"/>
                <a:sym typeface="Noto Sans KR"/>
              </a:rPr>
              <a:t>큰 값은 더 크게 증폭 (Max)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8"/>
          <p:cNvSpPr txBox="1"/>
          <p:nvPr/>
        </p:nvSpPr>
        <p:spPr>
          <a:xfrm>
            <a:off x="4827118" y="4698187"/>
            <a:ext cx="2734056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D5FF"/>
              </a:buClr>
              <a:buSzPts val="800"/>
              <a:buFont typeface="Noto Sans KR"/>
              <a:buNone/>
            </a:pPr>
            <a:r>
              <a:rPr b="0" i="0" lang="en-US" sz="800" u="none" cap="none" strike="noStrike">
                <a:solidFill>
                  <a:srgbClr val="E9D5FF"/>
                </a:solidFill>
                <a:latin typeface="Noto Sans KR"/>
                <a:ea typeface="Noto Sans KR"/>
                <a:cs typeface="Noto Sans KR"/>
                <a:sym typeface="Noto Sans KR"/>
              </a:rPr>
              <a:t>작은 차이도 명확해짐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8"/>
          <p:cNvSpPr/>
          <p:nvPr/>
        </p:nvSpPr>
        <p:spPr>
          <a:xfrm>
            <a:off x="7812634" y="3486607"/>
            <a:ext cx="619049" cy="19202"/>
          </a:xfrm>
          <a:prstGeom prst="rect">
            <a:avLst/>
          </a:prstGeom>
          <a:solidFill>
            <a:srgbClr val="475569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4" name="Google Shape;294;p8"/>
          <p:cNvPicPr preferRelativeResize="0"/>
          <p:nvPr/>
        </p:nvPicPr>
        <p:blipFill rotWithShape="1">
          <a:blip r:embed="rId7">
            <a:alphaModFix/>
          </a:blip>
          <a:srcRect b="0" l="-4" r="-4" t="0"/>
          <a:stretch/>
        </p:blipFill>
        <p:spPr>
          <a:xfrm>
            <a:off x="8568842" y="1828800"/>
            <a:ext cx="3147365" cy="3333902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8"/>
          <p:cNvSpPr/>
          <p:nvPr/>
        </p:nvSpPr>
        <p:spPr>
          <a:xfrm>
            <a:off x="8769096" y="2591410"/>
            <a:ext cx="2752344" cy="9144"/>
          </a:xfrm>
          <a:prstGeom prst="rect">
            <a:avLst/>
          </a:prstGeom>
          <a:solidFill>
            <a:srgbClr val="94A3B8">
              <a:alpha val="10196"/>
            </a:srgbClr>
          </a:solidFill>
          <a:ln cap="flat" cmpd="sng" w="12700">
            <a:solidFill>
              <a:srgbClr val="94A3B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8"/>
          <p:cNvSpPr txBox="1"/>
          <p:nvPr/>
        </p:nvSpPr>
        <p:spPr>
          <a:xfrm>
            <a:off x="8713318" y="2029054"/>
            <a:ext cx="2862986" cy="2670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Noto Sans KR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3. Probabilities (p)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8"/>
          <p:cNvSpPr txBox="1"/>
          <p:nvPr/>
        </p:nvSpPr>
        <p:spPr>
          <a:xfrm>
            <a:off x="8713318" y="2310689"/>
            <a:ext cx="2862986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E7B7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6EE7B7"/>
                </a:solidFill>
                <a:latin typeface="Courier New"/>
                <a:ea typeface="Courier New"/>
                <a:cs typeface="Courier New"/>
                <a:sym typeface="Courier New"/>
              </a:rPr>
              <a:t>Sum = 1.0 (100%)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8"/>
          <p:cNvSpPr txBox="1"/>
          <p:nvPr/>
        </p:nvSpPr>
        <p:spPr>
          <a:xfrm>
            <a:off x="8769096" y="2758745"/>
            <a:ext cx="419710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Dog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8"/>
          <p:cNvSpPr/>
          <p:nvPr/>
        </p:nvSpPr>
        <p:spPr>
          <a:xfrm>
            <a:off x="9187891" y="2713025"/>
            <a:ext cx="1828800" cy="286207"/>
          </a:xfrm>
          <a:prstGeom prst="roundRect">
            <a:avLst>
              <a:gd fmla="val 42599" name="adj"/>
            </a:avLst>
          </a:prstGeom>
          <a:solidFill>
            <a:srgbClr val="0F172A">
              <a:alpha val="50196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8"/>
          <p:cNvSpPr/>
          <p:nvPr/>
        </p:nvSpPr>
        <p:spPr>
          <a:xfrm>
            <a:off x="9187891" y="2741371"/>
            <a:ext cx="1209751" cy="228600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8"/>
          <p:cNvSpPr txBox="1"/>
          <p:nvPr/>
        </p:nvSpPr>
        <p:spPr>
          <a:xfrm>
            <a:off x="10722254" y="2781605"/>
            <a:ext cx="295351" cy="152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Noto Sans KR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66%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8"/>
          <p:cNvSpPr txBox="1"/>
          <p:nvPr/>
        </p:nvSpPr>
        <p:spPr>
          <a:xfrm>
            <a:off x="11011205" y="2758745"/>
            <a:ext cx="505663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E7B7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6EE7B7"/>
                </a:solidFill>
                <a:latin typeface="Courier New"/>
                <a:ea typeface="Courier New"/>
                <a:cs typeface="Courier New"/>
                <a:sym typeface="Courier New"/>
              </a:rPr>
              <a:t>0.66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8"/>
          <p:cNvSpPr txBox="1"/>
          <p:nvPr/>
        </p:nvSpPr>
        <p:spPr>
          <a:xfrm>
            <a:off x="8769096" y="3158338"/>
            <a:ext cx="419710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Cat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8"/>
          <p:cNvSpPr/>
          <p:nvPr/>
        </p:nvSpPr>
        <p:spPr>
          <a:xfrm>
            <a:off x="9187891" y="3112618"/>
            <a:ext cx="1828800" cy="286207"/>
          </a:xfrm>
          <a:prstGeom prst="roundRect">
            <a:avLst>
              <a:gd fmla="val 42599" name="adj"/>
            </a:avLst>
          </a:prstGeom>
          <a:solidFill>
            <a:srgbClr val="0F172A">
              <a:alpha val="50196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8"/>
          <p:cNvSpPr/>
          <p:nvPr/>
        </p:nvSpPr>
        <p:spPr>
          <a:xfrm>
            <a:off x="9187891" y="3141878"/>
            <a:ext cx="437998" cy="228600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8"/>
          <p:cNvSpPr txBox="1"/>
          <p:nvPr/>
        </p:nvSpPr>
        <p:spPr>
          <a:xfrm>
            <a:off x="10722254" y="3181198"/>
            <a:ext cx="295351" cy="152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Noto Sans KR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24%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8"/>
          <p:cNvSpPr txBox="1"/>
          <p:nvPr/>
        </p:nvSpPr>
        <p:spPr>
          <a:xfrm>
            <a:off x="11011205" y="3158338"/>
            <a:ext cx="505663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E7B7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6EE7B7"/>
                </a:solidFill>
                <a:latin typeface="Courier New"/>
                <a:ea typeface="Courier New"/>
                <a:cs typeface="Courier New"/>
                <a:sym typeface="Courier New"/>
              </a:rPr>
              <a:t>0.24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8"/>
          <p:cNvSpPr txBox="1"/>
          <p:nvPr/>
        </p:nvSpPr>
        <p:spPr>
          <a:xfrm>
            <a:off x="8769096" y="3558845"/>
            <a:ext cx="419710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Bird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8"/>
          <p:cNvSpPr/>
          <p:nvPr/>
        </p:nvSpPr>
        <p:spPr>
          <a:xfrm>
            <a:off x="9187891" y="3513125"/>
            <a:ext cx="1828800" cy="286207"/>
          </a:xfrm>
          <a:prstGeom prst="roundRect">
            <a:avLst>
              <a:gd fmla="val 42599" name="adj"/>
            </a:avLst>
          </a:prstGeom>
          <a:solidFill>
            <a:srgbClr val="0F172A">
              <a:alpha val="50196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8"/>
          <p:cNvSpPr/>
          <p:nvPr/>
        </p:nvSpPr>
        <p:spPr>
          <a:xfrm>
            <a:off x="9187891" y="3541471"/>
            <a:ext cx="190195" cy="228600"/>
          </a:xfrm>
          <a:prstGeom prst="roundRect">
            <a:avLst>
              <a:gd fmla="val 72115" name="adj"/>
            </a:avLst>
          </a:prstGeom>
          <a:solidFill>
            <a:srgbClr val="10B981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8"/>
          <p:cNvSpPr txBox="1"/>
          <p:nvPr/>
        </p:nvSpPr>
        <p:spPr>
          <a:xfrm>
            <a:off x="10722254" y="3581705"/>
            <a:ext cx="295351" cy="152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Noto Sans KR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10%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8"/>
          <p:cNvSpPr txBox="1"/>
          <p:nvPr/>
        </p:nvSpPr>
        <p:spPr>
          <a:xfrm>
            <a:off x="11011205" y="3558845"/>
            <a:ext cx="505663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E7B7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6EE7B7"/>
                </a:solidFill>
                <a:latin typeface="Courier New"/>
                <a:ea typeface="Courier New"/>
                <a:cs typeface="Courier New"/>
                <a:sym typeface="Courier New"/>
              </a:rPr>
              <a:t>0.10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8"/>
          <p:cNvSpPr/>
          <p:nvPr/>
        </p:nvSpPr>
        <p:spPr>
          <a:xfrm>
            <a:off x="8769096" y="4044391"/>
            <a:ext cx="2752344" cy="923544"/>
          </a:xfrm>
          <a:prstGeom prst="roundRect">
            <a:avLst>
              <a:gd fmla="val 8166" name="adj"/>
            </a:avLst>
          </a:prstGeom>
          <a:solidFill>
            <a:srgbClr val="10B981">
              <a:alpha val="10196"/>
            </a:srgbClr>
          </a:solidFill>
          <a:ln cap="flat" cmpd="sng" w="12700">
            <a:solidFill>
              <a:srgbClr val="10B981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8"/>
          <p:cNvSpPr txBox="1"/>
          <p:nvPr/>
        </p:nvSpPr>
        <p:spPr>
          <a:xfrm>
            <a:off x="8873338" y="4149547"/>
            <a:ext cx="2645359" cy="152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E7B7"/>
              </a:buClr>
              <a:buSzPts val="900"/>
              <a:buFont typeface="Noto Sans KR"/>
              <a:buNone/>
            </a:pPr>
            <a:r>
              <a:rPr b="1" i="0" lang="en-US" sz="900" u="none" cap="none" strike="noStrike">
                <a:solidFill>
                  <a:srgbClr val="6EE7B7"/>
                </a:solidFill>
                <a:latin typeface="Noto Sans KR"/>
                <a:ea typeface="Noto Sans KR"/>
                <a:cs typeface="Noto Sans KR"/>
                <a:sym typeface="Noto Sans KR"/>
              </a:rPr>
              <a:t>Result: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8"/>
          <p:cNvSpPr txBox="1"/>
          <p:nvPr/>
        </p:nvSpPr>
        <p:spPr>
          <a:xfrm>
            <a:off x="8873338" y="4339742"/>
            <a:ext cx="2645359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800"/>
              <a:buFont typeface="Noto Sans KR"/>
              <a:buNone/>
            </a:pPr>
            <a:r>
              <a:rPr b="0" i="0" lang="en-US" sz="800" u="none" cap="none" strike="noStrike">
                <a:solidFill>
                  <a:srgbClr val="A7F3D0"/>
                </a:solidFill>
                <a:latin typeface="Noto Sans KR"/>
                <a:ea typeface="Noto Sans KR"/>
                <a:cs typeface="Noto Sans KR"/>
                <a:sym typeface="Noto Sans KR"/>
              </a:rPr>
              <a:t>0 ~ 1 사이의 확률값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8"/>
          <p:cNvSpPr txBox="1"/>
          <p:nvPr/>
        </p:nvSpPr>
        <p:spPr>
          <a:xfrm>
            <a:off x="8873338" y="4518965"/>
            <a:ext cx="2734056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800"/>
              <a:buFont typeface="Noto Sans KR"/>
              <a:buNone/>
            </a:pPr>
            <a:r>
              <a:rPr b="0" i="0" lang="en-US" sz="800" u="none" cap="none" strike="noStrike">
                <a:solidFill>
                  <a:srgbClr val="A7F3D0"/>
                </a:solidFill>
                <a:latin typeface="Noto Sans KR"/>
                <a:ea typeface="Noto Sans KR"/>
                <a:cs typeface="Noto Sans KR"/>
                <a:sym typeface="Noto Sans KR"/>
              </a:rPr>
              <a:t>총합은 항상 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8"/>
          <p:cNvSpPr txBox="1"/>
          <p:nvPr/>
        </p:nvSpPr>
        <p:spPr>
          <a:xfrm>
            <a:off x="8873338" y="4698187"/>
            <a:ext cx="2645359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800"/>
              <a:buFont typeface="Noto Sans KR"/>
              <a:buNone/>
            </a:pPr>
            <a:r>
              <a:rPr b="0" i="0" lang="en-US" sz="800" u="none" cap="none" strike="noStrike">
                <a:solidFill>
                  <a:srgbClr val="A7F3D0"/>
                </a:solidFill>
                <a:latin typeface="Noto Sans KR"/>
                <a:ea typeface="Noto Sans KR"/>
                <a:cs typeface="Noto Sans KR"/>
                <a:sym typeface="Noto Sans KR"/>
              </a:rPr>
              <a:t>해석 가능한 신뢰도(Confidence)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18" name="Google Shape;318;p8"/>
          <p:cNvPicPr preferRelativeResize="0"/>
          <p:nvPr/>
        </p:nvPicPr>
        <p:blipFill rotWithShape="1">
          <a:blip r:embed="rId8">
            <a:alphaModFix/>
          </a:blip>
          <a:srcRect b="0" l="-4" r="-4" t="0"/>
          <a:stretch/>
        </p:blipFill>
        <p:spPr>
          <a:xfrm>
            <a:off x="4813402" y="5724144"/>
            <a:ext cx="2564892" cy="847649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8"/>
          <p:cNvSpPr txBox="1"/>
          <p:nvPr/>
        </p:nvSpPr>
        <p:spPr>
          <a:xfrm>
            <a:off x="5127955" y="6072530"/>
            <a:ext cx="600761" cy="152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Formula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8"/>
          <p:cNvSpPr txBox="1"/>
          <p:nvPr/>
        </p:nvSpPr>
        <p:spPr>
          <a:xfrm>
            <a:off x="5876849" y="5995721"/>
            <a:ext cx="238658" cy="3054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rgbClr val="34D399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8"/>
          <p:cNvSpPr txBox="1"/>
          <p:nvPr/>
        </p:nvSpPr>
        <p:spPr>
          <a:xfrm>
            <a:off x="6067958" y="6072530"/>
            <a:ext cx="13350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4D399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8"/>
          <p:cNvSpPr txBox="1"/>
          <p:nvPr/>
        </p:nvSpPr>
        <p:spPr>
          <a:xfrm>
            <a:off x="6273698" y="5995721"/>
            <a:ext cx="210312" cy="3054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8"/>
          <p:cNvSpPr/>
          <p:nvPr/>
        </p:nvSpPr>
        <p:spPr>
          <a:xfrm>
            <a:off x="6558991" y="6134710"/>
            <a:ext cx="514807" cy="9144"/>
          </a:xfrm>
          <a:prstGeom prst="rect">
            <a:avLst/>
          </a:prstGeom>
          <a:solidFill>
            <a:srgbClr val="64748B"/>
          </a:solidFill>
          <a:ln cap="flat" cmpd="sng" w="12700">
            <a:solidFill>
              <a:srgbClr val="64748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8"/>
          <p:cNvSpPr txBox="1"/>
          <p:nvPr/>
        </p:nvSpPr>
        <p:spPr>
          <a:xfrm>
            <a:off x="6653174" y="5790895"/>
            <a:ext cx="210312" cy="33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84FC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C084FC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8"/>
          <p:cNvSpPr txBox="1"/>
          <p:nvPr/>
        </p:nvSpPr>
        <p:spPr>
          <a:xfrm>
            <a:off x="6778447" y="5810098"/>
            <a:ext cx="162763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84FC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084FC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8"/>
          <p:cNvSpPr txBox="1"/>
          <p:nvPr/>
        </p:nvSpPr>
        <p:spPr>
          <a:xfrm>
            <a:off x="6855257" y="5876849"/>
            <a:ext cx="124358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84FC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C084FC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8"/>
          <p:cNvSpPr txBox="1"/>
          <p:nvPr/>
        </p:nvSpPr>
        <p:spPr>
          <a:xfrm>
            <a:off x="6558991" y="6200546"/>
            <a:ext cx="267005" cy="2670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∑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8"/>
          <p:cNvSpPr txBox="1"/>
          <p:nvPr/>
        </p:nvSpPr>
        <p:spPr>
          <a:xfrm>
            <a:off x="6640373" y="6277356"/>
            <a:ext cx="105156" cy="3054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800"/>
              <a:buFont typeface="Arial"/>
              <a:buNone/>
            </a:pPr>
            <a:r>
              <a:rPr b="0" i="1" lang="en-US" sz="8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j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8"/>
          <p:cNvSpPr txBox="1"/>
          <p:nvPr/>
        </p:nvSpPr>
        <p:spPr>
          <a:xfrm>
            <a:off x="6825996" y="6163056"/>
            <a:ext cx="210312" cy="33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84FC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C084FC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8"/>
          <p:cNvSpPr txBox="1"/>
          <p:nvPr/>
        </p:nvSpPr>
        <p:spPr>
          <a:xfrm>
            <a:off x="6950354" y="6181344"/>
            <a:ext cx="162763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84FC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084FC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8"/>
          <p:cNvSpPr txBox="1"/>
          <p:nvPr/>
        </p:nvSpPr>
        <p:spPr>
          <a:xfrm>
            <a:off x="7028078" y="6248095"/>
            <a:ext cx="11430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84FC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C084FC"/>
                </a:solidFill>
                <a:latin typeface="Arial"/>
                <a:ea typeface="Arial"/>
                <a:cs typeface="Arial"/>
                <a:sym typeface="Arial"/>
              </a:rPr>
              <a:t>j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2" name="Google Shape;332;p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719779" y="3328416"/>
            <a:ext cx="714146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8"/>
          <p:cNvSpPr/>
          <p:nvPr/>
        </p:nvSpPr>
        <p:spPr>
          <a:xfrm>
            <a:off x="3719779" y="3328416"/>
            <a:ext cx="715061" cy="342900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254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Exp(z)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4" name="Google Shape;334;p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656271" y="3328416"/>
            <a:ext cx="933602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8"/>
          <p:cNvSpPr/>
          <p:nvPr/>
        </p:nvSpPr>
        <p:spPr>
          <a:xfrm>
            <a:off x="7656271" y="3328416"/>
            <a:ext cx="933602" cy="342900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254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Normalize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3" name="Google Shape;343;p9"/>
          <p:cNvPicPr preferRelativeResize="0"/>
          <p:nvPr/>
        </p:nvPicPr>
        <p:blipFill rotWithShape="1">
          <a:blip r:embed="rId3">
            <a:alphaModFix amt="50000"/>
          </a:blip>
          <a:srcRect b="-1" l="0" r="0" t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44" name="Google Shape;34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81305"/>
            <a:ext cx="1933956" cy="247802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9"/>
          <p:cNvSpPr/>
          <p:nvPr/>
        </p:nvSpPr>
        <p:spPr>
          <a:xfrm>
            <a:off x="571500" y="381305"/>
            <a:ext cx="1933956" cy="247802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12700">
            <a:solidFill>
              <a:srgbClr val="10B981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E7B7"/>
              </a:buClr>
              <a:buSzPts val="900"/>
              <a:buFont typeface="Noto Sans KR"/>
              <a:buNone/>
            </a:pPr>
            <a:r>
              <a:rPr b="1" i="0" lang="en-US" sz="900" u="none" cap="none" strike="noStrike">
                <a:solidFill>
                  <a:srgbClr val="6EE7B7"/>
                </a:solidFill>
                <a:latin typeface="Noto Sans KR"/>
                <a:ea typeface="Noto Sans KR"/>
                <a:cs typeface="Noto Sans KR"/>
                <a:sym typeface="Noto Sans KR"/>
              </a:rPr>
              <a:t>Classification Standard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9"/>
          <p:cNvSpPr txBox="1"/>
          <p:nvPr/>
        </p:nvSpPr>
        <p:spPr>
          <a:xfrm>
            <a:off x="2618842" y="409651"/>
            <a:ext cx="183703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Optimization Objective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9"/>
          <p:cNvSpPr txBox="1"/>
          <p:nvPr/>
        </p:nvSpPr>
        <p:spPr>
          <a:xfrm>
            <a:off x="571500" y="705002"/>
            <a:ext cx="5989320" cy="381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Noto Sans KR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분류 모델의 손실: Cross-Entropy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9"/>
          <p:cNvSpPr txBox="1"/>
          <p:nvPr/>
        </p:nvSpPr>
        <p:spPr>
          <a:xfrm>
            <a:off x="9784080" y="457200"/>
            <a:ext cx="1838858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Best Friend of Softmax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9"/>
          <p:cNvSpPr txBox="1"/>
          <p:nvPr/>
        </p:nvSpPr>
        <p:spPr>
          <a:xfrm>
            <a:off x="571500" y="1162202"/>
            <a:ext cx="8610905" cy="5907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Noto Sans KR"/>
              <a:buNone/>
            </a:pPr>
            <a:r>
              <a:rPr b="0" i="0" lang="en-US" sz="13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정답의 확률 분포 </a:t>
            </a:r>
            <a:r>
              <a:rPr b="0" i="0" lang="en-US" sz="1300" u="none" cap="none" strike="noStrike">
                <a:solidFill>
                  <a:srgbClr val="34D399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i="0" lang="en-US" sz="13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와 모델이 예측한 확률 분포 </a:t>
            </a:r>
            <a:r>
              <a:rPr b="0" i="0" lang="en-US" sz="1300" u="none" cap="none" strike="noStrike">
                <a:solidFill>
                  <a:srgbClr val="60A5FA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0" i="0" lang="en-US" sz="13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사이의 </a:t>
            </a:r>
            <a:r>
              <a:rPr b="1" i="0" lang="en-US" sz="1300" u="none" cap="none" strike="noStrike">
                <a:solidFill>
                  <a:srgbClr val="FB7185"/>
                </a:solidFill>
                <a:latin typeface="Noto Sans KR"/>
                <a:ea typeface="Noto Sans KR"/>
                <a:cs typeface="Noto Sans KR"/>
                <a:sym typeface="Noto Sans KR"/>
              </a:rPr>
              <a:t>거리(Distance)</a:t>
            </a:r>
            <a:r>
              <a:rPr b="0" i="0" lang="en-US" sz="13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를 측정합니다. 두 분포가 같아질수록 손실은 0에 수렴합니다.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9"/>
          <p:cNvSpPr/>
          <p:nvPr/>
        </p:nvSpPr>
        <p:spPr>
          <a:xfrm>
            <a:off x="571500" y="3862426"/>
            <a:ext cx="3534156" cy="2572207"/>
          </a:xfrm>
          <a:prstGeom prst="roundRect">
            <a:avLst>
              <a:gd fmla="val 1580" name="adj"/>
            </a:avLst>
          </a:prstGeom>
          <a:solidFill>
            <a:srgbClr val="0F172A">
              <a:alpha val="80000"/>
            </a:srgbClr>
          </a:solidFill>
          <a:ln cap="flat" cmpd="sng" w="12700">
            <a:solidFill>
              <a:srgbClr val="94A3B8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9"/>
          <p:cNvSpPr/>
          <p:nvPr/>
        </p:nvSpPr>
        <p:spPr>
          <a:xfrm>
            <a:off x="809244" y="4100170"/>
            <a:ext cx="457200" cy="457200"/>
          </a:xfrm>
          <a:prstGeom prst="roundRect">
            <a:avLst>
              <a:gd fmla="val 41667" name="adj"/>
            </a:avLst>
          </a:prstGeom>
          <a:solidFill>
            <a:srgbClr val="10B981">
              <a:alpha val="20000"/>
            </a:srgbClr>
          </a:solidFill>
          <a:ln cap="flat" cmpd="sng" w="12700">
            <a:solidFill>
              <a:srgbClr val="10B981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2" name="Google Shape;352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23544" y="421447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9"/>
          <p:cNvSpPr txBox="1"/>
          <p:nvPr/>
        </p:nvSpPr>
        <p:spPr>
          <a:xfrm>
            <a:off x="809244" y="4710074"/>
            <a:ext cx="3248863" cy="2670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Noto Sans KR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확률 분포의 거리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9"/>
          <p:cNvSpPr txBox="1"/>
          <p:nvPr/>
        </p:nvSpPr>
        <p:spPr>
          <a:xfrm>
            <a:off x="809244" y="5052974"/>
            <a:ext cx="3134563" cy="6574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단순히 값을 맞추는 것이 아니라, 모델의 예측 분포가 정답 분포와 얼마나 '비슷한가'를 측정합니다. (정보 이론의 KL-Divergence와 연결)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9"/>
          <p:cNvSpPr/>
          <p:nvPr/>
        </p:nvSpPr>
        <p:spPr>
          <a:xfrm>
            <a:off x="809244" y="5874106"/>
            <a:ext cx="3057754" cy="9144"/>
          </a:xfrm>
          <a:prstGeom prst="rect">
            <a:avLst/>
          </a:prstGeom>
          <a:solidFill>
            <a:srgbClr val="334155">
              <a:alpha val="50196"/>
            </a:srgbClr>
          </a:solidFill>
          <a:ln cap="flat" cmpd="sng" w="12700">
            <a:solidFill>
              <a:srgbClr val="33415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9"/>
          <p:cNvSpPr txBox="1"/>
          <p:nvPr/>
        </p:nvSpPr>
        <p:spPr>
          <a:xfrm>
            <a:off x="809244" y="6036869"/>
            <a:ext cx="3172054" cy="152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E7B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EE7B7"/>
                </a:solidFill>
                <a:latin typeface="Arial"/>
                <a:ea typeface="Arial"/>
                <a:cs typeface="Arial"/>
                <a:sym typeface="Arial"/>
              </a:rPr>
              <a:t>Minimize Distance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9"/>
          <p:cNvSpPr/>
          <p:nvPr/>
        </p:nvSpPr>
        <p:spPr>
          <a:xfrm>
            <a:off x="4330598" y="3862426"/>
            <a:ext cx="3534156" cy="2572207"/>
          </a:xfrm>
          <a:prstGeom prst="roundRect">
            <a:avLst>
              <a:gd fmla="val 1580" name="adj"/>
            </a:avLst>
          </a:prstGeom>
          <a:solidFill>
            <a:srgbClr val="0F172A">
              <a:alpha val="80000"/>
            </a:srgbClr>
          </a:solidFill>
          <a:ln cap="flat" cmpd="sng" w="12700">
            <a:solidFill>
              <a:srgbClr val="94A3B8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9"/>
          <p:cNvSpPr/>
          <p:nvPr/>
        </p:nvSpPr>
        <p:spPr>
          <a:xfrm>
            <a:off x="4568342" y="4100170"/>
            <a:ext cx="457200" cy="457200"/>
          </a:xfrm>
          <a:prstGeom prst="roundRect">
            <a:avLst>
              <a:gd fmla="val 41667" name="adj"/>
            </a:avLst>
          </a:prstGeom>
          <a:solidFill>
            <a:srgbClr val="3B82F6">
              <a:alpha val="20000"/>
            </a:srgbClr>
          </a:solidFill>
          <a:ln cap="flat" cmpd="sng" w="12700">
            <a:solidFill>
              <a:srgbClr val="3B82F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9" name="Google Shape;359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82642" y="421447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9"/>
          <p:cNvSpPr txBox="1"/>
          <p:nvPr/>
        </p:nvSpPr>
        <p:spPr>
          <a:xfrm>
            <a:off x="4568342" y="4710074"/>
            <a:ext cx="3172054" cy="2670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Noto Sans KR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Softmax와의 환상 조합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9"/>
          <p:cNvSpPr txBox="1"/>
          <p:nvPr/>
        </p:nvSpPr>
        <p:spPr>
          <a:xfrm>
            <a:off x="4568342" y="5052974"/>
            <a:ext cx="3134563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 Softmax와 결합되면 미분 결과가 </a:t>
            </a:r>
            <a:r>
              <a:rPr b="1" i="0" lang="en-US" sz="10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p - y</a:t>
            </a:r>
            <a:r>
              <a:rPr b="0" i="0" lang="en-US" sz="10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로 매우 단순하고 강력해집니다. 이는 역전파 시 기울기 소실 없이 명확한 신호를 전달합니다.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9"/>
          <p:cNvSpPr/>
          <p:nvPr/>
        </p:nvSpPr>
        <p:spPr>
          <a:xfrm>
            <a:off x="4568342" y="5874106"/>
            <a:ext cx="3057754" cy="9144"/>
          </a:xfrm>
          <a:prstGeom prst="rect">
            <a:avLst/>
          </a:prstGeom>
          <a:solidFill>
            <a:srgbClr val="334155">
              <a:alpha val="50196"/>
            </a:srgbClr>
          </a:solidFill>
          <a:ln cap="flat" cmpd="sng" w="12700">
            <a:solidFill>
              <a:srgbClr val="33415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9"/>
          <p:cNvSpPr txBox="1"/>
          <p:nvPr/>
        </p:nvSpPr>
        <p:spPr>
          <a:xfrm>
            <a:off x="4568342" y="6036869"/>
            <a:ext cx="3172054" cy="152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Gradient: ∂L/∂z = p - 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9"/>
          <p:cNvSpPr/>
          <p:nvPr/>
        </p:nvSpPr>
        <p:spPr>
          <a:xfrm>
            <a:off x="8089697" y="3862426"/>
            <a:ext cx="3534156" cy="2572207"/>
          </a:xfrm>
          <a:prstGeom prst="roundRect">
            <a:avLst>
              <a:gd fmla="val 1580" name="adj"/>
            </a:avLst>
          </a:prstGeom>
          <a:solidFill>
            <a:srgbClr val="0F172A">
              <a:alpha val="80000"/>
            </a:srgbClr>
          </a:solidFill>
          <a:ln cap="flat" cmpd="sng" w="12700">
            <a:solidFill>
              <a:srgbClr val="94A3B8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9"/>
          <p:cNvSpPr/>
          <p:nvPr/>
        </p:nvSpPr>
        <p:spPr>
          <a:xfrm>
            <a:off x="8328355" y="4100170"/>
            <a:ext cx="457200" cy="457200"/>
          </a:xfrm>
          <a:prstGeom prst="roundRect">
            <a:avLst>
              <a:gd fmla="val 41667" name="adj"/>
            </a:avLst>
          </a:prstGeom>
          <a:solidFill>
            <a:srgbClr val="F43F5E">
              <a:alpha val="20000"/>
            </a:srgbClr>
          </a:solidFill>
          <a:ln cap="flat" cmpd="sng" w="12700">
            <a:solidFill>
              <a:srgbClr val="F43F5E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6" name="Google Shape;366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42655" y="421447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9"/>
          <p:cNvSpPr txBox="1"/>
          <p:nvPr/>
        </p:nvSpPr>
        <p:spPr>
          <a:xfrm>
            <a:off x="8328355" y="4710074"/>
            <a:ext cx="3248863" cy="2670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Noto Sans KR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로그(Log)의 강력한 처벌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9"/>
          <p:cNvSpPr txBox="1"/>
          <p:nvPr/>
        </p:nvSpPr>
        <p:spPr>
          <a:xfrm>
            <a:off x="8328355" y="5052974"/>
            <a:ext cx="3134563" cy="6574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 정답 확률이 0에 가까울수록 손실은 </a:t>
            </a:r>
            <a:r>
              <a:rPr b="0" i="0" lang="en-US" sz="1000" u="none" cap="none" strike="noStrike">
                <a:solidFill>
                  <a:srgbClr val="FDA4AF"/>
                </a:solidFill>
                <a:latin typeface="Noto Sans KR"/>
                <a:ea typeface="Noto Sans KR"/>
                <a:cs typeface="Noto Sans KR"/>
                <a:sym typeface="Noto Sans KR"/>
              </a:rPr>
              <a:t>무한대(∞)</a:t>
            </a:r>
            <a:r>
              <a:rPr b="0" i="0" lang="en-US" sz="10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로 치솟습니다. 틀린 확신을 가진 모델에게 매우 큰 페널티를 부여하여 빠르게 수정하게 만듭니다.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9"/>
          <p:cNvSpPr/>
          <p:nvPr/>
        </p:nvSpPr>
        <p:spPr>
          <a:xfrm>
            <a:off x="8328355" y="5874106"/>
            <a:ext cx="3057754" cy="9144"/>
          </a:xfrm>
          <a:prstGeom prst="rect">
            <a:avLst/>
          </a:prstGeom>
          <a:solidFill>
            <a:srgbClr val="334155">
              <a:alpha val="50196"/>
            </a:srgbClr>
          </a:solidFill>
          <a:ln cap="flat" cmpd="sng" w="12700">
            <a:solidFill>
              <a:srgbClr val="33415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9"/>
          <p:cNvSpPr txBox="1"/>
          <p:nvPr/>
        </p:nvSpPr>
        <p:spPr>
          <a:xfrm>
            <a:off x="8328355" y="6036869"/>
            <a:ext cx="3172054" cy="152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A4A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DA4AF"/>
                </a:solidFill>
                <a:latin typeface="Arial"/>
                <a:ea typeface="Arial"/>
                <a:cs typeface="Arial"/>
                <a:sym typeface="Arial"/>
              </a:rPr>
              <a:t>log(0) → -∞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9"/>
          <p:cNvSpPr/>
          <p:nvPr/>
        </p:nvSpPr>
        <p:spPr>
          <a:xfrm>
            <a:off x="571500" y="6655918"/>
            <a:ext cx="11048695" cy="9144"/>
          </a:xfrm>
          <a:prstGeom prst="rect">
            <a:avLst/>
          </a:prstGeom>
          <a:solidFill>
            <a:srgbClr val="1E293B">
              <a:alpha val="50196"/>
            </a:srgbClr>
          </a:solidFill>
          <a:ln cap="flat" cmpd="sng" w="12700">
            <a:solidFill>
              <a:srgbClr val="1E293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9"/>
          <p:cNvSpPr txBox="1"/>
          <p:nvPr/>
        </p:nvSpPr>
        <p:spPr>
          <a:xfrm>
            <a:off x="571500" y="6817766"/>
            <a:ext cx="2001622" cy="152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Slide 07: Cross-Entropy Loss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9"/>
          <p:cNvSpPr txBox="1"/>
          <p:nvPr/>
        </p:nvSpPr>
        <p:spPr>
          <a:xfrm>
            <a:off x="9641434" y="6817766"/>
            <a:ext cx="2265883" cy="152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딥러닝 분류 문제의 표준 손실 함수입니다. 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74" name="Google Shape;374;p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456725" y="6841541"/>
            <a:ext cx="1143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75" name="Google Shape;375;p9"/>
          <p:cNvPicPr preferRelativeResize="0"/>
          <p:nvPr/>
        </p:nvPicPr>
        <p:blipFill rotWithShape="1">
          <a:blip r:embed="rId9">
            <a:alphaModFix/>
          </a:blip>
          <a:srcRect b="-5" l="0" r="0" t="-6"/>
          <a:stretch/>
        </p:blipFill>
        <p:spPr>
          <a:xfrm>
            <a:off x="571500" y="2072030"/>
            <a:ext cx="11048695" cy="1505102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9"/>
          <p:cNvSpPr txBox="1"/>
          <p:nvPr/>
        </p:nvSpPr>
        <p:spPr>
          <a:xfrm>
            <a:off x="4682642" y="2395728"/>
            <a:ext cx="324612" cy="5056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3F5E"/>
              </a:buClr>
              <a:buSzPts val="3000"/>
              <a:buFont typeface="Courier New"/>
              <a:buNone/>
            </a:pPr>
            <a:r>
              <a:rPr b="1" i="0" lang="en-US" sz="3000" u="none" cap="none" strike="noStrike">
                <a:solidFill>
                  <a:srgbClr val="F43F5E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9"/>
          <p:cNvSpPr txBox="1"/>
          <p:nvPr/>
        </p:nvSpPr>
        <p:spPr>
          <a:xfrm>
            <a:off x="4997196" y="2395728"/>
            <a:ext cx="324612" cy="5056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3000"/>
              <a:buFont typeface="Courier New"/>
              <a:buNone/>
            </a:pPr>
            <a:r>
              <a:rPr b="0" i="0" lang="en-US" sz="300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9"/>
          <p:cNvSpPr txBox="1"/>
          <p:nvPr/>
        </p:nvSpPr>
        <p:spPr>
          <a:xfrm>
            <a:off x="5387645" y="2395728"/>
            <a:ext cx="324612" cy="5056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3000"/>
              <a:buFont typeface="Courier New"/>
              <a:buNone/>
            </a:pPr>
            <a:r>
              <a:rPr b="0" i="0" lang="en-US" sz="300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-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9"/>
          <p:cNvSpPr txBox="1"/>
          <p:nvPr/>
        </p:nvSpPr>
        <p:spPr>
          <a:xfrm>
            <a:off x="5778094" y="2395728"/>
            <a:ext cx="324612" cy="5056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3000"/>
              <a:buFont typeface="Courier New"/>
              <a:buNone/>
            </a:pPr>
            <a:r>
              <a:rPr b="0" i="0" lang="en-US" sz="300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Σ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9"/>
          <p:cNvSpPr txBox="1"/>
          <p:nvPr/>
        </p:nvSpPr>
        <p:spPr>
          <a:xfrm>
            <a:off x="6092647" y="2395728"/>
            <a:ext cx="324612" cy="5056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3000"/>
              <a:buFont typeface="Courier New"/>
              <a:buNone/>
            </a:pPr>
            <a:r>
              <a:rPr b="1" i="0" lang="en-US" sz="3000" u="none" cap="none" strike="noStrike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9"/>
          <p:cNvSpPr txBox="1"/>
          <p:nvPr/>
        </p:nvSpPr>
        <p:spPr>
          <a:xfrm>
            <a:off x="6331306" y="2657246"/>
            <a:ext cx="19111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9"/>
          <p:cNvSpPr txBox="1"/>
          <p:nvPr/>
        </p:nvSpPr>
        <p:spPr>
          <a:xfrm>
            <a:off x="6443777" y="2395728"/>
            <a:ext cx="800100" cy="5056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3000"/>
              <a:buFont typeface="Courier New"/>
              <a:buNone/>
            </a:pPr>
            <a:r>
              <a:rPr b="0" i="0" lang="en-US" sz="3000" u="none" cap="none" strike="noStrik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9"/>
          <p:cNvSpPr txBox="1"/>
          <p:nvPr/>
        </p:nvSpPr>
        <p:spPr>
          <a:xfrm>
            <a:off x="7157923" y="2395728"/>
            <a:ext cx="324612" cy="5056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3000"/>
              <a:buFont typeface="Courier New"/>
              <a:buNone/>
            </a:pPr>
            <a:r>
              <a:rPr b="0" i="0" lang="en-US" sz="3000" u="none" cap="none" strike="noStrik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9"/>
          <p:cNvSpPr txBox="1"/>
          <p:nvPr/>
        </p:nvSpPr>
        <p:spPr>
          <a:xfrm>
            <a:off x="7396582" y="2657246"/>
            <a:ext cx="19111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9"/>
          <p:cNvSpPr/>
          <p:nvPr/>
        </p:nvSpPr>
        <p:spPr>
          <a:xfrm>
            <a:off x="3865169" y="3129077"/>
            <a:ext cx="114300" cy="114300"/>
          </a:xfrm>
          <a:prstGeom prst="ellipse">
            <a:avLst/>
          </a:prstGeom>
          <a:solidFill>
            <a:srgbClr val="10B981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9"/>
          <p:cNvSpPr txBox="1"/>
          <p:nvPr/>
        </p:nvSpPr>
        <p:spPr>
          <a:xfrm>
            <a:off x="4055364" y="3090672"/>
            <a:ext cx="1200607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True Label (y)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9"/>
          <p:cNvSpPr/>
          <p:nvPr/>
        </p:nvSpPr>
        <p:spPr>
          <a:xfrm>
            <a:off x="5479999" y="3129077"/>
            <a:ext cx="114300" cy="114300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9"/>
          <p:cNvSpPr txBox="1"/>
          <p:nvPr/>
        </p:nvSpPr>
        <p:spPr>
          <a:xfrm>
            <a:off x="5671109" y="3090672"/>
            <a:ext cx="80010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Logarithm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9"/>
          <p:cNvSpPr/>
          <p:nvPr/>
        </p:nvSpPr>
        <p:spPr>
          <a:xfrm>
            <a:off x="6696151" y="3129077"/>
            <a:ext cx="114300" cy="114300"/>
          </a:xfrm>
          <a:prstGeom prst="ellipse">
            <a:avLst/>
          </a:prstGeom>
          <a:solidFill>
            <a:srgbClr val="3B82F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9"/>
          <p:cNvSpPr txBox="1"/>
          <p:nvPr/>
        </p:nvSpPr>
        <p:spPr>
          <a:xfrm>
            <a:off x="6886346" y="3090672"/>
            <a:ext cx="1524305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Predicted Prob (p)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91" name="Google Shape;391;p9"/>
          <p:cNvPicPr preferRelativeResize="0"/>
          <p:nvPr/>
        </p:nvPicPr>
        <p:blipFill rotWithShape="1">
          <a:blip r:embed="rId10">
            <a:alphaModFix amt="63000"/>
          </a:blip>
          <a:srcRect b="-1325" l="0" r="0" t="-1326"/>
          <a:stretch/>
        </p:blipFill>
        <p:spPr>
          <a:xfrm>
            <a:off x="6005779" y="3571646"/>
            <a:ext cx="181051" cy="2478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0"/>
          <p:cNvSpPr/>
          <p:nvPr/>
        </p:nvSpPr>
        <p:spPr>
          <a:xfrm>
            <a:off x="571500" y="1581912"/>
            <a:ext cx="11048695" cy="9144"/>
          </a:xfrm>
          <a:prstGeom prst="rect">
            <a:avLst/>
          </a:prstGeom>
          <a:solidFill>
            <a:srgbClr val="334155">
              <a:alpha val="50196"/>
            </a:srgbClr>
          </a:solidFill>
          <a:ln cap="flat" cmpd="sng" w="12700">
            <a:solidFill>
              <a:srgbClr val="33415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00" name="Google Shape;40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381305"/>
            <a:ext cx="1647749" cy="247802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10"/>
          <p:cNvSpPr/>
          <p:nvPr/>
        </p:nvSpPr>
        <p:spPr>
          <a:xfrm>
            <a:off x="571500" y="381305"/>
            <a:ext cx="1648663" cy="247802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12700">
            <a:solidFill>
              <a:srgbClr val="6366F1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5B4FC"/>
              </a:buClr>
              <a:buSzPts val="900"/>
              <a:buFont typeface="Noto Sans KR"/>
              <a:buNone/>
            </a:pPr>
            <a:r>
              <a:rPr b="1" i="0" lang="en-US" sz="900" u="none" cap="none" strike="noStrike">
                <a:solidFill>
                  <a:srgbClr val="A5B4FC"/>
                </a:solidFill>
                <a:latin typeface="Noto Sans KR"/>
                <a:ea typeface="Noto Sans KR"/>
                <a:cs typeface="Noto Sans KR"/>
                <a:sym typeface="Noto Sans KR"/>
              </a:rPr>
              <a:t>Information Theory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0"/>
          <p:cNvSpPr txBox="1"/>
          <p:nvPr/>
        </p:nvSpPr>
        <p:spPr>
          <a:xfrm>
            <a:off x="2325319" y="409651"/>
            <a:ext cx="1802282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Optimization Principle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0"/>
          <p:cNvSpPr txBox="1"/>
          <p:nvPr/>
        </p:nvSpPr>
        <p:spPr>
          <a:xfrm>
            <a:off x="571500" y="705002"/>
            <a:ext cx="11239805" cy="381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Noto Sans KR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정보 이론과의 연결: 놀라움(Surprise) 최소화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0"/>
          <p:cNvSpPr txBox="1"/>
          <p:nvPr/>
        </p:nvSpPr>
        <p:spPr>
          <a:xfrm>
            <a:off x="571500" y="1162202"/>
            <a:ext cx="11239805" cy="2670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Noto Sans KR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딥러닝 학습은 모델이 정답을 마주했을 때 느끼는 '놀라움'을 줄여나가는 과정입니다.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05" name="Google Shape;405;p10"/>
          <p:cNvPicPr preferRelativeResize="0"/>
          <p:nvPr/>
        </p:nvPicPr>
        <p:blipFill rotWithShape="1">
          <a:blip r:embed="rId4">
            <a:alphaModFix/>
          </a:blip>
          <a:srcRect b="-1" l="0" r="0" t="-1"/>
          <a:stretch/>
        </p:blipFill>
        <p:spPr>
          <a:xfrm>
            <a:off x="571500" y="1971446"/>
            <a:ext cx="3204058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10"/>
          <p:cNvSpPr/>
          <p:nvPr/>
        </p:nvSpPr>
        <p:spPr>
          <a:xfrm>
            <a:off x="809244" y="2877617"/>
            <a:ext cx="2734056" cy="9144"/>
          </a:xfrm>
          <a:prstGeom prst="rect">
            <a:avLst/>
          </a:prstGeom>
          <a:solidFill>
            <a:srgbClr val="94A3B8">
              <a:alpha val="10196"/>
            </a:srgbClr>
          </a:solidFill>
          <a:ln cap="flat" cmpd="sng" w="12700">
            <a:solidFill>
              <a:srgbClr val="94A3B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0"/>
          <p:cNvSpPr txBox="1"/>
          <p:nvPr/>
        </p:nvSpPr>
        <p:spPr>
          <a:xfrm>
            <a:off x="755294" y="2210105"/>
            <a:ext cx="2843784" cy="286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Noto Sans KR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1. 놀라움 (Surprise)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0"/>
          <p:cNvSpPr txBox="1"/>
          <p:nvPr/>
        </p:nvSpPr>
        <p:spPr>
          <a:xfrm>
            <a:off x="755294" y="2533802"/>
            <a:ext cx="2843784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Information Content: -log(p)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0"/>
          <p:cNvSpPr txBox="1"/>
          <p:nvPr/>
        </p:nvSpPr>
        <p:spPr>
          <a:xfrm>
            <a:off x="809244" y="3070555"/>
            <a:ext cx="1700784" cy="152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High Probability (흔한 사건)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0"/>
          <p:cNvSpPr txBox="1"/>
          <p:nvPr/>
        </p:nvSpPr>
        <p:spPr>
          <a:xfrm>
            <a:off x="2839212" y="3070555"/>
            <a:ext cx="839419" cy="152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Low Surprise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0"/>
          <p:cNvSpPr txBox="1"/>
          <p:nvPr/>
        </p:nvSpPr>
        <p:spPr>
          <a:xfrm>
            <a:off x="733349" y="3284525"/>
            <a:ext cx="64831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60A5FA"/>
                </a:solidFill>
                <a:latin typeface="Noto Sans KR"/>
                <a:ea typeface="Noto Sans KR"/>
                <a:cs typeface="Noto Sans KR"/>
                <a:sym typeface="Noto Sans KR"/>
              </a:rPr>
              <a:t>P=0.9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0"/>
          <p:cNvSpPr/>
          <p:nvPr/>
        </p:nvSpPr>
        <p:spPr>
          <a:xfrm>
            <a:off x="1476756" y="3261665"/>
            <a:ext cx="2066544" cy="228600"/>
          </a:xfrm>
          <a:prstGeom prst="roundRect">
            <a:avLst>
              <a:gd fmla="val 66667" name="adj"/>
            </a:avLst>
          </a:prstGeom>
          <a:solidFill>
            <a:srgbClr val="0F172A">
              <a:alpha val="50196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3" name="Google Shape;413;p10"/>
          <p:cNvPicPr preferRelativeResize="0"/>
          <p:nvPr/>
        </p:nvPicPr>
        <p:blipFill rotWithShape="1">
          <a:blip r:embed="rId5">
            <a:alphaModFix/>
          </a:blip>
          <a:srcRect b="0" l="-9" r="-8" t="0"/>
          <a:stretch/>
        </p:blipFill>
        <p:spPr>
          <a:xfrm>
            <a:off x="1476756" y="3261665"/>
            <a:ext cx="1855318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10"/>
          <p:cNvSpPr txBox="1"/>
          <p:nvPr/>
        </p:nvSpPr>
        <p:spPr>
          <a:xfrm>
            <a:off x="701345" y="3589020"/>
            <a:ext cx="680314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B7185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FB7185"/>
                </a:solidFill>
                <a:latin typeface="Noto Sans KR"/>
                <a:ea typeface="Noto Sans KR"/>
                <a:cs typeface="Noto Sans KR"/>
                <a:sym typeface="Noto Sans KR"/>
              </a:rPr>
              <a:t>Info=0.15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0"/>
          <p:cNvSpPr/>
          <p:nvPr/>
        </p:nvSpPr>
        <p:spPr>
          <a:xfrm>
            <a:off x="1476756" y="3566160"/>
            <a:ext cx="2066544" cy="228600"/>
          </a:xfrm>
          <a:prstGeom prst="roundRect">
            <a:avLst>
              <a:gd fmla="val 66667" name="adj"/>
            </a:avLst>
          </a:prstGeom>
          <a:solidFill>
            <a:srgbClr val="0F172A">
              <a:alpha val="50196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0"/>
          <p:cNvSpPr/>
          <p:nvPr/>
        </p:nvSpPr>
        <p:spPr>
          <a:xfrm>
            <a:off x="1476756" y="3566160"/>
            <a:ext cx="314554" cy="228600"/>
          </a:xfrm>
          <a:prstGeom prst="roundRect">
            <a:avLst>
              <a:gd fmla="val 66667" name="adj"/>
            </a:avLst>
          </a:prstGeom>
          <a:solidFill>
            <a:srgbClr val="F43F5E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0"/>
          <p:cNvSpPr txBox="1"/>
          <p:nvPr/>
        </p:nvSpPr>
        <p:spPr>
          <a:xfrm>
            <a:off x="809244" y="4137660"/>
            <a:ext cx="1666951" cy="152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Low Probability (희귀 사건)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0"/>
          <p:cNvSpPr txBox="1"/>
          <p:nvPr/>
        </p:nvSpPr>
        <p:spPr>
          <a:xfrm>
            <a:off x="2811780" y="4137660"/>
            <a:ext cx="873252" cy="152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High Surprise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0"/>
          <p:cNvSpPr txBox="1"/>
          <p:nvPr/>
        </p:nvSpPr>
        <p:spPr>
          <a:xfrm>
            <a:off x="733349" y="4350715"/>
            <a:ext cx="64831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60A5FA"/>
                </a:solidFill>
                <a:latin typeface="Noto Sans KR"/>
                <a:ea typeface="Noto Sans KR"/>
                <a:cs typeface="Noto Sans KR"/>
                <a:sym typeface="Noto Sans KR"/>
              </a:rPr>
              <a:t>P=0.1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0"/>
          <p:cNvSpPr/>
          <p:nvPr/>
        </p:nvSpPr>
        <p:spPr>
          <a:xfrm>
            <a:off x="1476756" y="4327855"/>
            <a:ext cx="2066544" cy="228600"/>
          </a:xfrm>
          <a:prstGeom prst="roundRect">
            <a:avLst>
              <a:gd fmla="val 66667" name="adj"/>
            </a:avLst>
          </a:prstGeom>
          <a:solidFill>
            <a:srgbClr val="0F172A">
              <a:alpha val="50196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21" name="Google Shape;421;p10"/>
          <p:cNvPicPr preferRelativeResize="0"/>
          <p:nvPr/>
        </p:nvPicPr>
        <p:blipFill rotWithShape="1">
          <a:blip r:embed="rId6">
            <a:alphaModFix/>
          </a:blip>
          <a:srcRect b="-57" l="0" r="0" t="-58"/>
          <a:stretch/>
        </p:blipFill>
        <p:spPr>
          <a:xfrm>
            <a:off x="1476756" y="4327855"/>
            <a:ext cx="20574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10"/>
          <p:cNvSpPr txBox="1"/>
          <p:nvPr/>
        </p:nvSpPr>
        <p:spPr>
          <a:xfrm>
            <a:off x="701345" y="4656125"/>
            <a:ext cx="680314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B7185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FB7185"/>
                </a:solidFill>
                <a:latin typeface="Noto Sans KR"/>
                <a:ea typeface="Noto Sans KR"/>
                <a:cs typeface="Noto Sans KR"/>
                <a:sym typeface="Noto Sans KR"/>
              </a:rPr>
              <a:t>Info=2.30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0"/>
          <p:cNvSpPr/>
          <p:nvPr/>
        </p:nvSpPr>
        <p:spPr>
          <a:xfrm>
            <a:off x="1476756" y="4633265"/>
            <a:ext cx="2066544" cy="228600"/>
          </a:xfrm>
          <a:prstGeom prst="roundRect">
            <a:avLst>
              <a:gd fmla="val 66667" name="adj"/>
            </a:avLst>
          </a:prstGeom>
          <a:solidFill>
            <a:srgbClr val="0F172A">
              <a:alpha val="50196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0"/>
          <p:cNvSpPr/>
          <p:nvPr/>
        </p:nvSpPr>
        <p:spPr>
          <a:xfrm>
            <a:off x="1476756" y="4633265"/>
            <a:ext cx="1857146" cy="228600"/>
          </a:xfrm>
          <a:prstGeom prst="roundRect">
            <a:avLst>
              <a:gd fmla="val 66667" name="adj"/>
            </a:avLst>
          </a:prstGeom>
          <a:solidFill>
            <a:srgbClr val="F43F5E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0"/>
          <p:cNvSpPr/>
          <p:nvPr/>
        </p:nvSpPr>
        <p:spPr>
          <a:xfrm>
            <a:off x="809244" y="4937760"/>
            <a:ext cx="2734056" cy="895198"/>
          </a:xfrm>
          <a:prstGeom prst="roundRect">
            <a:avLst>
              <a:gd fmla="val 8693" name="adj"/>
            </a:avLst>
          </a:prstGeom>
          <a:solidFill>
            <a:srgbClr val="3B82F6">
              <a:alpha val="10196"/>
            </a:srgbClr>
          </a:solidFill>
          <a:ln cap="flat" cmpd="sng" w="12700">
            <a:solidFill>
              <a:srgbClr val="3B82F6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0"/>
          <p:cNvSpPr txBox="1"/>
          <p:nvPr/>
        </p:nvSpPr>
        <p:spPr>
          <a:xfrm>
            <a:off x="933602" y="5061204"/>
            <a:ext cx="2585923" cy="152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00"/>
              <a:buFont typeface="Noto Sans KR"/>
              <a:buNone/>
            </a:pPr>
            <a:r>
              <a:rPr b="1" i="0" lang="en-US" sz="9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Intuition: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0"/>
          <p:cNvSpPr txBox="1"/>
          <p:nvPr/>
        </p:nvSpPr>
        <p:spPr>
          <a:xfrm>
            <a:off x="933602" y="5252314"/>
            <a:ext cx="256306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"해가 서쪽에서 뜬다"(낮은 확률)는 소식은 "동쪽에서 뜬다"(높은 확률)보다 더 많은 정보(놀라움)를 담고 있습니다.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0"/>
          <p:cNvSpPr/>
          <p:nvPr/>
        </p:nvSpPr>
        <p:spPr>
          <a:xfrm>
            <a:off x="3918204" y="3962095"/>
            <a:ext cx="437998" cy="19202"/>
          </a:xfrm>
          <a:prstGeom prst="rect">
            <a:avLst/>
          </a:prstGeom>
          <a:solidFill>
            <a:srgbClr val="475569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29" name="Google Shape;429;p10"/>
          <p:cNvPicPr preferRelativeResize="0"/>
          <p:nvPr/>
        </p:nvPicPr>
        <p:blipFill rotWithShape="1">
          <a:blip r:embed="rId7">
            <a:alphaModFix/>
          </a:blip>
          <a:srcRect b="-1" l="0" r="0" t="-1"/>
          <a:stretch/>
        </p:blipFill>
        <p:spPr>
          <a:xfrm>
            <a:off x="4494276" y="1971446"/>
            <a:ext cx="3204058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10"/>
          <p:cNvSpPr/>
          <p:nvPr/>
        </p:nvSpPr>
        <p:spPr>
          <a:xfrm>
            <a:off x="4732020" y="2877617"/>
            <a:ext cx="2734056" cy="9144"/>
          </a:xfrm>
          <a:prstGeom prst="rect">
            <a:avLst/>
          </a:prstGeom>
          <a:solidFill>
            <a:srgbClr val="94A3B8">
              <a:alpha val="10196"/>
            </a:srgbClr>
          </a:solidFill>
          <a:ln cap="flat" cmpd="sng" w="12700">
            <a:solidFill>
              <a:srgbClr val="94A3B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0"/>
          <p:cNvSpPr txBox="1"/>
          <p:nvPr/>
        </p:nvSpPr>
        <p:spPr>
          <a:xfrm>
            <a:off x="4636922" y="2210105"/>
            <a:ext cx="2924251" cy="286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Noto Sans KR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2. 크로스 엔트로피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0"/>
          <p:cNvSpPr txBox="1"/>
          <p:nvPr/>
        </p:nvSpPr>
        <p:spPr>
          <a:xfrm>
            <a:off x="4677156" y="2533802"/>
            <a:ext cx="2843784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DA4AF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FDA4AF"/>
                </a:solidFill>
                <a:latin typeface="Courier New"/>
                <a:ea typeface="Courier New"/>
                <a:cs typeface="Courier New"/>
                <a:sym typeface="Courier New"/>
              </a:rPr>
              <a:t>Expected Surprise H(P,Q)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0"/>
          <p:cNvSpPr/>
          <p:nvPr/>
        </p:nvSpPr>
        <p:spPr>
          <a:xfrm>
            <a:off x="4732020" y="3070555"/>
            <a:ext cx="2734056" cy="1933956"/>
          </a:xfrm>
          <a:prstGeom prst="roundRect">
            <a:avLst>
              <a:gd fmla="val 1863" name="adj"/>
            </a:avLst>
          </a:prstGeom>
          <a:solidFill>
            <a:srgbClr val="1E293B">
              <a:alpha val="50196"/>
            </a:srgbClr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0"/>
          <p:cNvSpPr txBox="1"/>
          <p:nvPr/>
        </p:nvSpPr>
        <p:spPr>
          <a:xfrm>
            <a:off x="4893869" y="3232404"/>
            <a:ext cx="886054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4D399"/>
                </a:solidFill>
                <a:latin typeface="Arial"/>
                <a:ea typeface="Arial"/>
                <a:cs typeface="Arial"/>
                <a:sym typeface="Arial"/>
              </a:rPr>
              <a:t>P(Correct)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0"/>
          <p:cNvSpPr txBox="1"/>
          <p:nvPr/>
        </p:nvSpPr>
        <p:spPr>
          <a:xfrm>
            <a:off x="6602882" y="3251606"/>
            <a:ext cx="851306" cy="152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실제 정답 분포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0"/>
          <p:cNvSpPr txBox="1"/>
          <p:nvPr/>
        </p:nvSpPr>
        <p:spPr>
          <a:xfrm>
            <a:off x="4893869" y="3499409"/>
            <a:ext cx="724205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0A5FA"/>
                </a:solidFill>
                <a:latin typeface="Arial"/>
                <a:ea typeface="Arial"/>
                <a:cs typeface="Arial"/>
                <a:sym typeface="Arial"/>
              </a:rPr>
              <a:t>Q(Model)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0"/>
          <p:cNvSpPr txBox="1"/>
          <p:nvPr/>
        </p:nvSpPr>
        <p:spPr>
          <a:xfrm>
            <a:off x="6602882" y="3518611"/>
            <a:ext cx="851306" cy="152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모델 예측 분포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0"/>
          <p:cNvSpPr/>
          <p:nvPr/>
        </p:nvSpPr>
        <p:spPr>
          <a:xfrm>
            <a:off x="4893869" y="3842309"/>
            <a:ext cx="2409444" cy="9144"/>
          </a:xfrm>
          <a:prstGeom prst="rect">
            <a:avLst/>
          </a:prstGeom>
          <a:solidFill>
            <a:srgbClr val="475569"/>
          </a:solidFill>
          <a:ln cap="flat" cmpd="sng" w="12700">
            <a:solidFill>
              <a:srgbClr val="47556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10"/>
          <p:cNvSpPr txBox="1"/>
          <p:nvPr/>
        </p:nvSpPr>
        <p:spPr>
          <a:xfrm>
            <a:off x="4855464" y="3966667"/>
            <a:ext cx="2486254" cy="381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정답(P)인 사건에 대해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모델(Q)이 느끼는 놀라움의 평균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40" name="Google Shape;440;p1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893869" y="4423867"/>
            <a:ext cx="2409444" cy="418795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p10"/>
          <p:cNvSpPr/>
          <p:nvPr/>
        </p:nvSpPr>
        <p:spPr>
          <a:xfrm>
            <a:off x="4893869" y="4423867"/>
            <a:ext cx="2410358" cy="419710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7185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B7185"/>
                </a:solidFill>
                <a:latin typeface="Arial"/>
                <a:ea typeface="Arial"/>
                <a:cs typeface="Arial"/>
                <a:sym typeface="Arial"/>
              </a:rPr>
              <a:t>Σ P(x) · [-log Q(x)]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0"/>
          <p:cNvSpPr/>
          <p:nvPr/>
        </p:nvSpPr>
        <p:spPr>
          <a:xfrm>
            <a:off x="4732020" y="5004511"/>
            <a:ext cx="2734056" cy="895198"/>
          </a:xfrm>
          <a:prstGeom prst="roundRect">
            <a:avLst>
              <a:gd fmla="val 8693" name="adj"/>
            </a:avLst>
          </a:prstGeom>
          <a:solidFill>
            <a:srgbClr val="F43F5E">
              <a:alpha val="10196"/>
            </a:srgbClr>
          </a:solidFill>
          <a:ln cap="flat" cmpd="sng" w="12700">
            <a:solidFill>
              <a:srgbClr val="F43F5E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0"/>
          <p:cNvSpPr txBox="1"/>
          <p:nvPr/>
        </p:nvSpPr>
        <p:spPr>
          <a:xfrm>
            <a:off x="4855464" y="5127955"/>
            <a:ext cx="2585923" cy="152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A4AF"/>
              </a:buClr>
              <a:buSzPts val="900"/>
              <a:buFont typeface="Noto Sans KR"/>
              <a:buNone/>
            </a:pPr>
            <a:r>
              <a:rPr b="1" i="0" lang="en-US" sz="900" u="none" cap="none" strike="noStrike">
                <a:solidFill>
                  <a:srgbClr val="FDA4AF"/>
                </a:solidFill>
                <a:latin typeface="Noto Sans KR"/>
                <a:ea typeface="Noto Sans KR"/>
                <a:cs typeface="Noto Sans KR"/>
                <a:sym typeface="Noto Sans KR"/>
              </a:rPr>
              <a:t>Meaning: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0"/>
          <p:cNvSpPr txBox="1"/>
          <p:nvPr/>
        </p:nvSpPr>
        <p:spPr>
          <a:xfrm>
            <a:off x="4855464" y="5319065"/>
            <a:ext cx="256306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ECDD3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FECDD3"/>
                </a:solidFill>
                <a:latin typeface="Noto Sans KR"/>
                <a:ea typeface="Noto Sans KR"/>
                <a:cs typeface="Noto Sans KR"/>
                <a:sym typeface="Noto Sans KR"/>
              </a:rPr>
              <a:t>실제 데이터 분포 P에서 표본을 뽑았을 때, 모델 Q가 이를 설명하기 위해 필요한 평균 비트 수(정보량)입니다.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0"/>
          <p:cNvSpPr/>
          <p:nvPr/>
        </p:nvSpPr>
        <p:spPr>
          <a:xfrm>
            <a:off x="7840980" y="3962095"/>
            <a:ext cx="437998" cy="19202"/>
          </a:xfrm>
          <a:prstGeom prst="rect">
            <a:avLst/>
          </a:prstGeom>
          <a:solidFill>
            <a:srgbClr val="475569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46" name="Google Shape;446;p10"/>
          <p:cNvPicPr preferRelativeResize="0"/>
          <p:nvPr/>
        </p:nvPicPr>
        <p:blipFill rotWithShape="1">
          <a:blip r:embed="rId9">
            <a:alphaModFix/>
          </a:blip>
          <a:srcRect b="-1" l="0" r="0" t="-1"/>
          <a:stretch/>
        </p:blipFill>
        <p:spPr>
          <a:xfrm>
            <a:off x="8416138" y="1971446"/>
            <a:ext cx="3204058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10"/>
          <p:cNvSpPr/>
          <p:nvPr/>
        </p:nvSpPr>
        <p:spPr>
          <a:xfrm>
            <a:off x="8654796" y="2877617"/>
            <a:ext cx="2734056" cy="9144"/>
          </a:xfrm>
          <a:prstGeom prst="rect">
            <a:avLst/>
          </a:prstGeom>
          <a:solidFill>
            <a:srgbClr val="94A3B8">
              <a:alpha val="10196"/>
            </a:srgbClr>
          </a:solidFill>
          <a:ln cap="flat" cmpd="sng" w="12700">
            <a:solidFill>
              <a:srgbClr val="94A3B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0"/>
          <p:cNvSpPr txBox="1"/>
          <p:nvPr/>
        </p:nvSpPr>
        <p:spPr>
          <a:xfrm>
            <a:off x="8599932" y="2210105"/>
            <a:ext cx="2843784" cy="286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Noto Sans KR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3. KL 발산 (학습 목표)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0"/>
          <p:cNvSpPr txBox="1"/>
          <p:nvPr/>
        </p:nvSpPr>
        <p:spPr>
          <a:xfrm>
            <a:off x="8599932" y="2533802"/>
            <a:ext cx="2843784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B4FE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D8B4FE"/>
                </a:solidFill>
                <a:latin typeface="Courier New"/>
                <a:ea typeface="Courier New"/>
                <a:cs typeface="Courier New"/>
                <a:sym typeface="Courier New"/>
              </a:rPr>
              <a:t>Distance: KL(P||Q)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0"/>
          <p:cNvSpPr/>
          <p:nvPr/>
        </p:nvSpPr>
        <p:spPr>
          <a:xfrm>
            <a:off x="9560966" y="3907231"/>
            <a:ext cx="914400" cy="1920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1" name="Google Shape;451;p1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838944" y="3840480"/>
            <a:ext cx="362102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10"/>
          <p:cNvSpPr/>
          <p:nvPr/>
        </p:nvSpPr>
        <p:spPr>
          <a:xfrm>
            <a:off x="9838944" y="3840480"/>
            <a:ext cx="362102" cy="152705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B4FE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D8B4FE"/>
                </a:solidFill>
                <a:latin typeface="Arial"/>
                <a:ea typeface="Arial"/>
                <a:cs typeface="Arial"/>
                <a:sym typeface="Arial"/>
              </a:rPr>
              <a:t>Gap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0"/>
          <p:cNvSpPr txBox="1"/>
          <p:nvPr/>
        </p:nvSpPr>
        <p:spPr>
          <a:xfrm>
            <a:off x="8599932" y="4610405"/>
            <a:ext cx="2843784" cy="152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D5FF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E9D5FF"/>
                </a:solidFill>
                <a:latin typeface="Noto Sans KR"/>
                <a:ea typeface="Noto Sans KR"/>
                <a:cs typeface="Noto Sans KR"/>
                <a:sym typeface="Noto Sans KR"/>
              </a:rPr>
              <a:t>학습 = Gap(KL)을 0으로 만드는 과정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0"/>
          <p:cNvSpPr/>
          <p:nvPr/>
        </p:nvSpPr>
        <p:spPr>
          <a:xfrm>
            <a:off x="8654796" y="4762195"/>
            <a:ext cx="2734056" cy="972007"/>
          </a:xfrm>
          <a:prstGeom prst="roundRect">
            <a:avLst>
              <a:gd fmla="val 7378" name="adj"/>
            </a:avLst>
          </a:prstGeom>
          <a:solidFill>
            <a:srgbClr val="A855F7">
              <a:alpha val="10196"/>
            </a:srgbClr>
          </a:solidFill>
          <a:ln cap="flat" cmpd="sng" w="12700">
            <a:solidFill>
              <a:srgbClr val="A855F7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0"/>
          <p:cNvSpPr txBox="1"/>
          <p:nvPr/>
        </p:nvSpPr>
        <p:spPr>
          <a:xfrm>
            <a:off x="8778240" y="4886554"/>
            <a:ext cx="2585923" cy="152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B4FE"/>
              </a:buClr>
              <a:buSzPts val="900"/>
              <a:buFont typeface="Noto Sans KR"/>
              <a:buNone/>
            </a:pPr>
            <a:r>
              <a:rPr b="1" i="0" lang="en-US" sz="900" u="none" cap="none" strike="noStrike">
                <a:solidFill>
                  <a:srgbClr val="D8B4FE"/>
                </a:solidFill>
                <a:latin typeface="Noto Sans KR"/>
                <a:ea typeface="Noto Sans KR"/>
                <a:cs typeface="Noto Sans KR"/>
                <a:sym typeface="Noto Sans KR"/>
              </a:rPr>
              <a:t>Optimization: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0"/>
          <p:cNvSpPr txBox="1"/>
          <p:nvPr/>
        </p:nvSpPr>
        <p:spPr>
          <a:xfrm>
            <a:off x="8778240" y="5076749"/>
            <a:ext cx="2677363" cy="152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D5FF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E9D5FF"/>
                </a:solidFill>
                <a:latin typeface="Noto Sans KR"/>
                <a:ea typeface="Noto Sans KR"/>
                <a:cs typeface="Noto Sans KR"/>
                <a:sym typeface="Noto Sans KR"/>
              </a:rPr>
              <a:t>H(P)는 데이터 고유의 불확실성 (상수)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0"/>
          <p:cNvSpPr txBox="1"/>
          <p:nvPr/>
        </p:nvSpPr>
        <p:spPr>
          <a:xfrm>
            <a:off x="8778240" y="5266944"/>
            <a:ext cx="2585923" cy="152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D5FF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E9D5FF"/>
                </a:solidFill>
                <a:latin typeface="Noto Sans KR"/>
                <a:ea typeface="Noto Sans KR"/>
                <a:cs typeface="Noto Sans KR"/>
                <a:sym typeface="Noto Sans KR"/>
              </a:rPr>
              <a:t>CE 최소화 ≡ KL(거리) 최소화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0"/>
          <p:cNvSpPr txBox="1"/>
          <p:nvPr/>
        </p:nvSpPr>
        <p:spPr>
          <a:xfrm>
            <a:off x="8778240" y="5458054"/>
            <a:ext cx="2677363" cy="152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D5FF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E9D5FF"/>
                </a:solidFill>
                <a:latin typeface="Noto Sans KR"/>
                <a:ea typeface="Noto Sans KR"/>
                <a:cs typeface="Noto Sans KR"/>
                <a:sym typeface="Noto Sans KR"/>
              </a:rPr>
              <a:t>즉, 분포 P와 Q를 일치시키는 것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59" name="Google Shape;459;p10"/>
          <p:cNvPicPr preferRelativeResize="0"/>
          <p:nvPr/>
        </p:nvPicPr>
        <p:blipFill rotWithShape="1">
          <a:blip r:embed="rId11">
            <a:alphaModFix/>
          </a:blip>
          <a:srcRect b="-47" l="0" r="0" t="-47"/>
          <a:stretch/>
        </p:blipFill>
        <p:spPr>
          <a:xfrm>
            <a:off x="2553919" y="6238951"/>
            <a:ext cx="7082942" cy="514807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0"/>
          <p:cNvSpPr txBox="1"/>
          <p:nvPr/>
        </p:nvSpPr>
        <p:spPr>
          <a:xfrm>
            <a:off x="2868473" y="6400800"/>
            <a:ext cx="724205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Insight: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0"/>
          <p:cNvSpPr txBox="1"/>
          <p:nvPr/>
        </p:nvSpPr>
        <p:spPr>
          <a:xfrm>
            <a:off x="3661258" y="6362395"/>
            <a:ext cx="2862986" cy="2670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7185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B7185"/>
                </a:solidFill>
                <a:latin typeface="Arial"/>
                <a:ea typeface="Arial"/>
                <a:cs typeface="Arial"/>
                <a:sym typeface="Arial"/>
              </a:rPr>
              <a:t>H(P,Q)</a:t>
            </a:r>
            <a:r>
              <a:rPr b="0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="0" i="0" lang="en-US" sz="15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H(P)</a:t>
            </a:r>
            <a:r>
              <a:rPr b="0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b="1" i="0" lang="en-US" sz="1500" u="none" cap="none" strike="noStrike">
                <a:solidFill>
                  <a:srgbClr val="C084FC"/>
                </a:solidFill>
                <a:latin typeface="Arial"/>
                <a:ea typeface="Arial"/>
                <a:cs typeface="Arial"/>
                <a:sym typeface="Arial"/>
              </a:rPr>
              <a:t>KL(P||Q)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0"/>
          <p:cNvSpPr/>
          <p:nvPr/>
        </p:nvSpPr>
        <p:spPr>
          <a:xfrm>
            <a:off x="6633972" y="6420002"/>
            <a:ext cx="9144" cy="152705"/>
          </a:xfrm>
          <a:prstGeom prst="rect">
            <a:avLst/>
          </a:prstGeom>
          <a:solidFill>
            <a:srgbClr val="475569"/>
          </a:solidFill>
          <a:ln cap="flat" cmpd="sng" w="12700">
            <a:solidFill>
              <a:srgbClr val="47556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10"/>
          <p:cNvSpPr txBox="1"/>
          <p:nvPr/>
        </p:nvSpPr>
        <p:spPr>
          <a:xfrm>
            <a:off x="6795821" y="6420002"/>
            <a:ext cx="3046781" cy="152705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(Cross-Entropy) = (Data Entropy) + (Divergence)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64" name="Google Shape;464;p1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599078" y="3803904"/>
            <a:ext cx="1076249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10"/>
          <p:cNvSpPr/>
          <p:nvPr/>
        </p:nvSpPr>
        <p:spPr>
          <a:xfrm>
            <a:off x="3599078" y="3803904"/>
            <a:ext cx="1077163" cy="342900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25400">
            <a:solidFill>
              <a:srgbClr val="F43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3F5E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F43F5E"/>
                </a:solidFill>
                <a:latin typeface="Courier New"/>
                <a:ea typeface="Courier New"/>
                <a:cs typeface="Courier New"/>
                <a:sym typeface="Courier New"/>
              </a:rPr>
              <a:t>Average Sum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66" name="Google Shape;466;p1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595006" y="3803904"/>
            <a:ext cx="933602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10"/>
          <p:cNvSpPr/>
          <p:nvPr/>
        </p:nvSpPr>
        <p:spPr>
          <a:xfrm>
            <a:off x="7595006" y="3803904"/>
            <a:ext cx="933602" cy="342900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25400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A855F7"/>
                </a:solidFill>
                <a:latin typeface="Courier New"/>
                <a:ea typeface="Courier New"/>
                <a:cs typeface="Courier New"/>
                <a:sym typeface="Courier New"/>
              </a:rPr>
              <a:t>Decompose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68" name="Google Shape;468;p10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485071" y="3535985"/>
            <a:ext cx="761695" cy="761695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10"/>
          <p:cNvSpPr/>
          <p:nvPr/>
        </p:nvSpPr>
        <p:spPr>
          <a:xfrm>
            <a:off x="9485071" y="3535985"/>
            <a:ext cx="762610" cy="762610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254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1FAE5"/>
              </a:buClr>
              <a:buSzPts val="1200"/>
              <a:buFont typeface="Noto Sans KR"/>
              <a:buNone/>
            </a:pPr>
            <a:r>
              <a:rPr b="1" i="0" lang="en-US" sz="1200" u="none" cap="none" strike="noStrike">
                <a:solidFill>
                  <a:srgbClr val="D1FAE5"/>
                </a:solidFill>
                <a:latin typeface="Noto Sans KR"/>
                <a:ea typeface="Noto Sans KR"/>
                <a:cs typeface="Noto Sans KR"/>
                <a:sym typeface="Noto Sans KR"/>
              </a:rPr>
              <a:t>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70" name="Google Shape;470;p10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9789566" y="3535985"/>
            <a:ext cx="761695" cy="761695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10"/>
          <p:cNvSpPr/>
          <p:nvPr/>
        </p:nvSpPr>
        <p:spPr>
          <a:xfrm>
            <a:off x="9789566" y="3535985"/>
            <a:ext cx="762610" cy="762610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25400">
            <a:solidFill>
              <a:srgbClr val="60A5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BEAFE"/>
              </a:buClr>
              <a:buSzPts val="1200"/>
              <a:buFont typeface="Noto Sans KR"/>
              <a:buNone/>
            </a:pPr>
            <a:r>
              <a:rPr b="1" i="0" lang="en-US" sz="1200" u="none" cap="none" strike="noStrike">
                <a:solidFill>
                  <a:srgbClr val="DBEAFE"/>
                </a:solidFill>
                <a:latin typeface="Noto Sans KR"/>
                <a:ea typeface="Noto Sans KR"/>
                <a:cs typeface="Noto Sans KR"/>
                <a:sym typeface="Noto Sans KR"/>
              </a:rPr>
              <a:t>Q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1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78" name="Google Shape;478;p11"/>
          <p:cNvPicPr preferRelativeResize="0"/>
          <p:nvPr/>
        </p:nvPicPr>
        <p:blipFill rotWithShape="1">
          <a:blip r:embed="rId3">
            <a:alphaModFix/>
          </a:blip>
          <a:srcRect b="-1" l="0" r="0" t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9" name="Google Shape;479;p11"/>
          <p:cNvSpPr/>
          <p:nvPr/>
        </p:nvSpPr>
        <p:spPr>
          <a:xfrm>
            <a:off x="571500" y="6124651"/>
            <a:ext cx="11048695" cy="9144"/>
          </a:xfrm>
          <a:prstGeom prst="rect">
            <a:avLst/>
          </a:prstGeom>
          <a:solidFill>
            <a:srgbClr val="1E293B">
              <a:alpha val="50196"/>
            </a:srgbClr>
          </a:solidFill>
          <a:ln cap="flat" cmpd="sng" w="12700">
            <a:solidFill>
              <a:srgbClr val="1E293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80" name="Google Shape;480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6314846"/>
            <a:ext cx="133502" cy="133502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11"/>
          <p:cNvSpPr txBox="1"/>
          <p:nvPr/>
        </p:nvSpPr>
        <p:spPr>
          <a:xfrm>
            <a:off x="780898" y="6286500"/>
            <a:ext cx="2211019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Red Line: Gradient Magnitude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82" name="Google Shape;482;p11"/>
          <p:cNvPicPr preferRelativeResize="0"/>
          <p:nvPr/>
        </p:nvPicPr>
        <p:blipFill rotWithShape="1">
          <a:blip r:embed="rId5">
            <a:alphaModFix/>
          </a:blip>
          <a:srcRect b="0" l="-1506" r="-1506" t="0"/>
          <a:stretch/>
        </p:blipFill>
        <p:spPr>
          <a:xfrm>
            <a:off x="2866644" y="6314846"/>
            <a:ext cx="171907" cy="133502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11"/>
          <p:cNvSpPr txBox="1"/>
          <p:nvPr/>
        </p:nvSpPr>
        <p:spPr>
          <a:xfrm>
            <a:off x="3114446" y="6286500"/>
            <a:ext cx="1995221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Model Output (Probability)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1"/>
          <p:cNvSpPr txBox="1"/>
          <p:nvPr/>
        </p:nvSpPr>
        <p:spPr>
          <a:xfrm>
            <a:off x="10084003" y="6286500"/>
            <a:ext cx="183703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09 MSE vs Cross-Entropy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85" name="Google Shape;485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81305"/>
            <a:ext cx="1123798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11"/>
          <p:cNvSpPr/>
          <p:nvPr/>
        </p:nvSpPr>
        <p:spPr>
          <a:xfrm>
            <a:off x="571500" y="381305"/>
            <a:ext cx="1124712" cy="228600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Noto Sans KR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Optimization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1"/>
          <p:cNvSpPr txBox="1"/>
          <p:nvPr/>
        </p:nvSpPr>
        <p:spPr>
          <a:xfrm>
            <a:off x="1805026" y="400507"/>
            <a:ext cx="1893722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Step 9: Gradient Analysis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1"/>
          <p:cNvSpPr txBox="1"/>
          <p:nvPr/>
        </p:nvSpPr>
        <p:spPr>
          <a:xfrm>
            <a:off x="571500" y="685800"/>
            <a:ext cx="11354105" cy="381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Noto Sans KR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왜 분류에서 MSE를 안 쓸까?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1"/>
          <p:cNvSpPr txBox="1"/>
          <p:nvPr/>
        </p:nvSpPr>
        <p:spPr>
          <a:xfrm>
            <a:off x="571500" y="1143000"/>
            <a:ext cx="11163910" cy="2670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Noto Sans KR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기울기 소실(Gradient Vanishing) 문제와 Cross-Entropy의 해결책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1"/>
          <p:cNvSpPr/>
          <p:nvPr/>
        </p:nvSpPr>
        <p:spPr>
          <a:xfrm>
            <a:off x="571500" y="1714500"/>
            <a:ext cx="4914900" cy="4181551"/>
          </a:xfrm>
          <a:prstGeom prst="roundRect">
            <a:avLst>
              <a:gd fmla="val 797" name="adj"/>
            </a:avLst>
          </a:prstGeom>
          <a:solidFill>
            <a:srgbClr val="50141E">
              <a:alpha val="30196"/>
            </a:srgbClr>
          </a:solidFill>
          <a:ln cap="flat" cmpd="sng" w="12700">
            <a:solidFill>
              <a:srgbClr val="F43F5E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1" name="Google Shape;491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9244" y="1571854"/>
            <a:ext cx="1248156" cy="267005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p11"/>
          <p:cNvSpPr/>
          <p:nvPr/>
        </p:nvSpPr>
        <p:spPr>
          <a:xfrm>
            <a:off x="1171346" y="1571854"/>
            <a:ext cx="886054" cy="267005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Noto Sans KR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Bad Choice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93" name="Google Shape;493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1949" y="1645006"/>
            <a:ext cx="133502" cy="133502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11"/>
          <p:cNvSpPr/>
          <p:nvPr/>
        </p:nvSpPr>
        <p:spPr>
          <a:xfrm>
            <a:off x="809244" y="2676449"/>
            <a:ext cx="4438498" cy="9144"/>
          </a:xfrm>
          <a:prstGeom prst="rect">
            <a:avLst/>
          </a:prstGeom>
          <a:solidFill>
            <a:srgbClr val="F43F5E">
              <a:alpha val="30196"/>
            </a:srgbClr>
          </a:solidFill>
          <a:ln cap="flat" cmpd="sng" w="12700">
            <a:solidFill>
              <a:srgbClr val="F43F5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11"/>
          <p:cNvSpPr txBox="1"/>
          <p:nvPr/>
        </p:nvSpPr>
        <p:spPr>
          <a:xfrm>
            <a:off x="809244" y="2104949"/>
            <a:ext cx="1910182" cy="3054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7185"/>
              </a:buClr>
              <a:buSzPts val="1800"/>
              <a:buFont typeface="Noto Sans KR"/>
              <a:buNone/>
            </a:pPr>
            <a:r>
              <a:rPr b="1" i="0" lang="en-US" sz="1800" u="none" cap="none" strike="noStrike">
                <a:solidFill>
                  <a:srgbClr val="FB7185"/>
                </a:solidFill>
                <a:latin typeface="Noto Sans KR"/>
                <a:ea typeface="Noto Sans KR"/>
                <a:cs typeface="Noto Sans KR"/>
                <a:sym typeface="Noto Sans KR"/>
              </a:rPr>
              <a:t>MSE + Sigmoid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1"/>
          <p:cNvSpPr txBox="1"/>
          <p:nvPr/>
        </p:nvSpPr>
        <p:spPr>
          <a:xfrm>
            <a:off x="809244" y="2409444"/>
            <a:ext cx="1752905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ECDD3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FECDD3"/>
                </a:solidFill>
                <a:latin typeface="Noto Sans KR"/>
                <a:ea typeface="Noto Sans KR"/>
                <a:cs typeface="Noto Sans KR"/>
                <a:sym typeface="Noto Sans KR"/>
              </a:rPr>
              <a:t>Mean Squared Error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1"/>
          <p:cNvSpPr txBox="1"/>
          <p:nvPr/>
        </p:nvSpPr>
        <p:spPr>
          <a:xfrm>
            <a:off x="4554626" y="2447849"/>
            <a:ext cx="695858" cy="152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DA4A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DA4AF"/>
                </a:solidFill>
                <a:latin typeface="Arial"/>
                <a:ea typeface="Arial"/>
                <a:cs typeface="Arial"/>
                <a:sym typeface="Arial"/>
              </a:rPr>
              <a:t>∂L/∂W ≈ 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98" name="Google Shape;498;p11"/>
          <p:cNvPicPr preferRelativeResize="0"/>
          <p:nvPr/>
        </p:nvPicPr>
        <p:blipFill rotWithShape="1">
          <a:blip r:embed="rId9">
            <a:alphaModFix/>
          </a:blip>
          <a:srcRect b="-4" l="0" r="0" t="-4"/>
          <a:stretch/>
        </p:blipFill>
        <p:spPr>
          <a:xfrm>
            <a:off x="809244" y="2762402"/>
            <a:ext cx="4438498" cy="1438351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11"/>
          <p:cNvSpPr/>
          <p:nvPr/>
        </p:nvSpPr>
        <p:spPr>
          <a:xfrm>
            <a:off x="809244" y="4352544"/>
            <a:ext cx="4438498" cy="961949"/>
          </a:xfrm>
          <a:prstGeom prst="roundRect">
            <a:avLst>
              <a:gd fmla="val 7529" name="adj"/>
            </a:avLst>
          </a:prstGeom>
          <a:solidFill>
            <a:srgbClr val="881337">
              <a:alpha val="40000"/>
            </a:srgbClr>
          </a:solidFill>
          <a:ln cap="flat" cmpd="sng" w="12700">
            <a:solidFill>
              <a:srgbClr val="F43F5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11"/>
          <p:cNvSpPr txBox="1"/>
          <p:nvPr/>
        </p:nvSpPr>
        <p:spPr>
          <a:xfrm>
            <a:off x="1200607" y="4515307"/>
            <a:ext cx="4000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A4AF"/>
              </a:buClr>
              <a:buSzPts val="1200"/>
              <a:buFont typeface="Noto Sans KR"/>
              <a:buNone/>
            </a:pPr>
            <a:r>
              <a:rPr b="1" i="0" lang="en-US" sz="1200" u="none" cap="none" strike="noStrike">
                <a:solidFill>
                  <a:srgbClr val="FDA4AF"/>
                </a:solidFill>
                <a:latin typeface="Noto Sans KR"/>
                <a:ea typeface="Noto Sans KR"/>
                <a:cs typeface="Noto Sans KR"/>
                <a:sym typeface="Noto Sans KR"/>
              </a:rPr>
              <a:t>기울기 소실 (Vanishing)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01" name="Google Shape;501;p1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72007" y="4562856"/>
            <a:ext cx="15270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502" name="Google Shape;502;p11"/>
          <p:cNvSpPr txBox="1"/>
          <p:nvPr/>
        </p:nvSpPr>
        <p:spPr>
          <a:xfrm>
            <a:off x="972007" y="4781398"/>
            <a:ext cx="4191610" cy="3721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예측이 완전히 틀려도(오차가 커도), Sigmoid의 양 끝단(포화 구간)에서는 미분값이 0에 가까워져 가중치가 업데이트되지 않습니다.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03" name="Google Shape;503;p1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022653" y="5477256"/>
            <a:ext cx="2018995" cy="209398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11"/>
          <p:cNvSpPr/>
          <p:nvPr/>
        </p:nvSpPr>
        <p:spPr>
          <a:xfrm>
            <a:off x="2022653" y="5477256"/>
            <a:ext cx="2019910" cy="210312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718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B7185"/>
                </a:solidFill>
                <a:latin typeface="Arial"/>
                <a:ea typeface="Arial"/>
                <a:cs typeface="Arial"/>
                <a:sym typeface="Arial"/>
              </a:rPr>
              <a:t>Gradient = (ŷ - y) × σ'(z)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1"/>
          <p:cNvSpPr txBox="1"/>
          <p:nvPr/>
        </p:nvSpPr>
        <p:spPr>
          <a:xfrm>
            <a:off x="2099462" y="5514746"/>
            <a:ext cx="1867205" cy="1335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718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B7185"/>
                </a:solidFill>
                <a:latin typeface="Arial"/>
                <a:ea typeface="Arial"/>
                <a:cs typeface="Arial"/>
                <a:sym typeface="Arial"/>
              </a:rPr>
              <a:t>Gradient = (ŷ - y) × σ'(z)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06" name="Google Shape;506;p11"/>
          <p:cNvPicPr preferRelativeResize="0"/>
          <p:nvPr/>
        </p:nvPicPr>
        <p:blipFill rotWithShape="1">
          <a:blip r:embed="rId12">
            <a:alphaModFix/>
          </a:blip>
          <a:srcRect b="0" l="-399" r="-399" t="0"/>
          <a:stretch/>
        </p:blipFill>
        <p:spPr>
          <a:xfrm>
            <a:off x="6086246" y="1714500"/>
            <a:ext cx="19202" cy="4181551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11"/>
          <p:cNvSpPr/>
          <p:nvPr/>
        </p:nvSpPr>
        <p:spPr>
          <a:xfrm>
            <a:off x="6705295" y="1714500"/>
            <a:ext cx="4914900" cy="4181551"/>
          </a:xfrm>
          <a:prstGeom prst="roundRect">
            <a:avLst>
              <a:gd fmla="val 797" name="adj"/>
            </a:avLst>
          </a:prstGeom>
          <a:solidFill>
            <a:srgbClr val="064E3B">
              <a:alpha val="30196"/>
            </a:srgbClr>
          </a:solidFill>
          <a:ln cap="flat" cmpd="sng" w="12700">
            <a:solidFill>
              <a:srgbClr val="10B981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08" name="Google Shape;508;p1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943954" y="1571854"/>
            <a:ext cx="1343254" cy="267005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p11"/>
          <p:cNvSpPr/>
          <p:nvPr/>
        </p:nvSpPr>
        <p:spPr>
          <a:xfrm>
            <a:off x="7306056" y="1571854"/>
            <a:ext cx="981151" cy="267005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Noto Sans KR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Good Choice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10" name="Google Shape;510;p11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7095744" y="1645006"/>
            <a:ext cx="133502" cy="133502"/>
          </a:xfrm>
          <a:prstGeom prst="rect">
            <a:avLst/>
          </a:prstGeom>
          <a:noFill/>
          <a:ln>
            <a:noFill/>
          </a:ln>
        </p:spPr>
      </p:pic>
      <p:sp>
        <p:nvSpPr>
          <p:cNvPr id="511" name="Google Shape;511;p11"/>
          <p:cNvSpPr/>
          <p:nvPr/>
        </p:nvSpPr>
        <p:spPr>
          <a:xfrm>
            <a:off x="6943954" y="2676449"/>
            <a:ext cx="4438498" cy="9144"/>
          </a:xfrm>
          <a:prstGeom prst="rect">
            <a:avLst/>
          </a:prstGeom>
          <a:solidFill>
            <a:srgbClr val="10B981">
              <a:alpha val="30196"/>
            </a:srgbClr>
          </a:solidFill>
          <a:ln cap="flat" cmpd="sng" w="12700">
            <a:solidFill>
              <a:srgbClr val="10B98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11"/>
          <p:cNvSpPr txBox="1"/>
          <p:nvPr/>
        </p:nvSpPr>
        <p:spPr>
          <a:xfrm>
            <a:off x="6943954" y="2104949"/>
            <a:ext cx="1904695" cy="3054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800"/>
              <a:buFont typeface="Noto Sans KR"/>
              <a:buNone/>
            </a:pPr>
            <a:r>
              <a:rPr b="1" i="0" lang="en-US" sz="1800" u="none" cap="none" strike="noStrike">
                <a:solidFill>
                  <a:srgbClr val="34D399"/>
                </a:solidFill>
                <a:latin typeface="Noto Sans KR"/>
                <a:ea typeface="Noto Sans KR"/>
                <a:cs typeface="Noto Sans KR"/>
                <a:sym typeface="Noto Sans KR"/>
              </a:rPr>
              <a:t>Cross-Entropy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1"/>
          <p:cNvSpPr txBox="1"/>
          <p:nvPr/>
        </p:nvSpPr>
        <p:spPr>
          <a:xfrm>
            <a:off x="6943954" y="2409444"/>
            <a:ext cx="167701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A7F3D0"/>
                </a:solidFill>
                <a:latin typeface="Noto Sans KR"/>
                <a:ea typeface="Noto Sans KR"/>
                <a:cs typeface="Noto Sans KR"/>
                <a:sym typeface="Noto Sans KR"/>
              </a:rPr>
              <a:t>Maximum Likelihood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1"/>
          <p:cNvSpPr txBox="1"/>
          <p:nvPr/>
        </p:nvSpPr>
        <p:spPr>
          <a:xfrm>
            <a:off x="10368382" y="2447849"/>
            <a:ext cx="1019556" cy="152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E7B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EE7B7"/>
                </a:solidFill>
                <a:latin typeface="Arial"/>
                <a:ea typeface="Arial"/>
                <a:cs typeface="Arial"/>
                <a:sym typeface="Arial"/>
              </a:rPr>
              <a:t>∂L/∂W ∝ Error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15" name="Google Shape;515;p11"/>
          <p:cNvPicPr preferRelativeResize="0"/>
          <p:nvPr/>
        </p:nvPicPr>
        <p:blipFill rotWithShape="1">
          <a:blip r:embed="rId15">
            <a:alphaModFix/>
          </a:blip>
          <a:srcRect b="-4" l="0" r="0" t="-4"/>
          <a:stretch/>
        </p:blipFill>
        <p:spPr>
          <a:xfrm>
            <a:off x="6943954" y="2762402"/>
            <a:ext cx="4438498" cy="1438351"/>
          </a:xfrm>
          <a:prstGeom prst="rect">
            <a:avLst/>
          </a:prstGeom>
          <a:noFill/>
          <a:ln>
            <a:noFill/>
          </a:ln>
        </p:spPr>
      </p:pic>
      <p:sp>
        <p:nvSpPr>
          <p:cNvPr id="516" name="Google Shape;516;p11"/>
          <p:cNvSpPr/>
          <p:nvPr/>
        </p:nvSpPr>
        <p:spPr>
          <a:xfrm>
            <a:off x="6943954" y="4352544"/>
            <a:ext cx="4438498" cy="961949"/>
          </a:xfrm>
          <a:prstGeom prst="roundRect">
            <a:avLst>
              <a:gd fmla="val 7529" name="adj"/>
            </a:avLst>
          </a:prstGeom>
          <a:solidFill>
            <a:srgbClr val="064E3B">
              <a:alpha val="40000"/>
            </a:srgbClr>
          </a:solidFill>
          <a:ln cap="flat" cmpd="sng" w="12700">
            <a:solidFill>
              <a:srgbClr val="10B981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11"/>
          <p:cNvSpPr txBox="1"/>
          <p:nvPr/>
        </p:nvSpPr>
        <p:spPr>
          <a:xfrm>
            <a:off x="7334402" y="4515307"/>
            <a:ext cx="407731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E7B7"/>
              </a:buClr>
              <a:buSzPts val="1200"/>
              <a:buFont typeface="Noto Sans KR"/>
              <a:buNone/>
            </a:pPr>
            <a:r>
              <a:rPr b="1" i="0" lang="en-US" sz="1200" u="none" cap="none" strike="noStrike">
                <a:solidFill>
                  <a:srgbClr val="6EE7B7"/>
                </a:solidFill>
                <a:latin typeface="Noto Sans KR"/>
                <a:ea typeface="Noto Sans KR"/>
                <a:cs typeface="Noto Sans KR"/>
                <a:sym typeface="Noto Sans KR"/>
              </a:rPr>
              <a:t>빠른 학습 속도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18" name="Google Shape;518;p11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7105802" y="4562856"/>
            <a:ext cx="15270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519" name="Google Shape;519;p11"/>
          <p:cNvSpPr txBox="1"/>
          <p:nvPr/>
        </p:nvSpPr>
        <p:spPr>
          <a:xfrm>
            <a:off x="7105802" y="4781398"/>
            <a:ext cx="4191610" cy="3721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Softmax와 결합되면 복잡한 미분항이 사라집니다. 오차가 클수록 기울기도 정비례하여 커지므로 초반 학습이 매우 빠릅니다.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20" name="Google Shape;520;p11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8500262" y="5477256"/>
            <a:ext cx="1333195" cy="209398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p11"/>
          <p:cNvSpPr/>
          <p:nvPr/>
        </p:nvSpPr>
        <p:spPr>
          <a:xfrm>
            <a:off x="8500262" y="5477256"/>
            <a:ext cx="1334110" cy="210312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4D399"/>
                </a:solidFill>
                <a:latin typeface="Arial"/>
                <a:ea typeface="Arial"/>
                <a:cs typeface="Arial"/>
                <a:sym typeface="Arial"/>
              </a:rPr>
              <a:t>Gradient = ŷ - 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1"/>
          <p:cNvSpPr txBox="1"/>
          <p:nvPr/>
        </p:nvSpPr>
        <p:spPr>
          <a:xfrm>
            <a:off x="8576158" y="5514746"/>
            <a:ext cx="1181405" cy="1335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4D399"/>
                </a:solidFill>
                <a:latin typeface="Arial"/>
                <a:ea typeface="Arial"/>
                <a:cs typeface="Arial"/>
                <a:sym typeface="Arial"/>
              </a:rPr>
              <a:t>Gradient = ŷ - 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23" name="Google Shape;523;p11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5867705" y="357621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11"/>
          <p:cNvSpPr txBox="1"/>
          <p:nvPr/>
        </p:nvSpPr>
        <p:spPr>
          <a:xfrm>
            <a:off x="5987491" y="3672230"/>
            <a:ext cx="295351" cy="2670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Noto Sans KR"/>
              <a:buNone/>
            </a:pPr>
            <a:r>
              <a:rPr b="1" i="1" lang="en-US" sz="13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VS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1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1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32" name="Google Shape;53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381305"/>
            <a:ext cx="1162202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p12"/>
          <p:cNvSpPr/>
          <p:nvPr/>
        </p:nvSpPr>
        <p:spPr>
          <a:xfrm>
            <a:off x="571500" y="381305"/>
            <a:ext cx="1162202" cy="228600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Noto Sans KR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Visualization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2"/>
          <p:cNvSpPr txBox="1"/>
          <p:nvPr/>
        </p:nvSpPr>
        <p:spPr>
          <a:xfrm>
            <a:off x="1844345" y="400507"/>
            <a:ext cx="1907438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Loss Landscape Geometry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2"/>
          <p:cNvSpPr txBox="1"/>
          <p:nvPr/>
        </p:nvSpPr>
        <p:spPr>
          <a:xfrm>
            <a:off x="571500" y="685800"/>
            <a:ext cx="11239805" cy="381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Noto Sans KR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손실 지형(Loss Landscape)의 시각화와 탐험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2"/>
          <p:cNvSpPr txBox="1"/>
          <p:nvPr/>
        </p:nvSpPr>
        <p:spPr>
          <a:xfrm>
            <a:off x="571500" y="1143000"/>
            <a:ext cx="11239805" cy="2670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Noto Sans KR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수백만 개의 파라미터가 만드는 다차원 오차 공간을 '안개 낀 거대 산맥'으로 상상해 봅시다.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2"/>
          <p:cNvSpPr txBox="1"/>
          <p:nvPr/>
        </p:nvSpPr>
        <p:spPr>
          <a:xfrm>
            <a:off x="868680" y="6324905"/>
            <a:ext cx="2295144" cy="152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 3D Visualization of Loss Surface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12"/>
          <p:cNvSpPr txBox="1"/>
          <p:nvPr/>
        </p:nvSpPr>
        <p:spPr>
          <a:xfrm>
            <a:off x="4788713" y="6324905"/>
            <a:ext cx="1867205" cy="152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Z-axis: Loss Value (Error)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2"/>
          <p:cNvSpPr/>
          <p:nvPr/>
        </p:nvSpPr>
        <p:spPr>
          <a:xfrm>
            <a:off x="6953098" y="1714500"/>
            <a:ext cx="4667098" cy="1390802"/>
          </a:xfrm>
          <a:prstGeom prst="roundRect">
            <a:avLst>
              <a:gd fmla="val 7205" name="adj"/>
            </a:avLst>
          </a:prstGeom>
          <a:solidFill>
            <a:srgbClr val="1E293B">
              <a:alpha val="40000"/>
            </a:srgbClr>
          </a:solidFill>
          <a:ln cap="flat" cmpd="sng" w="12700">
            <a:solidFill>
              <a:srgbClr val="94A3B8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12"/>
          <p:cNvSpPr/>
          <p:nvPr/>
        </p:nvSpPr>
        <p:spPr>
          <a:xfrm>
            <a:off x="7153351" y="1952244"/>
            <a:ext cx="457200" cy="457200"/>
          </a:xfrm>
          <a:prstGeom prst="roundRect">
            <a:avLst>
              <a:gd fmla="val 33333" name="adj"/>
            </a:avLst>
          </a:prstGeom>
          <a:solidFill>
            <a:srgbClr val="6366F1">
              <a:alpha val="20000"/>
            </a:srgbClr>
          </a:solidFill>
          <a:ln cap="flat" cmpd="sng" w="12700">
            <a:solidFill>
              <a:srgbClr val="6366F1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41" name="Google Shape;541;p12"/>
          <p:cNvPicPr preferRelativeResize="0"/>
          <p:nvPr/>
        </p:nvPicPr>
        <p:blipFill rotWithShape="1">
          <a:blip r:embed="rId4">
            <a:alphaModFix/>
          </a:blip>
          <a:srcRect b="-20192" l="0" r="0" t="-20192"/>
          <a:stretch/>
        </p:blipFill>
        <p:spPr>
          <a:xfrm>
            <a:off x="7286854" y="2048256"/>
            <a:ext cx="190195" cy="267005"/>
          </a:xfrm>
          <a:prstGeom prst="rect">
            <a:avLst/>
          </a:prstGeom>
          <a:noFill/>
          <a:ln>
            <a:noFill/>
          </a:ln>
        </p:spPr>
      </p:pic>
      <p:sp>
        <p:nvSpPr>
          <p:cNvPr id="542" name="Google Shape;542;p12"/>
          <p:cNvSpPr txBox="1"/>
          <p:nvPr/>
        </p:nvSpPr>
        <p:spPr>
          <a:xfrm>
            <a:off x="7763256" y="1914754"/>
            <a:ext cx="3771900" cy="2670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Noto Sans KR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1. 지형 (Terrain) = 오차의 형상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2"/>
          <p:cNvSpPr txBox="1"/>
          <p:nvPr/>
        </p:nvSpPr>
        <p:spPr>
          <a:xfrm>
            <a:off x="7763256" y="2257654"/>
            <a:ext cx="3734410" cy="6574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이 거대한 산맥의 </a:t>
            </a:r>
            <a:r>
              <a:rPr b="1" i="0" lang="en-US" sz="10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높이(Height)</a:t>
            </a:r>
            <a:r>
              <a:rPr b="0" i="0" lang="en-US" sz="10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는 </a:t>
            </a:r>
            <a:r>
              <a:rPr b="1" i="0" lang="en-US" sz="10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손실(Loss)</a:t>
            </a:r>
            <a:r>
              <a:rPr b="0" i="0" lang="en-US" sz="10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을 의미합니다. 가중치(W)의 변화에 따라 손실 값이 어떻게 변하는지 보여주는 지도입니다. 우리의 목표는 가장 낮은 계곡 바닥으로 내려가는 것입니다.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12"/>
          <p:cNvSpPr/>
          <p:nvPr/>
        </p:nvSpPr>
        <p:spPr>
          <a:xfrm>
            <a:off x="6953098" y="3328416"/>
            <a:ext cx="4667098" cy="1390802"/>
          </a:xfrm>
          <a:prstGeom prst="roundRect">
            <a:avLst>
              <a:gd fmla="val 7205" name="adj"/>
            </a:avLst>
          </a:prstGeom>
          <a:solidFill>
            <a:srgbClr val="1E293B">
              <a:alpha val="40000"/>
            </a:srgbClr>
          </a:solidFill>
          <a:ln cap="flat" cmpd="sng" w="12700">
            <a:solidFill>
              <a:srgbClr val="94A3B8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12"/>
          <p:cNvSpPr/>
          <p:nvPr/>
        </p:nvSpPr>
        <p:spPr>
          <a:xfrm>
            <a:off x="7153351" y="3566160"/>
            <a:ext cx="457200" cy="457200"/>
          </a:xfrm>
          <a:prstGeom prst="roundRect">
            <a:avLst>
              <a:gd fmla="val 33333" name="adj"/>
            </a:avLst>
          </a:prstGeom>
          <a:solidFill>
            <a:srgbClr val="64748B">
              <a:alpha val="20000"/>
            </a:srgbClr>
          </a:solidFill>
          <a:ln cap="flat" cmpd="sng" w="12700">
            <a:solidFill>
              <a:srgbClr val="64748B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46" name="Google Shape;546;p12"/>
          <p:cNvPicPr preferRelativeResize="0"/>
          <p:nvPr/>
        </p:nvPicPr>
        <p:blipFill rotWithShape="1">
          <a:blip r:embed="rId5">
            <a:alphaModFix/>
          </a:blip>
          <a:srcRect b="-20192" l="0" r="0" t="-20192"/>
          <a:stretch/>
        </p:blipFill>
        <p:spPr>
          <a:xfrm>
            <a:off x="7263079" y="3661258"/>
            <a:ext cx="237744" cy="267005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12"/>
          <p:cNvSpPr txBox="1"/>
          <p:nvPr/>
        </p:nvSpPr>
        <p:spPr>
          <a:xfrm>
            <a:off x="7763256" y="3527755"/>
            <a:ext cx="3771900" cy="2670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Noto Sans KR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2. 안개 (Fog) = 국소적 정보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12"/>
          <p:cNvSpPr txBox="1"/>
          <p:nvPr/>
        </p:nvSpPr>
        <p:spPr>
          <a:xfrm>
            <a:off x="7763256" y="3870655"/>
            <a:ext cx="3734410" cy="6574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실제 학습 시에는 전체 지도를 볼 수 없습니다. 마치 짙은 안개 속에 있는 것과 같습니다. 오직 </a:t>
            </a:r>
            <a:r>
              <a:rPr b="1" i="0" lang="en-US" sz="10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현재 위치에서의 발밑 기울기(Gradient)</a:t>
            </a:r>
            <a:r>
              <a:rPr b="0" i="0" lang="en-US" sz="10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만을 감지하여 방향을 결정합니다.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2"/>
          <p:cNvSpPr/>
          <p:nvPr/>
        </p:nvSpPr>
        <p:spPr>
          <a:xfrm>
            <a:off x="6953098" y="4941418"/>
            <a:ext cx="4667098" cy="1390802"/>
          </a:xfrm>
          <a:prstGeom prst="roundRect">
            <a:avLst>
              <a:gd fmla="val 7205" name="adj"/>
            </a:avLst>
          </a:prstGeom>
          <a:solidFill>
            <a:srgbClr val="1E293B">
              <a:alpha val="40000"/>
            </a:srgbClr>
          </a:solidFill>
          <a:ln cap="flat" cmpd="sng" w="12700">
            <a:solidFill>
              <a:srgbClr val="94A3B8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12"/>
          <p:cNvSpPr/>
          <p:nvPr/>
        </p:nvSpPr>
        <p:spPr>
          <a:xfrm>
            <a:off x="7153351" y="5180076"/>
            <a:ext cx="457200" cy="457200"/>
          </a:xfrm>
          <a:prstGeom prst="roundRect">
            <a:avLst>
              <a:gd fmla="val 33333" name="adj"/>
            </a:avLst>
          </a:prstGeom>
          <a:solidFill>
            <a:srgbClr val="10B981">
              <a:alpha val="20000"/>
            </a:srgbClr>
          </a:solidFill>
          <a:ln cap="flat" cmpd="sng" w="12700">
            <a:solidFill>
              <a:srgbClr val="10B981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51" name="Google Shape;551;p12"/>
          <p:cNvPicPr preferRelativeResize="0"/>
          <p:nvPr/>
        </p:nvPicPr>
        <p:blipFill rotWithShape="1">
          <a:blip r:embed="rId6">
            <a:alphaModFix/>
          </a:blip>
          <a:srcRect b="-20192" l="0" r="0" t="-20192"/>
          <a:stretch/>
        </p:blipFill>
        <p:spPr>
          <a:xfrm>
            <a:off x="7286854" y="5275174"/>
            <a:ext cx="190195" cy="267005"/>
          </a:xfrm>
          <a:prstGeom prst="rect">
            <a:avLst/>
          </a:prstGeom>
          <a:noFill/>
          <a:ln>
            <a:noFill/>
          </a:ln>
        </p:spPr>
      </p:pic>
      <p:sp>
        <p:nvSpPr>
          <p:cNvPr id="552" name="Google Shape;552;p12"/>
          <p:cNvSpPr txBox="1"/>
          <p:nvPr/>
        </p:nvSpPr>
        <p:spPr>
          <a:xfrm>
            <a:off x="7763256" y="5141671"/>
            <a:ext cx="3771900" cy="2670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Noto Sans KR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3. 탐험 (Expedition) = 최적화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12"/>
          <p:cNvSpPr txBox="1"/>
          <p:nvPr/>
        </p:nvSpPr>
        <p:spPr>
          <a:xfrm>
            <a:off x="7763256" y="5484571"/>
            <a:ext cx="373441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SGD나 Adam 같은 </a:t>
            </a:r>
            <a:r>
              <a:rPr b="1" i="0" lang="en-US" sz="10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최적화 알고리즘(Optimizer)</a:t>
            </a:r>
            <a:r>
              <a:rPr b="0" i="0" lang="en-US" sz="10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은 이 험난한 지형에서 최저점을 찾아가는 탐험가의 나침반이자 이동 전략입니다.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54" name="Google Shape;554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7395" y="6329477"/>
            <a:ext cx="1143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55" name="Google Shape;555;p12"/>
          <p:cNvPicPr preferRelativeResize="0"/>
          <p:nvPr/>
        </p:nvPicPr>
        <p:blipFill rotWithShape="1">
          <a:blip r:embed="rId8">
            <a:alphaModFix/>
          </a:blip>
          <a:srcRect b="-2" l="0" r="0" t="-2"/>
          <a:stretch/>
        </p:blipFill>
        <p:spPr>
          <a:xfrm>
            <a:off x="571500" y="1714500"/>
            <a:ext cx="6077102" cy="44961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56" name="Google Shape;556;p12"/>
          <p:cNvPicPr preferRelativeResize="0"/>
          <p:nvPr/>
        </p:nvPicPr>
        <p:blipFill rotWithShape="1">
          <a:blip r:embed="rId9">
            <a:alphaModFix/>
          </a:blip>
          <a:srcRect b="0" l="12237" r="12238" t="0"/>
          <a:stretch/>
        </p:blipFill>
        <p:spPr>
          <a:xfrm>
            <a:off x="580644" y="1723644"/>
            <a:ext cx="6057900" cy="44769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57" name="Google Shape;557;p1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80644" y="1723644"/>
            <a:ext cx="6057900" cy="44769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58" name="Google Shape;558;p1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009998" y="3290926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559" name="Google Shape;559;p12"/>
          <p:cNvSpPr/>
          <p:nvPr/>
        </p:nvSpPr>
        <p:spPr>
          <a:xfrm>
            <a:off x="4529938" y="2881274"/>
            <a:ext cx="1000354" cy="437998"/>
          </a:xfrm>
          <a:prstGeom prst="roundRect">
            <a:avLst>
              <a:gd fmla="val 18154" name="adj"/>
            </a:avLst>
          </a:prstGeom>
          <a:solidFill>
            <a:srgbClr val="000000">
              <a:alpha val="80000"/>
            </a:srgbClr>
          </a:solidFill>
          <a:ln cap="flat" cmpd="sng" w="12700">
            <a:solidFill>
              <a:srgbClr val="FFFFFF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12"/>
          <p:cNvSpPr txBox="1"/>
          <p:nvPr/>
        </p:nvSpPr>
        <p:spPr>
          <a:xfrm>
            <a:off x="4615891" y="2928823"/>
            <a:ext cx="986638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Noto Sans KR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High Loss Area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12"/>
          <p:cNvSpPr txBox="1"/>
          <p:nvPr/>
        </p:nvSpPr>
        <p:spPr>
          <a:xfrm>
            <a:off x="4615891" y="3100730"/>
            <a:ext cx="905256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A4AF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FDA4AF"/>
                </a:solidFill>
                <a:latin typeface="Noto Sans KR"/>
                <a:ea typeface="Noto Sans KR"/>
                <a:cs typeface="Noto Sans KR"/>
                <a:sym typeface="Noto Sans KR"/>
              </a:rPr>
              <a:t>Start Point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62" name="Google Shape;562;p1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003804" y="5305349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563" name="Google Shape;563;p12"/>
          <p:cNvSpPr/>
          <p:nvPr/>
        </p:nvSpPr>
        <p:spPr>
          <a:xfrm>
            <a:off x="2472538" y="4895698"/>
            <a:ext cx="1104595" cy="437998"/>
          </a:xfrm>
          <a:prstGeom prst="roundRect">
            <a:avLst>
              <a:gd fmla="val 18154" name="adj"/>
            </a:avLst>
          </a:prstGeom>
          <a:solidFill>
            <a:srgbClr val="000000">
              <a:alpha val="80000"/>
            </a:srgbClr>
          </a:solidFill>
          <a:ln cap="flat" cmpd="sng" w="12700">
            <a:solidFill>
              <a:srgbClr val="FFFFFF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12"/>
          <p:cNvSpPr txBox="1"/>
          <p:nvPr/>
        </p:nvSpPr>
        <p:spPr>
          <a:xfrm>
            <a:off x="2558491" y="4943246"/>
            <a:ext cx="1029614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Noto Sans KR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Global Minimum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12"/>
          <p:cNvSpPr txBox="1"/>
          <p:nvPr/>
        </p:nvSpPr>
        <p:spPr>
          <a:xfrm>
            <a:off x="2558491" y="5115154"/>
            <a:ext cx="1010412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E7B7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6EE7B7"/>
                </a:solidFill>
                <a:latin typeface="Noto Sans KR"/>
                <a:ea typeface="Noto Sans KR"/>
                <a:cs typeface="Noto Sans KR"/>
                <a:sym typeface="Noto Sans KR"/>
              </a:rPr>
              <a:t>Goal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1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1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13"/>
          <p:cNvSpPr/>
          <p:nvPr/>
        </p:nvSpPr>
        <p:spPr>
          <a:xfrm>
            <a:off x="0" y="0"/>
            <a:ext cx="6096305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13"/>
          <p:cNvSpPr/>
          <p:nvPr/>
        </p:nvSpPr>
        <p:spPr>
          <a:xfrm>
            <a:off x="6087161" y="0"/>
            <a:ext cx="9144" cy="6858000"/>
          </a:xfrm>
          <a:prstGeom prst="rect">
            <a:avLst/>
          </a:prstGeom>
          <a:solidFill>
            <a:srgbClr val="94A3B8">
              <a:alpha val="10196"/>
            </a:srgbClr>
          </a:solidFill>
          <a:ln cap="flat" cmpd="sng" w="12700">
            <a:solidFill>
              <a:srgbClr val="94A3B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75" name="Google Shape;575;p13"/>
          <p:cNvPicPr preferRelativeResize="0"/>
          <p:nvPr/>
        </p:nvPicPr>
        <p:blipFill rotWithShape="1">
          <a:blip r:embed="rId3">
            <a:alphaModFix/>
          </a:blip>
          <a:srcRect b="0" l="25232" r="25233" t="0"/>
          <a:stretch/>
        </p:blipFill>
        <p:spPr>
          <a:xfrm>
            <a:off x="0" y="0"/>
            <a:ext cx="6086248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76" name="Google Shape;576;p13"/>
          <p:cNvSpPr/>
          <p:nvPr/>
        </p:nvSpPr>
        <p:spPr>
          <a:xfrm>
            <a:off x="6096305" y="0"/>
            <a:ext cx="6096305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77" name="Google Shape;57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72707" y="559613"/>
            <a:ext cx="1143000" cy="247802"/>
          </a:xfrm>
          <a:prstGeom prst="rect">
            <a:avLst/>
          </a:prstGeom>
          <a:noFill/>
          <a:ln>
            <a:noFill/>
          </a:ln>
        </p:spPr>
      </p:pic>
      <p:sp>
        <p:nvSpPr>
          <p:cNvPr id="578" name="Google Shape;578;p13"/>
          <p:cNvSpPr/>
          <p:nvPr/>
        </p:nvSpPr>
        <p:spPr>
          <a:xfrm>
            <a:off x="6572707" y="559613"/>
            <a:ext cx="1143000" cy="247802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12700">
            <a:solidFill>
              <a:srgbClr val="F59E0B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900"/>
              <a:buFont typeface="Noto Sans KR"/>
              <a:buNone/>
            </a:pPr>
            <a:r>
              <a:rPr b="1" i="0" lang="en-US" sz="900" u="none" cap="none" strike="noStrike">
                <a:solidFill>
                  <a:srgbClr val="FBBF24"/>
                </a:solidFill>
                <a:latin typeface="Noto Sans KR"/>
                <a:ea typeface="Noto Sans KR"/>
                <a:cs typeface="Noto Sans KR"/>
                <a:sym typeface="Noto Sans KR"/>
              </a:rPr>
              <a:t>Optimization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13"/>
          <p:cNvSpPr txBox="1"/>
          <p:nvPr/>
        </p:nvSpPr>
        <p:spPr>
          <a:xfrm>
            <a:off x="7824521" y="587959"/>
            <a:ext cx="1907438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Loss Landscape Geometry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13"/>
          <p:cNvSpPr txBox="1"/>
          <p:nvPr/>
        </p:nvSpPr>
        <p:spPr>
          <a:xfrm>
            <a:off x="6572707" y="883310"/>
            <a:ext cx="5811926" cy="4288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2700"/>
              <a:buFont typeface="Noto Sans KR"/>
              <a:buNone/>
            </a:pPr>
            <a:r>
              <a:rPr b="1" i="0" lang="en-US" sz="2700" u="none" cap="none" strike="noStrike">
                <a:solidFill>
                  <a:srgbClr val="FBBF24"/>
                </a:solidFill>
                <a:latin typeface="Noto Sans KR"/>
                <a:ea typeface="Noto Sans KR"/>
                <a:cs typeface="Noto Sans KR"/>
                <a:sym typeface="Noto Sans KR"/>
              </a:rPr>
              <a:t>웅덩이</a:t>
            </a:r>
            <a:r>
              <a:rPr b="1" i="0" lang="en-US" sz="27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와 </a:t>
            </a:r>
            <a:r>
              <a:rPr b="1" i="0" lang="en-US" sz="2700" u="none" cap="none" strike="noStrike">
                <a:solidFill>
                  <a:srgbClr val="34D399"/>
                </a:solidFill>
                <a:latin typeface="Noto Sans KR"/>
                <a:ea typeface="Noto Sans KR"/>
                <a:cs typeface="Noto Sans KR"/>
                <a:sym typeface="Noto Sans KR"/>
              </a:rPr>
              <a:t>진짜 바닥</a:t>
            </a:r>
            <a:r>
              <a:rPr b="1" i="0" lang="en-US" sz="27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의 차이 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13"/>
          <p:cNvSpPr txBox="1"/>
          <p:nvPr/>
        </p:nvSpPr>
        <p:spPr>
          <a:xfrm>
            <a:off x="6572707" y="1388059"/>
            <a:ext cx="5334610" cy="2670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Noto Sans KR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눈앞의 내리막길이 항상 바닥으로 이어지지는 않습니다.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13"/>
          <p:cNvSpPr/>
          <p:nvPr/>
        </p:nvSpPr>
        <p:spPr>
          <a:xfrm>
            <a:off x="6572707" y="1959559"/>
            <a:ext cx="5143500" cy="1143000"/>
          </a:xfrm>
          <a:prstGeom prst="roundRect">
            <a:avLst>
              <a:gd fmla="val 8000" name="adj"/>
            </a:avLst>
          </a:prstGeom>
          <a:solidFill>
            <a:srgbClr val="1E293B">
              <a:alpha val="40000"/>
            </a:srgbClr>
          </a:solidFill>
          <a:ln cap="flat" cmpd="sng" w="12700">
            <a:solidFill>
              <a:srgbClr val="94A3B8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13"/>
          <p:cNvSpPr/>
          <p:nvPr/>
        </p:nvSpPr>
        <p:spPr>
          <a:xfrm>
            <a:off x="6572707" y="1959559"/>
            <a:ext cx="38405" cy="1143000"/>
          </a:xfrm>
          <a:prstGeom prst="roundRect">
            <a:avLst>
              <a:gd fmla="val 238094" name="adj"/>
            </a:avLst>
          </a:prstGeom>
          <a:solidFill>
            <a:srgbClr val="F59E0B"/>
          </a:solidFill>
          <a:ln cap="flat" cmpd="sng" w="12700">
            <a:solidFill>
              <a:srgbClr val="F59E0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13"/>
          <p:cNvSpPr/>
          <p:nvPr/>
        </p:nvSpPr>
        <p:spPr>
          <a:xfrm>
            <a:off x="6801307" y="2159813"/>
            <a:ext cx="381305" cy="381305"/>
          </a:xfrm>
          <a:prstGeom prst="roundRect">
            <a:avLst>
              <a:gd fmla="val 47962" name="adj"/>
            </a:avLst>
          </a:prstGeom>
          <a:solidFill>
            <a:srgbClr val="F59E0B">
              <a:alpha val="10196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85" name="Google Shape;585;p13"/>
          <p:cNvPicPr preferRelativeResize="0"/>
          <p:nvPr/>
        </p:nvPicPr>
        <p:blipFill rotWithShape="1">
          <a:blip r:embed="rId5">
            <a:alphaModFix/>
          </a:blip>
          <a:srcRect b="-18437" l="0" r="0" t="-18437"/>
          <a:stretch/>
        </p:blipFill>
        <p:spPr>
          <a:xfrm>
            <a:off x="6881774" y="2216506"/>
            <a:ext cx="219456" cy="267005"/>
          </a:xfrm>
          <a:prstGeom prst="rect">
            <a:avLst/>
          </a:prstGeom>
          <a:noFill/>
          <a:ln>
            <a:noFill/>
          </a:ln>
        </p:spPr>
      </p:pic>
      <p:sp>
        <p:nvSpPr>
          <p:cNvPr id="586" name="Google Shape;586;p13"/>
          <p:cNvSpPr txBox="1"/>
          <p:nvPr/>
        </p:nvSpPr>
        <p:spPr>
          <a:xfrm>
            <a:off x="7334402" y="2159813"/>
            <a:ext cx="4295851" cy="2670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EF3C7"/>
              </a:buClr>
              <a:buSzPts val="1300"/>
              <a:buFont typeface="Noto Sans KR"/>
              <a:buNone/>
            </a:pPr>
            <a:r>
              <a:rPr b="1" i="0" lang="en-US" sz="1300" u="none" cap="none" strike="noStrike">
                <a:solidFill>
                  <a:srgbClr val="FEF3C7"/>
                </a:solidFill>
                <a:latin typeface="Noto Sans KR"/>
                <a:ea typeface="Noto Sans KR"/>
                <a:cs typeface="Noto Sans KR"/>
                <a:sym typeface="Noto Sans KR"/>
              </a:rPr>
              <a:t>Local Minima (지역 최솟값)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13"/>
          <p:cNvSpPr txBox="1"/>
          <p:nvPr/>
        </p:nvSpPr>
        <p:spPr>
          <a:xfrm>
            <a:off x="7334402" y="2464308"/>
            <a:ext cx="4258361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주변보다는 낮지만 전체에서 가장 낮은 곳은 아닙니다. 이곳에 빠지면 기울기(Gradient)가 0이 되어 학습이 정체됩니다.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13"/>
          <p:cNvSpPr/>
          <p:nvPr/>
        </p:nvSpPr>
        <p:spPr>
          <a:xfrm>
            <a:off x="6572707" y="3250692"/>
            <a:ext cx="5143500" cy="1143000"/>
          </a:xfrm>
          <a:prstGeom prst="roundRect">
            <a:avLst>
              <a:gd fmla="val 8000" name="adj"/>
            </a:avLst>
          </a:prstGeom>
          <a:solidFill>
            <a:srgbClr val="1E293B">
              <a:alpha val="40000"/>
            </a:srgbClr>
          </a:solidFill>
          <a:ln cap="flat" cmpd="sng" w="12700">
            <a:solidFill>
              <a:srgbClr val="94A3B8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13"/>
          <p:cNvSpPr/>
          <p:nvPr/>
        </p:nvSpPr>
        <p:spPr>
          <a:xfrm>
            <a:off x="6572707" y="3250692"/>
            <a:ext cx="38405" cy="1143000"/>
          </a:xfrm>
          <a:prstGeom prst="roundRect">
            <a:avLst>
              <a:gd fmla="val 238094" name="adj"/>
            </a:avLst>
          </a:prstGeom>
          <a:solidFill>
            <a:srgbClr val="10B981"/>
          </a:solidFill>
          <a:ln cap="flat" cmpd="sng" w="12700">
            <a:solidFill>
              <a:srgbClr val="10B98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13"/>
          <p:cNvSpPr/>
          <p:nvPr/>
        </p:nvSpPr>
        <p:spPr>
          <a:xfrm>
            <a:off x="6801307" y="3450031"/>
            <a:ext cx="381305" cy="381305"/>
          </a:xfrm>
          <a:prstGeom prst="roundRect">
            <a:avLst>
              <a:gd fmla="val 47962" name="adj"/>
            </a:avLst>
          </a:prstGeom>
          <a:solidFill>
            <a:srgbClr val="10B981">
              <a:alpha val="10196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91" name="Google Shape;591;p13"/>
          <p:cNvPicPr preferRelativeResize="0"/>
          <p:nvPr/>
        </p:nvPicPr>
        <p:blipFill rotWithShape="1">
          <a:blip r:embed="rId6">
            <a:alphaModFix/>
          </a:blip>
          <a:srcRect b="-17952" l="0" r="0" t="-17952"/>
          <a:stretch/>
        </p:blipFill>
        <p:spPr>
          <a:xfrm>
            <a:off x="6905549" y="3507638"/>
            <a:ext cx="171907" cy="267005"/>
          </a:xfrm>
          <a:prstGeom prst="rect">
            <a:avLst/>
          </a:prstGeom>
          <a:noFill/>
          <a:ln>
            <a:noFill/>
          </a:ln>
        </p:spPr>
      </p:pic>
      <p:sp>
        <p:nvSpPr>
          <p:cNvPr id="592" name="Google Shape;592;p13"/>
          <p:cNvSpPr txBox="1"/>
          <p:nvPr/>
        </p:nvSpPr>
        <p:spPr>
          <a:xfrm>
            <a:off x="7334402" y="3450031"/>
            <a:ext cx="4295851" cy="2670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FAE5"/>
              </a:buClr>
              <a:buSzPts val="1300"/>
              <a:buFont typeface="Noto Sans KR"/>
              <a:buNone/>
            </a:pPr>
            <a:r>
              <a:rPr b="1" i="0" lang="en-US" sz="1300" u="none" cap="none" strike="noStrike">
                <a:solidFill>
                  <a:srgbClr val="D1FAE5"/>
                </a:solidFill>
                <a:latin typeface="Noto Sans KR"/>
                <a:ea typeface="Noto Sans KR"/>
                <a:cs typeface="Noto Sans KR"/>
                <a:sym typeface="Noto Sans KR"/>
              </a:rPr>
              <a:t>Global Minimum (전역 최솟값)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13"/>
          <p:cNvSpPr txBox="1"/>
          <p:nvPr/>
        </p:nvSpPr>
        <p:spPr>
          <a:xfrm>
            <a:off x="7334402" y="3755441"/>
            <a:ext cx="4258361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오차(Loss)가 가장 작은 이상적인 지점입니다. 딥러닝 학습의 최종 목표는 수많은 웅덩이를 지나 이곳에 도달하는 것입니다.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13"/>
          <p:cNvSpPr/>
          <p:nvPr/>
        </p:nvSpPr>
        <p:spPr>
          <a:xfrm>
            <a:off x="6572707" y="4540910"/>
            <a:ext cx="5143500" cy="1143000"/>
          </a:xfrm>
          <a:prstGeom prst="roundRect">
            <a:avLst>
              <a:gd fmla="val 8000" name="adj"/>
            </a:avLst>
          </a:prstGeom>
          <a:solidFill>
            <a:srgbClr val="1E293B">
              <a:alpha val="40000"/>
            </a:srgbClr>
          </a:solidFill>
          <a:ln cap="flat" cmpd="sng" w="12700">
            <a:solidFill>
              <a:srgbClr val="94A3B8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13"/>
          <p:cNvSpPr/>
          <p:nvPr/>
        </p:nvSpPr>
        <p:spPr>
          <a:xfrm>
            <a:off x="6572707" y="4540910"/>
            <a:ext cx="38405" cy="1143000"/>
          </a:xfrm>
          <a:prstGeom prst="roundRect">
            <a:avLst>
              <a:gd fmla="val 238094" name="adj"/>
            </a:avLst>
          </a:prstGeom>
          <a:solidFill>
            <a:srgbClr val="3B82F6"/>
          </a:solidFill>
          <a:ln cap="flat" cmpd="sng" w="12700">
            <a:solidFill>
              <a:srgbClr val="3B82F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13"/>
          <p:cNvSpPr/>
          <p:nvPr/>
        </p:nvSpPr>
        <p:spPr>
          <a:xfrm>
            <a:off x="6801307" y="4741164"/>
            <a:ext cx="381305" cy="381305"/>
          </a:xfrm>
          <a:prstGeom prst="roundRect">
            <a:avLst>
              <a:gd fmla="val 47962" name="adj"/>
            </a:avLst>
          </a:prstGeom>
          <a:solidFill>
            <a:srgbClr val="3B82F6">
              <a:alpha val="10196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97" name="Google Shape;597;p13"/>
          <p:cNvPicPr preferRelativeResize="0"/>
          <p:nvPr/>
        </p:nvPicPr>
        <p:blipFill rotWithShape="1">
          <a:blip r:embed="rId7">
            <a:alphaModFix/>
          </a:blip>
          <a:srcRect b="-20192" l="0" r="0" t="-20192"/>
          <a:stretch/>
        </p:blipFill>
        <p:spPr>
          <a:xfrm>
            <a:off x="6872630" y="4797857"/>
            <a:ext cx="237744" cy="267005"/>
          </a:xfrm>
          <a:prstGeom prst="rect">
            <a:avLst/>
          </a:prstGeom>
          <a:noFill/>
          <a:ln>
            <a:noFill/>
          </a:ln>
        </p:spPr>
      </p:pic>
      <p:sp>
        <p:nvSpPr>
          <p:cNvPr id="598" name="Google Shape;598;p13"/>
          <p:cNvSpPr txBox="1"/>
          <p:nvPr/>
        </p:nvSpPr>
        <p:spPr>
          <a:xfrm>
            <a:off x="7334402" y="4741164"/>
            <a:ext cx="4295851" cy="2670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BEAFE"/>
              </a:buClr>
              <a:buSzPts val="1300"/>
              <a:buFont typeface="Noto Sans KR"/>
              <a:buNone/>
            </a:pPr>
            <a:r>
              <a:rPr b="1" i="0" lang="en-US" sz="1300" u="none" cap="none" strike="noStrike">
                <a:solidFill>
                  <a:srgbClr val="DBEAFE"/>
                </a:solidFill>
                <a:latin typeface="Noto Sans KR"/>
                <a:ea typeface="Noto Sans KR"/>
                <a:cs typeface="Noto Sans KR"/>
                <a:sym typeface="Noto Sans KR"/>
              </a:rPr>
              <a:t>탈출 전략 (Escape Strategy)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13"/>
          <p:cNvSpPr txBox="1"/>
          <p:nvPr/>
        </p:nvSpPr>
        <p:spPr>
          <a:xfrm>
            <a:off x="7334402" y="5045659"/>
            <a:ext cx="4258361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00"/>
              <a:buFont typeface="Noto Sans KR"/>
              <a:buNone/>
            </a:pPr>
            <a:r>
              <a:rPr b="1" i="0" lang="en-US" sz="1000" u="none" cap="none" strike="noStrike">
                <a:solidFill>
                  <a:srgbClr val="93C5FD"/>
                </a:solidFill>
                <a:latin typeface="Noto Sans KR"/>
                <a:ea typeface="Noto Sans KR"/>
                <a:cs typeface="Noto Sans KR"/>
                <a:sym typeface="Noto Sans KR"/>
              </a:rPr>
              <a:t>관성(Momentum)</a:t>
            </a:r>
            <a:r>
              <a:rPr b="0" i="0" lang="en-US" sz="10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이나 </a:t>
            </a:r>
            <a:r>
              <a:rPr b="1" i="0" lang="en-US" sz="1000" u="none" cap="none" strike="noStrike">
                <a:solidFill>
                  <a:srgbClr val="93C5FD"/>
                </a:solidFill>
                <a:latin typeface="Noto Sans KR"/>
                <a:ea typeface="Noto Sans KR"/>
                <a:cs typeface="Noto Sans KR"/>
                <a:sym typeface="Noto Sans KR"/>
              </a:rPr>
              <a:t>초기 노이즈</a:t>
            </a:r>
            <a:r>
              <a:rPr b="0" i="0" lang="en-US" sz="10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를 활용해 작은 웅덩이를 뛰어넘어 더 깊은 곳을 탐색합니다.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13"/>
          <p:cNvSpPr/>
          <p:nvPr/>
        </p:nvSpPr>
        <p:spPr>
          <a:xfrm>
            <a:off x="6572707" y="5983834"/>
            <a:ext cx="5143500" cy="9144"/>
          </a:xfrm>
          <a:prstGeom prst="rect">
            <a:avLst/>
          </a:prstGeom>
          <a:solidFill>
            <a:srgbClr val="334155">
              <a:alpha val="50196"/>
            </a:srgbClr>
          </a:solidFill>
          <a:ln cap="flat" cmpd="sng" w="12700">
            <a:solidFill>
              <a:srgbClr val="33415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13"/>
          <p:cNvSpPr txBox="1"/>
          <p:nvPr/>
        </p:nvSpPr>
        <p:spPr>
          <a:xfrm>
            <a:off x="6572707" y="6145682"/>
            <a:ext cx="2675534" cy="152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Optimization Challenges in Deep Learning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13"/>
          <p:cNvSpPr/>
          <p:nvPr/>
        </p:nvSpPr>
        <p:spPr>
          <a:xfrm>
            <a:off x="10084003" y="6145682"/>
            <a:ext cx="75895" cy="75895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13"/>
          <p:cNvSpPr txBox="1"/>
          <p:nvPr/>
        </p:nvSpPr>
        <p:spPr>
          <a:xfrm>
            <a:off x="10236708" y="6145682"/>
            <a:ext cx="669341" cy="152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Local Trap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13"/>
          <p:cNvSpPr/>
          <p:nvPr/>
        </p:nvSpPr>
        <p:spPr>
          <a:xfrm>
            <a:off x="10942625" y="6145682"/>
            <a:ext cx="75895" cy="75895"/>
          </a:xfrm>
          <a:prstGeom prst="ellipse">
            <a:avLst/>
          </a:prstGeom>
          <a:solidFill>
            <a:srgbClr val="10B981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13"/>
          <p:cNvSpPr txBox="1"/>
          <p:nvPr/>
        </p:nvSpPr>
        <p:spPr>
          <a:xfrm>
            <a:off x="11095330" y="6145682"/>
            <a:ext cx="748894" cy="152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Global Goal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1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1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14"/>
          <p:cNvSpPr/>
          <p:nvPr/>
        </p:nvSpPr>
        <p:spPr>
          <a:xfrm>
            <a:off x="571500" y="6048756"/>
            <a:ext cx="11048695" cy="9144"/>
          </a:xfrm>
          <a:prstGeom prst="rect">
            <a:avLst/>
          </a:prstGeom>
          <a:solidFill>
            <a:srgbClr val="1E293B">
              <a:alpha val="50196"/>
            </a:srgbClr>
          </a:solidFill>
          <a:ln cap="flat" cmpd="sng" w="12700">
            <a:solidFill>
              <a:srgbClr val="1E293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14" name="Google Shape;614;p14"/>
          <p:cNvPicPr preferRelativeResize="0"/>
          <p:nvPr/>
        </p:nvPicPr>
        <p:blipFill rotWithShape="1">
          <a:blip r:embed="rId3">
            <a:alphaModFix/>
          </a:blip>
          <a:srcRect b="0" l="-2512" r="-2512" t="0"/>
          <a:stretch/>
        </p:blipFill>
        <p:spPr>
          <a:xfrm>
            <a:off x="571500" y="6314846"/>
            <a:ext cx="105156" cy="133502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14"/>
          <p:cNvSpPr txBox="1"/>
          <p:nvPr/>
        </p:nvSpPr>
        <p:spPr>
          <a:xfrm>
            <a:off x="752551" y="6286500"/>
            <a:ext cx="137160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Ascent (High Loss)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16" name="Google Shape;616;p14"/>
          <p:cNvPicPr preferRelativeResize="0"/>
          <p:nvPr/>
        </p:nvPicPr>
        <p:blipFill rotWithShape="1">
          <a:blip r:embed="rId4">
            <a:alphaModFix/>
          </a:blip>
          <a:srcRect b="0" l="-2512" r="-2512" t="0"/>
          <a:stretch/>
        </p:blipFill>
        <p:spPr>
          <a:xfrm>
            <a:off x="2127809" y="6314846"/>
            <a:ext cx="105156" cy="133502"/>
          </a:xfrm>
          <a:prstGeom prst="rect">
            <a:avLst/>
          </a:prstGeom>
          <a:noFill/>
          <a:ln>
            <a:noFill/>
          </a:ln>
        </p:spPr>
      </p:pic>
      <p:sp>
        <p:nvSpPr>
          <p:cNvPr id="617" name="Google Shape;617;p14"/>
          <p:cNvSpPr txBox="1"/>
          <p:nvPr/>
        </p:nvSpPr>
        <p:spPr>
          <a:xfrm>
            <a:off x="2308860" y="6286500"/>
            <a:ext cx="1757477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Descent (Escape Route)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14"/>
          <p:cNvSpPr txBox="1"/>
          <p:nvPr/>
        </p:nvSpPr>
        <p:spPr>
          <a:xfrm>
            <a:off x="9918497" y="6286500"/>
            <a:ext cx="2029054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12 Saddle Point Challenges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19" name="Google Shape;61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81305"/>
            <a:ext cx="156179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620" name="Google Shape;620;p14"/>
          <p:cNvSpPr/>
          <p:nvPr/>
        </p:nvSpPr>
        <p:spPr>
          <a:xfrm>
            <a:off x="571500" y="381305"/>
            <a:ext cx="1562710" cy="228600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Noto Sans KR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Critical Challenge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14"/>
          <p:cNvSpPr txBox="1"/>
          <p:nvPr/>
        </p:nvSpPr>
        <p:spPr>
          <a:xfrm>
            <a:off x="2238451" y="400507"/>
            <a:ext cx="1633118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Optimization Hurdles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14"/>
          <p:cNvSpPr txBox="1"/>
          <p:nvPr/>
        </p:nvSpPr>
        <p:spPr>
          <a:xfrm>
            <a:off x="571500" y="685800"/>
            <a:ext cx="11239805" cy="381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Noto Sans KR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안장점(Saddle Point)의 위협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14"/>
          <p:cNvSpPr txBox="1"/>
          <p:nvPr/>
        </p:nvSpPr>
        <p:spPr>
          <a:xfrm>
            <a:off x="571500" y="1143000"/>
            <a:ext cx="11239805" cy="2670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Noto Sans KR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기울기가 0이지만 최저점이 아닌, 학습을 정체시키는 평탄한 고원 지형입니다.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14"/>
          <p:cNvSpPr/>
          <p:nvPr/>
        </p:nvSpPr>
        <p:spPr>
          <a:xfrm>
            <a:off x="6286500" y="2018081"/>
            <a:ext cx="5333695" cy="1476756"/>
          </a:xfrm>
          <a:prstGeom prst="roundRect">
            <a:avLst>
              <a:gd fmla="val 6392" name="adj"/>
            </a:avLst>
          </a:prstGeom>
          <a:solidFill>
            <a:srgbClr val="1E293B">
              <a:alpha val="40000"/>
            </a:srgbClr>
          </a:solidFill>
          <a:ln cap="flat" cmpd="sng" w="12700">
            <a:solidFill>
              <a:srgbClr val="94A3B8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14"/>
          <p:cNvSpPr/>
          <p:nvPr/>
        </p:nvSpPr>
        <p:spPr>
          <a:xfrm>
            <a:off x="6286500" y="2018081"/>
            <a:ext cx="38405" cy="1476756"/>
          </a:xfrm>
          <a:prstGeom prst="roundRect">
            <a:avLst>
              <a:gd fmla="val 245774" name="adj"/>
            </a:avLst>
          </a:prstGeom>
          <a:solidFill>
            <a:srgbClr val="F43F5E"/>
          </a:solidFill>
          <a:ln cap="flat" cmpd="sng" w="12700">
            <a:solidFill>
              <a:srgbClr val="F43F5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14"/>
          <p:cNvSpPr/>
          <p:nvPr/>
        </p:nvSpPr>
        <p:spPr>
          <a:xfrm>
            <a:off x="6553505" y="2255825"/>
            <a:ext cx="457200" cy="552298"/>
          </a:xfrm>
          <a:prstGeom prst="roundRect">
            <a:avLst>
              <a:gd fmla="val 33333" name="adj"/>
            </a:avLst>
          </a:prstGeom>
          <a:solidFill>
            <a:srgbClr val="F43F5E">
              <a:alpha val="10196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14"/>
          <p:cNvSpPr txBox="1"/>
          <p:nvPr/>
        </p:nvSpPr>
        <p:spPr>
          <a:xfrm>
            <a:off x="7162495" y="2255825"/>
            <a:ext cx="4410151" cy="2670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Noto Sans KR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위협: 평탄한 고원에서의 정체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14"/>
          <p:cNvSpPr txBox="1"/>
          <p:nvPr/>
        </p:nvSpPr>
        <p:spPr>
          <a:xfrm>
            <a:off x="7162495" y="2598725"/>
            <a:ext cx="4295851" cy="6574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미분값(Gradient)이 0에 가까워지면 가중치 업데이트가 거의 멈춥니다. 지역 최솟값(Local Minima)과 달리 탈출구가 존재하지만, 평탄한 지형 때문에 방향을 찾기 어렵습니다.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14"/>
          <p:cNvSpPr/>
          <p:nvPr/>
        </p:nvSpPr>
        <p:spPr>
          <a:xfrm>
            <a:off x="6286500" y="3867912"/>
            <a:ext cx="5333695" cy="1352398"/>
          </a:xfrm>
          <a:prstGeom prst="roundRect">
            <a:avLst>
              <a:gd fmla="val 7618" name="adj"/>
            </a:avLst>
          </a:prstGeom>
          <a:solidFill>
            <a:srgbClr val="1E293B">
              <a:alpha val="40000"/>
            </a:srgbClr>
          </a:solidFill>
          <a:ln cap="flat" cmpd="sng" w="12700">
            <a:solidFill>
              <a:srgbClr val="94A3B8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14"/>
          <p:cNvSpPr/>
          <p:nvPr/>
        </p:nvSpPr>
        <p:spPr>
          <a:xfrm>
            <a:off x="6286500" y="3867912"/>
            <a:ext cx="38405" cy="1352398"/>
          </a:xfrm>
          <a:prstGeom prst="roundRect">
            <a:avLst>
              <a:gd fmla="val 268275" name="adj"/>
            </a:avLst>
          </a:prstGeom>
          <a:solidFill>
            <a:srgbClr val="10B981"/>
          </a:solidFill>
          <a:ln cap="flat" cmpd="sng" w="12700">
            <a:solidFill>
              <a:srgbClr val="10B98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14"/>
          <p:cNvSpPr/>
          <p:nvPr/>
        </p:nvSpPr>
        <p:spPr>
          <a:xfrm>
            <a:off x="6553505" y="4106570"/>
            <a:ext cx="457200" cy="552298"/>
          </a:xfrm>
          <a:prstGeom prst="roundRect">
            <a:avLst>
              <a:gd fmla="val 33333" name="adj"/>
            </a:avLst>
          </a:prstGeom>
          <a:solidFill>
            <a:srgbClr val="10B981">
              <a:alpha val="10196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14"/>
          <p:cNvSpPr txBox="1"/>
          <p:nvPr/>
        </p:nvSpPr>
        <p:spPr>
          <a:xfrm>
            <a:off x="7162495" y="4106570"/>
            <a:ext cx="3838651" cy="2670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Noto Sans KR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탈출 전략: 관성과 노이즈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33" name="Google Shape;633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62495" y="4468673"/>
            <a:ext cx="705002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634" name="Google Shape;634;p14"/>
          <p:cNvSpPr/>
          <p:nvPr/>
        </p:nvSpPr>
        <p:spPr>
          <a:xfrm>
            <a:off x="7162495" y="4468673"/>
            <a:ext cx="705002" cy="191110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34D399"/>
                </a:solidFill>
                <a:latin typeface="Arial"/>
                <a:ea typeface="Arial"/>
                <a:cs typeface="Arial"/>
                <a:sym typeface="Arial"/>
              </a:rPr>
              <a:t>Momentum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14"/>
          <p:cNvSpPr txBox="1"/>
          <p:nvPr/>
        </p:nvSpPr>
        <p:spPr>
          <a:xfrm>
            <a:off x="7978140" y="4449470"/>
            <a:ext cx="3311042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내려오던 속도(관성)를 유지해 평지를 빠르게 돌파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36" name="Google Shape;636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62495" y="4792370"/>
            <a:ext cx="705002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14"/>
          <p:cNvSpPr/>
          <p:nvPr/>
        </p:nvSpPr>
        <p:spPr>
          <a:xfrm>
            <a:off x="7162495" y="4792370"/>
            <a:ext cx="705002" cy="191110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60A5FA"/>
                </a:solidFill>
                <a:latin typeface="Arial"/>
                <a:ea typeface="Arial"/>
                <a:cs typeface="Arial"/>
                <a:sym typeface="Arial"/>
              </a:rPr>
              <a:t>Adaptive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14"/>
          <p:cNvSpPr txBox="1"/>
          <p:nvPr/>
        </p:nvSpPr>
        <p:spPr>
          <a:xfrm>
            <a:off x="7978140" y="4773168"/>
            <a:ext cx="337505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Adam 등은 평탄한 방향으로 보폭을 키워 탈출 유도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39" name="Google Shape;639;p14"/>
          <p:cNvPicPr preferRelativeResize="0"/>
          <p:nvPr/>
        </p:nvPicPr>
        <p:blipFill rotWithShape="1">
          <a:blip r:embed="rId8">
            <a:alphaModFix/>
          </a:blip>
          <a:srcRect b="-16600" l="0" r="0" t="-16600"/>
          <a:stretch/>
        </p:blipFill>
        <p:spPr>
          <a:xfrm>
            <a:off x="6667805" y="2370125"/>
            <a:ext cx="228600" cy="3044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40" name="Google Shape;640;p14"/>
          <p:cNvPicPr preferRelativeResize="0"/>
          <p:nvPr/>
        </p:nvPicPr>
        <p:blipFill rotWithShape="1">
          <a:blip r:embed="rId9">
            <a:alphaModFix/>
          </a:blip>
          <a:srcRect b="-16600" l="0" r="0" t="-16600"/>
          <a:stretch/>
        </p:blipFill>
        <p:spPr>
          <a:xfrm>
            <a:off x="6667805" y="4220870"/>
            <a:ext cx="228600" cy="3044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41" name="Google Shape;641;p14"/>
          <p:cNvPicPr preferRelativeResize="0"/>
          <p:nvPr/>
        </p:nvPicPr>
        <p:blipFill rotWithShape="1">
          <a:blip r:embed="rId10">
            <a:alphaModFix/>
          </a:blip>
          <a:srcRect b="-6" l="0" r="0" t="-7"/>
          <a:stretch/>
        </p:blipFill>
        <p:spPr>
          <a:xfrm>
            <a:off x="571500" y="1714500"/>
            <a:ext cx="5333695" cy="38103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42" name="Google Shape;642;p14"/>
          <p:cNvPicPr preferRelativeResize="0"/>
          <p:nvPr/>
        </p:nvPicPr>
        <p:blipFill rotWithShape="1">
          <a:blip r:embed="rId11">
            <a:alphaModFix amt="90000"/>
          </a:blip>
          <a:srcRect b="0" l="10871" r="10872" t="0"/>
          <a:stretch/>
        </p:blipFill>
        <p:spPr>
          <a:xfrm>
            <a:off x="580644" y="1723644"/>
            <a:ext cx="5315407" cy="3791102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14"/>
          <p:cNvSpPr/>
          <p:nvPr/>
        </p:nvSpPr>
        <p:spPr>
          <a:xfrm>
            <a:off x="562356" y="4574743"/>
            <a:ext cx="5315407" cy="1028700"/>
          </a:xfrm>
          <a:prstGeom prst="rect">
            <a:avLst/>
          </a:prstGeom>
          <a:solidFill>
            <a:srgbClr val="0F172A">
              <a:alpha val="9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14"/>
          <p:cNvSpPr/>
          <p:nvPr/>
        </p:nvSpPr>
        <p:spPr>
          <a:xfrm>
            <a:off x="562356" y="4574743"/>
            <a:ext cx="5315407" cy="9144"/>
          </a:xfrm>
          <a:prstGeom prst="rect">
            <a:avLst/>
          </a:prstGeom>
          <a:solidFill>
            <a:srgbClr val="334155">
              <a:alpha val="50196"/>
            </a:srgbClr>
          </a:solidFill>
          <a:ln cap="flat" cmpd="sng" w="12700">
            <a:solidFill>
              <a:srgbClr val="33415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45" name="Google Shape;645;p14"/>
          <p:cNvPicPr preferRelativeResize="0"/>
          <p:nvPr/>
        </p:nvPicPr>
        <p:blipFill rotWithShape="1">
          <a:blip r:embed="rId12">
            <a:alphaModFix/>
          </a:blip>
          <a:srcRect b="-16799" l="0" r="0" t="-16800"/>
          <a:stretch/>
        </p:blipFill>
        <p:spPr>
          <a:xfrm>
            <a:off x="752551" y="4774997"/>
            <a:ext cx="114300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p14"/>
          <p:cNvSpPr txBox="1"/>
          <p:nvPr/>
        </p:nvSpPr>
        <p:spPr>
          <a:xfrm>
            <a:off x="943661" y="4774997"/>
            <a:ext cx="1744675" cy="152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BFE"/>
              </a:buClr>
              <a:buSzPts val="900"/>
              <a:buFont typeface="Noto Sans KR"/>
              <a:buNone/>
            </a:pPr>
            <a:r>
              <a:rPr b="1" i="0" lang="en-US" sz="900" u="none" cap="none" strike="noStrike">
                <a:solidFill>
                  <a:srgbClr val="BFDBFE"/>
                </a:solidFill>
                <a:latin typeface="Noto Sans KR"/>
                <a:ea typeface="Noto Sans KR"/>
                <a:cs typeface="Noto Sans KR"/>
                <a:sym typeface="Noto Sans KR"/>
              </a:rPr>
              <a:t>Geometry Visualization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14"/>
          <p:cNvSpPr txBox="1"/>
          <p:nvPr/>
        </p:nvSpPr>
        <p:spPr>
          <a:xfrm>
            <a:off x="752551" y="4965192"/>
            <a:ext cx="504840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Noto Sans KR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말 안장(Horse Saddle) 형상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14"/>
          <p:cNvSpPr txBox="1"/>
          <p:nvPr/>
        </p:nvSpPr>
        <p:spPr>
          <a:xfrm>
            <a:off x="752551" y="5217566"/>
            <a:ext cx="5125212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한쪽 축은 오르막, 다른 축은 내리막인 교차점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49" name="Google Shape;649;p14"/>
          <p:cNvPicPr preferRelativeResize="0"/>
          <p:nvPr/>
        </p:nvPicPr>
        <p:blipFill rotWithShape="1">
          <a:blip r:embed="rId13">
            <a:alphaModFix amt="30000"/>
          </a:blip>
          <a:srcRect b="-100" l="0" r="0" t="-100"/>
          <a:stretch/>
        </p:blipFill>
        <p:spPr>
          <a:xfrm>
            <a:off x="8896198" y="3601822"/>
            <a:ext cx="114300" cy="1527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50" name="Google Shape;650;p14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3143707" y="3334817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14"/>
          <p:cNvSpPr/>
          <p:nvPr/>
        </p:nvSpPr>
        <p:spPr>
          <a:xfrm>
            <a:off x="2700223" y="2668219"/>
            <a:ext cx="1076249" cy="476402"/>
          </a:xfrm>
          <a:prstGeom prst="roundRect">
            <a:avLst>
              <a:gd fmla="val 23033" name="adj"/>
            </a:avLst>
          </a:prstGeom>
          <a:solidFill>
            <a:srgbClr val="0F172A">
              <a:alpha val="90196"/>
            </a:srgbClr>
          </a:solidFill>
          <a:ln>
            <a:noFill/>
          </a:ln>
          <a:effectLst>
            <a:outerShdw blurRad="63500" rotWithShape="0" algn="bl" dir="162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14"/>
          <p:cNvSpPr/>
          <p:nvPr/>
        </p:nvSpPr>
        <p:spPr>
          <a:xfrm>
            <a:off x="2700223" y="2668219"/>
            <a:ext cx="28346" cy="476402"/>
          </a:xfrm>
          <a:prstGeom prst="roundRect">
            <a:avLst>
              <a:gd fmla="val 387102" name="adj"/>
            </a:avLst>
          </a:prstGeom>
          <a:solidFill>
            <a:srgbClr val="FBBF24"/>
          </a:solidFill>
          <a:ln cap="flat" cmpd="sng" w="12700">
            <a:solidFill>
              <a:srgbClr val="FBBF2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14"/>
          <p:cNvSpPr txBox="1"/>
          <p:nvPr/>
        </p:nvSpPr>
        <p:spPr>
          <a:xfrm>
            <a:off x="2862072" y="2724912"/>
            <a:ext cx="929945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Noto Sans KR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Saddle Point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14"/>
          <p:cNvSpPr txBox="1"/>
          <p:nvPr/>
        </p:nvSpPr>
        <p:spPr>
          <a:xfrm>
            <a:off x="2862072" y="2929738"/>
            <a:ext cx="857707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CC15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FACC15"/>
                </a:solidFill>
                <a:latin typeface="Arial"/>
                <a:ea typeface="Arial"/>
                <a:cs typeface="Arial"/>
                <a:sym typeface="Arial"/>
              </a:rPr>
              <a:t>∇L ≈ 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1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61" name="Google Shape;661;p15"/>
          <p:cNvPicPr preferRelativeResize="0"/>
          <p:nvPr/>
        </p:nvPicPr>
        <p:blipFill rotWithShape="1">
          <a:blip r:embed="rId3">
            <a:alphaModFix/>
          </a:blip>
          <a:srcRect b="0" l="1" r="1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62" name="Google Shape;66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81305"/>
            <a:ext cx="179039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663" name="Google Shape;663;p15"/>
          <p:cNvSpPr/>
          <p:nvPr/>
        </p:nvSpPr>
        <p:spPr>
          <a:xfrm>
            <a:off x="571500" y="381305"/>
            <a:ext cx="1791310" cy="228600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Noto Sans KR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Optimization Dynamics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15"/>
          <p:cNvSpPr txBox="1"/>
          <p:nvPr/>
        </p:nvSpPr>
        <p:spPr>
          <a:xfrm>
            <a:off x="2468880" y="400507"/>
            <a:ext cx="234635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B4FC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A5B4FC"/>
                </a:solidFill>
                <a:latin typeface="Noto Sans KR"/>
                <a:ea typeface="Noto Sans KR"/>
                <a:cs typeface="Noto Sans KR"/>
                <a:sym typeface="Noto Sans KR"/>
              </a:rPr>
              <a:t>Step 4: Shaping the Landscape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15"/>
          <p:cNvSpPr txBox="1"/>
          <p:nvPr/>
        </p:nvSpPr>
        <p:spPr>
          <a:xfrm>
            <a:off x="571500" y="685800"/>
            <a:ext cx="11354105" cy="381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Noto Sans KR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활성화 함수와 손실 함수의 조화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15"/>
          <p:cNvSpPr txBox="1"/>
          <p:nvPr/>
        </p:nvSpPr>
        <p:spPr>
          <a:xfrm>
            <a:off x="571500" y="1143000"/>
            <a:ext cx="11163910" cy="2670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Noto Sans KR"/>
              <a:buNone/>
            </a:pPr>
            <a:r>
              <a:rPr b="0" i="0" lang="en-US" sz="13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활성화 함수(Activation Function)가 손실 지형의 가파름과 기울기 흐름을 결정합니다.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67" name="Google Shape;66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714500"/>
            <a:ext cx="4190695" cy="41669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68" name="Google Shape;668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18995" y="1571854"/>
            <a:ext cx="1304849" cy="267005"/>
          </a:xfrm>
          <a:prstGeom prst="rect">
            <a:avLst/>
          </a:prstGeom>
          <a:noFill/>
          <a:ln>
            <a:noFill/>
          </a:ln>
        </p:spPr>
      </p:pic>
      <p:sp>
        <p:nvSpPr>
          <p:cNvPr id="669" name="Google Shape;669;p15"/>
          <p:cNvSpPr/>
          <p:nvPr/>
        </p:nvSpPr>
        <p:spPr>
          <a:xfrm>
            <a:off x="2018995" y="1571854"/>
            <a:ext cx="1305763" cy="267005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Noto Sans KR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Sigmoid / Tanh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70" name="Google Shape;670;p15"/>
          <p:cNvPicPr preferRelativeResize="0"/>
          <p:nvPr/>
        </p:nvPicPr>
        <p:blipFill rotWithShape="1">
          <a:blip r:embed="rId7">
            <a:alphaModFix/>
          </a:blip>
          <a:srcRect b="0" l="-6" r="-5" t="0"/>
          <a:stretch/>
        </p:blipFill>
        <p:spPr>
          <a:xfrm>
            <a:off x="809244" y="2104949"/>
            <a:ext cx="3715207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15"/>
          <p:cNvSpPr txBox="1"/>
          <p:nvPr/>
        </p:nvSpPr>
        <p:spPr>
          <a:xfrm>
            <a:off x="752551" y="4086454"/>
            <a:ext cx="3829507" cy="2670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7185"/>
              </a:buClr>
              <a:buSzPts val="1500"/>
              <a:buFont typeface="Noto Sans KR"/>
              <a:buNone/>
            </a:pPr>
            <a:r>
              <a:rPr b="1" i="0" lang="en-US" sz="1500" u="none" cap="none" strike="noStrike">
                <a:solidFill>
                  <a:srgbClr val="FB7185"/>
                </a:solidFill>
                <a:latin typeface="Noto Sans KR"/>
                <a:ea typeface="Noto Sans KR"/>
                <a:cs typeface="Noto Sans KR"/>
                <a:sym typeface="Noto Sans KR"/>
              </a:rPr>
              <a:t>기울기 소실 (Vanishing Gradient)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15"/>
          <p:cNvSpPr txBox="1"/>
          <p:nvPr/>
        </p:nvSpPr>
        <p:spPr>
          <a:xfrm>
            <a:off x="771754" y="4429354"/>
            <a:ext cx="3791102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입력값이 크거나 작을 때 미분값(기울기)이 0에 가까워짐.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DA4AF"/>
              </a:buClr>
              <a:buSzPts val="1000"/>
              <a:buFont typeface="Noto Sans KR"/>
              <a:buNone/>
            </a:pPr>
            <a:r>
              <a:rPr b="1" i="0" lang="en-US" sz="1000" u="none" cap="none" strike="noStrike">
                <a:solidFill>
                  <a:srgbClr val="FDA4AF"/>
                </a:solidFill>
                <a:latin typeface="Noto Sans KR"/>
                <a:ea typeface="Noto Sans KR"/>
                <a:cs typeface="Noto Sans KR"/>
                <a:sym typeface="Noto Sans KR"/>
              </a:rPr>
              <a:t>결과:</a:t>
            </a:r>
            <a:r>
              <a:rPr b="0" i="0" lang="en-US" sz="10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손실 지형이 평평해져 학습이 정체됨.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15"/>
          <p:cNvSpPr/>
          <p:nvPr/>
        </p:nvSpPr>
        <p:spPr>
          <a:xfrm>
            <a:off x="809244" y="5014570"/>
            <a:ext cx="3715207" cy="629107"/>
          </a:xfrm>
          <a:prstGeom prst="roundRect">
            <a:avLst>
              <a:gd fmla="val 17618" name="adj"/>
            </a:avLst>
          </a:prstGeom>
          <a:solidFill>
            <a:srgbClr val="0F172A">
              <a:alpha val="50196"/>
            </a:srgbClr>
          </a:solidFill>
          <a:ln cap="flat" cmpd="sng" w="12700">
            <a:solidFill>
              <a:srgbClr val="334155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15"/>
          <p:cNvSpPr/>
          <p:nvPr/>
        </p:nvSpPr>
        <p:spPr>
          <a:xfrm>
            <a:off x="933602" y="5138928"/>
            <a:ext cx="323698" cy="381305"/>
          </a:xfrm>
          <a:prstGeom prst="roundRect">
            <a:avLst>
              <a:gd fmla="val 49850" name="adj"/>
            </a:avLst>
          </a:prstGeom>
          <a:solidFill>
            <a:srgbClr val="881337">
              <a:alpha val="30196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75" name="Google Shape;675;p15"/>
          <p:cNvPicPr preferRelativeResize="0"/>
          <p:nvPr/>
        </p:nvPicPr>
        <p:blipFill rotWithShape="1">
          <a:blip r:embed="rId8">
            <a:alphaModFix/>
          </a:blip>
          <a:srcRect b="0" l="-33" r="-32" t="0"/>
          <a:stretch/>
        </p:blipFill>
        <p:spPr>
          <a:xfrm>
            <a:off x="1009498" y="5262372"/>
            <a:ext cx="171907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676" name="Google Shape;676;p15"/>
          <p:cNvSpPr txBox="1"/>
          <p:nvPr/>
        </p:nvSpPr>
        <p:spPr>
          <a:xfrm>
            <a:off x="1371600" y="5176418"/>
            <a:ext cx="1819656" cy="152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ECDD3"/>
              </a:buClr>
              <a:buSzPts val="900"/>
              <a:buFont typeface="Noto Sans KR"/>
              <a:buNone/>
            </a:pPr>
            <a:r>
              <a:rPr b="1" i="0" lang="en-US" sz="900" u="none" cap="none" strike="noStrike">
                <a:solidFill>
                  <a:srgbClr val="FECDD3"/>
                </a:solidFill>
                <a:latin typeface="Noto Sans KR"/>
                <a:ea typeface="Noto Sans KR"/>
                <a:cs typeface="Noto Sans KR"/>
                <a:sym typeface="Noto Sans KR"/>
              </a:rPr>
              <a:t>평탄한 지형 (Flat Plateau)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15"/>
          <p:cNvSpPr txBox="1"/>
          <p:nvPr/>
        </p:nvSpPr>
        <p:spPr>
          <a:xfrm>
            <a:off x="1371600" y="5329123"/>
            <a:ext cx="2128723" cy="152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탐험가가 방향을 잃기 쉬운 넓은 평야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78" name="Google Shape;678;p15"/>
          <p:cNvPicPr preferRelativeResize="0"/>
          <p:nvPr/>
        </p:nvPicPr>
        <p:blipFill rotWithShape="1">
          <a:blip r:embed="rId9">
            <a:alphaModFix/>
          </a:blip>
          <a:srcRect b="0" l="-20" r="-20" t="0"/>
          <a:stretch/>
        </p:blipFill>
        <p:spPr>
          <a:xfrm>
            <a:off x="4990795" y="2392985"/>
            <a:ext cx="2210105" cy="1495044"/>
          </a:xfrm>
          <a:prstGeom prst="rect">
            <a:avLst/>
          </a:prstGeom>
          <a:noFill/>
          <a:ln>
            <a:noFill/>
          </a:ln>
        </p:spPr>
      </p:pic>
      <p:sp>
        <p:nvSpPr>
          <p:cNvPr id="679" name="Google Shape;679;p15"/>
          <p:cNvSpPr txBox="1"/>
          <p:nvPr/>
        </p:nvSpPr>
        <p:spPr>
          <a:xfrm>
            <a:off x="5152644" y="2554834"/>
            <a:ext cx="1961388" cy="305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B4FC"/>
              </a:buClr>
              <a:buSzPts val="900"/>
              <a:buFont typeface="Noto Sans KR"/>
              <a:buNone/>
            </a:pPr>
            <a:r>
              <a:rPr b="1" i="0" lang="en-US" sz="900" u="none" cap="none" strike="noStrike">
                <a:solidFill>
                  <a:srgbClr val="A5B4FC"/>
                </a:solidFill>
                <a:latin typeface="Noto Sans KR"/>
                <a:ea typeface="Noto Sans KR"/>
                <a:cs typeface="Noto Sans KR"/>
                <a:sym typeface="Noto Sans KR"/>
              </a:rPr>
              <a:t>Backpropagation Chain Rule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15"/>
          <p:cNvSpPr txBox="1"/>
          <p:nvPr/>
        </p:nvSpPr>
        <p:spPr>
          <a:xfrm>
            <a:off x="5248656" y="2936138"/>
            <a:ext cx="169621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1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∂L/∂W =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15"/>
          <p:cNvSpPr txBox="1"/>
          <p:nvPr/>
        </p:nvSpPr>
        <p:spPr>
          <a:xfrm>
            <a:off x="5248656" y="3226918"/>
            <a:ext cx="1696212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(Gradient Flow)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15"/>
          <p:cNvSpPr txBox="1"/>
          <p:nvPr/>
        </p:nvSpPr>
        <p:spPr>
          <a:xfrm>
            <a:off x="5248656" y="3503066"/>
            <a:ext cx="46725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1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∂L/∂ŷ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15"/>
          <p:cNvSpPr txBox="1"/>
          <p:nvPr/>
        </p:nvSpPr>
        <p:spPr>
          <a:xfrm>
            <a:off x="5675681" y="3503066"/>
            <a:ext cx="181051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CC15"/>
              </a:buClr>
              <a:buSzPts val="1300"/>
              <a:buFont typeface="Arial"/>
              <a:buNone/>
            </a:pPr>
            <a:r>
              <a:rPr b="1" i="1" lang="en-US" sz="1300" u="none" cap="none" strike="noStrike">
                <a:solidFill>
                  <a:srgbClr val="FACC15"/>
                </a:solidFill>
                <a:latin typeface="Arial"/>
                <a:ea typeface="Arial"/>
                <a:cs typeface="Arial"/>
                <a:sym typeface="Arial"/>
              </a:rPr>
              <a:t>×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15"/>
          <p:cNvSpPr txBox="1"/>
          <p:nvPr/>
        </p:nvSpPr>
        <p:spPr>
          <a:xfrm>
            <a:off x="6304788" y="3503066"/>
            <a:ext cx="181051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CC15"/>
              </a:buClr>
              <a:buSzPts val="1300"/>
              <a:buFont typeface="Arial"/>
              <a:buNone/>
            </a:pPr>
            <a:r>
              <a:rPr b="1" i="1" lang="en-US" sz="1300" u="none" cap="none" strike="noStrike">
                <a:solidFill>
                  <a:srgbClr val="FACC15"/>
                </a:solidFill>
                <a:latin typeface="Arial"/>
                <a:ea typeface="Arial"/>
                <a:cs typeface="Arial"/>
                <a:sym typeface="Arial"/>
              </a:rPr>
              <a:t>×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15"/>
          <p:cNvSpPr txBox="1"/>
          <p:nvPr/>
        </p:nvSpPr>
        <p:spPr>
          <a:xfrm>
            <a:off x="6437376" y="3503066"/>
            <a:ext cx="510235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1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∂z/∂W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86" name="Google Shape;686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849417" y="3493008"/>
            <a:ext cx="457200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687" name="Google Shape;687;p15"/>
          <p:cNvSpPr/>
          <p:nvPr/>
        </p:nvSpPr>
        <p:spPr>
          <a:xfrm>
            <a:off x="5849417" y="3493008"/>
            <a:ext cx="457200" cy="238658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12700">
            <a:solidFill>
              <a:srgbClr val="EAB308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DE047"/>
              </a:buClr>
              <a:buSzPts val="1300"/>
              <a:buFont typeface="Arial"/>
              <a:buNone/>
            </a:pPr>
            <a:r>
              <a:rPr b="0" i="1" lang="en-US" sz="1300" u="none" cap="none" strike="noStrike">
                <a:solidFill>
                  <a:srgbClr val="FDE047"/>
                </a:solidFill>
                <a:latin typeface="Arial"/>
                <a:ea typeface="Arial"/>
                <a:cs typeface="Arial"/>
                <a:sym typeface="Arial"/>
              </a:rPr>
              <a:t>∂ŷ/∂z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88" name="Google Shape;688;p15"/>
          <p:cNvPicPr preferRelativeResize="0"/>
          <p:nvPr/>
        </p:nvPicPr>
        <p:blipFill rotWithShape="1">
          <a:blip r:embed="rId11">
            <a:alphaModFix/>
          </a:blip>
          <a:srcRect b="-16422" l="0" r="0" t="-16423"/>
          <a:stretch/>
        </p:blipFill>
        <p:spPr>
          <a:xfrm>
            <a:off x="6010351" y="4040734"/>
            <a:ext cx="171907" cy="304495"/>
          </a:xfrm>
          <a:prstGeom prst="rect">
            <a:avLst/>
          </a:prstGeom>
          <a:noFill/>
          <a:ln>
            <a:noFill/>
          </a:ln>
        </p:spPr>
      </p:pic>
      <p:sp>
        <p:nvSpPr>
          <p:cNvPr id="689" name="Google Shape;689;p15"/>
          <p:cNvSpPr txBox="1"/>
          <p:nvPr/>
        </p:nvSpPr>
        <p:spPr>
          <a:xfrm>
            <a:off x="5416906" y="4441241"/>
            <a:ext cx="1362456" cy="381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활성화 함수의 미분값이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전체 기울기를 좌우함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90" name="Google Shape;690;p15"/>
          <p:cNvPicPr preferRelativeResize="0"/>
          <p:nvPr/>
        </p:nvPicPr>
        <p:blipFill rotWithShape="1">
          <a:blip r:embed="rId12">
            <a:alphaModFix/>
          </a:blip>
          <a:srcRect b="-16422" l="0" r="0" t="-16423"/>
          <a:stretch/>
        </p:blipFill>
        <p:spPr>
          <a:xfrm>
            <a:off x="6010351" y="4898441"/>
            <a:ext cx="171907" cy="3044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91" name="Google Shape;69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29500" y="1714500"/>
            <a:ext cx="4190695" cy="41669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92" name="Google Shape;692;p1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204350" y="1571854"/>
            <a:ext cx="647395" cy="267005"/>
          </a:xfrm>
          <a:prstGeom prst="rect">
            <a:avLst/>
          </a:prstGeom>
          <a:noFill/>
          <a:ln>
            <a:noFill/>
          </a:ln>
        </p:spPr>
      </p:pic>
      <p:sp>
        <p:nvSpPr>
          <p:cNvPr id="693" name="Google Shape;693;p15"/>
          <p:cNvSpPr/>
          <p:nvPr/>
        </p:nvSpPr>
        <p:spPr>
          <a:xfrm>
            <a:off x="9204350" y="1571854"/>
            <a:ext cx="648310" cy="267005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Noto Sans KR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ReLU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94" name="Google Shape;694;p15"/>
          <p:cNvPicPr preferRelativeResize="0"/>
          <p:nvPr/>
        </p:nvPicPr>
        <p:blipFill rotWithShape="1">
          <a:blip r:embed="rId14">
            <a:alphaModFix/>
          </a:blip>
          <a:srcRect b="0" l="-6" r="-5" t="0"/>
          <a:stretch/>
        </p:blipFill>
        <p:spPr>
          <a:xfrm>
            <a:off x="7667244" y="2104949"/>
            <a:ext cx="3715207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695" name="Google Shape;695;p15"/>
          <p:cNvSpPr txBox="1"/>
          <p:nvPr/>
        </p:nvSpPr>
        <p:spPr>
          <a:xfrm>
            <a:off x="7610551" y="4086454"/>
            <a:ext cx="3829507" cy="2670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500"/>
              <a:buFont typeface="Noto Sans KR"/>
              <a:buNone/>
            </a:pPr>
            <a:r>
              <a:rPr b="1" i="0" lang="en-US" sz="1500" u="none" cap="none" strike="noStrike">
                <a:solidFill>
                  <a:srgbClr val="34D399"/>
                </a:solidFill>
                <a:latin typeface="Noto Sans KR"/>
                <a:ea typeface="Noto Sans KR"/>
                <a:cs typeface="Noto Sans KR"/>
                <a:sym typeface="Noto Sans KR"/>
              </a:rPr>
              <a:t>강건한 기울기 (Robust Gradient)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15"/>
          <p:cNvSpPr txBox="1"/>
          <p:nvPr/>
        </p:nvSpPr>
        <p:spPr>
          <a:xfrm>
            <a:off x="7629754" y="4429354"/>
            <a:ext cx="3791102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양수 구간에서 미분값이 항상 1로 일정함.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E7B7"/>
              </a:buClr>
              <a:buSzPts val="1000"/>
              <a:buFont typeface="Noto Sans KR"/>
              <a:buNone/>
            </a:pPr>
            <a:r>
              <a:rPr b="1" i="0" lang="en-US" sz="1000" u="none" cap="none" strike="noStrike">
                <a:solidFill>
                  <a:srgbClr val="6EE7B7"/>
                </a:solidFill>
                <a:latin typeface="Noto Sans KR"/>
                <a:ea typeface="Noto Sans KR"/>
                <a:cs typeface="Noto Sans KR"/>
                <a:sym typeface="Noto Sans KR"/>
              </a:rPr>
              <a:t>결과:</a:t>
            </a:r>
            <a:r>
              <a:rPr b="0" i="0" lang="en-US" sz="10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깊은 층까지 신호가 잘 전달되어 지형이 선명함.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15"/>
          <p:cNvSpPr/>
          <p:nvPr/>
        </p:nvSpPr>
        <p:spPr>
          <a:xfrm>
            <a:off x="7667244" y="5014570"/>
            <a:ext cx="3715207" cy="629107"/>
          </a:xfrm>
          <a:prstGeom prst="roundRect">
            <a:avLst>
              <a:gd fmla="val 17618" name="adj"/>
            </a:avLst>
          </a:prstGeom>
          <a:solidFill>
            <a:srgbClr val="0F172A">
              <a:alpha val="50196"/>
            </a:srgbClr>
          </a:solidFill>
          <a:ln cap="flat" cmpd="sng" w="12700">
            <a:solidFill>
              <a:srgbClr val="334155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p15"/>
          <p:cNvSpPr/>
          <p:nvPr/>
        </p:nvSpPr>
        <p:spPr>
          <a:xfrm>
            <a:off x="7791602" y="5138928"/>
            <a:ext cx="304495" cy="381305"/>
          </a:xfrm>
          <a:prstGeom prst="roundRect">
            <a:avLst>
              <a:gd fmla="val 56306" name="adj"/>
            </a:avLst>
          </a:prstGeom>
          <a:solidFill>
            <a:srgbClr val="064E3B">
              <a:alpha val="30196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99" name="Google Shape;699;p15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7867498" y="5262372"/>
            <a:ext cx="15270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700" name="Google Shape;700;p15"/>
          <p:cNvSpPr txBox="1"/>
          <p:nvPr/>
        </p:nvSpPr>
        <p:spPr>
          <a:xfrm>
            <a:off x="8210398" y="5176418"/>
            <a:ext cx="1791310" cy="152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900"/>
              <a:buFont typeface="Noto Sans KR"/>
              <a:buNone/>
            </a:pPr>
            <a:r>
              <a:rPr b="1" i="0" lang="en-US" sz="900" u="none" cap="none" strike="noStrike">
                <a:solidFill>
                  <a:srgbClr val="A7F3D0"/>
                </a:solidFill>
                <a:latin typeface="Noto Sans KR"/>
                <a:ea typeface="Noto Sans KR"/>
                <a:cs typeface="Noto Sans KR"/>
                <a:sym typeface="Noto Sans KR"/>
              </a:rPr>
              <a:t>선명한 계곡 (Sharp Valley)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15"/>
          <p:cNvSpPr txBox="1"/>
          <p:nvPr/>
        </p:nvSpPr>
        <p:spPr>
          <a:xfrm>
            <a:off x="8210398" y="5329123"/>
            <a:ext cx="2057400" cy="152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내려갈 길이 명확하게 보이는 비탈길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15"/>
          <p:cNvSpPr/>
          <p:nvPr/>
        </p:nvSpPr>
        <p:spPr>
          <a:xfrm>
            <a:off x="571500" y="6186830"/>
            <a:ext cx="11048695" cy="9144"/>
          </a:xfrm>
          <a:prstGeom prst="rect">
            <a:avLst/>
          </a:prstGeom>
          <a:solidFill>
            <a:srgbClr val="334155">
              <a:alpha val="50196"/>
            </a:srgbClr>
          </a:solidFill>
          <a:ln cap="flat" cmpd="sng" w="12700">
            <a:solidFill>
              <a:srgbClr val="33415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15"/>
          <p:cNvSpPr/>
          <p:nvPr/>
        </p:nvSpPr>
        <p:spPr>
          <a:xfrm>
            <a:off x="571500" y="6386170"/>
            <a:ext cx="114300" cy="114300"/>
          </a:xfrm>
          <a:prstGeom prst="ellipse">
            <a:avLst/>
          </a:prstGeom>
          <a:solidFill>
            <a:srgbClr val="F43F5E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p15"/>
          <p:cNvSpPr txBox="1"/>
          <p:nvPr/>
        </p:nvSpPr>
        <p:spPr>
          <a:xfrm>
            <a:off x="761695" y="6348679"/>
            <a:ext cx="2211019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Saturated Region (기울기 ≈ 0)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15"/>
          <p:cNvSpPr/>
          <p:nvPr/>
        </p:nvSpPr>
        <p:spPr>
          <a:xfrm>
            <a:off x="2842870" y="6386170"/>
            <a:ext cx="114300" cy="114300"/>
          </a:xfrm>
          <a:prstGeom prst="ellipse">
            <a:avLst/>
          </a:prstGeom>
          <a:solidFill>
            <a:srgbClr val="10B981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15"/>
          <p:cNvSpPr txBox="1"/>
          <p:nvPr/>
        </p:nvSpPr>
        <p:spPr>
          <a:xfrm>
            <a:off x="3033065" y="6348679"/>
            <a:ext cx="1858975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Active Region (기울기 = 1)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15"/>
          <p:cNvSpPr txBox="1"/>
          <p:nvPr/>
        </p:nvSpPr>
        <p:spPr>
          <a:xfrm>
            <a:off x="9077249" y="6348679"/>
            <a:ext cx="3026664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13 Activation Function &amp; Loss Landscape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1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p1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16"/>
          <p:cNvSpPr/>
          <p:nvPr/>
        </p:nvSpPr>
        <p:spPr>
          <a:xfrm>
            <a:off x="571500" y="1581912"/>
            <a:ext cx="11048695" cy="9144"/>
          </a:xfrm>
          <a:prstGeom prst="rect">
            <a:avLst/>
          </a:prstGeom>
          <a:solidFill>
            <a:srgbClr val="334155">
              <a:alpha val="50196"/>
            </a:srgbClr>
          </a:solidFill>
          <a:ln cap="flat" cmpd="sng" w="12700">
            <a:solidFill>
              <a:srgbClr val="33415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16" name="Google Shape;71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381305"/>
            <a:ext cx="1800454" cy="247802"/>
          </a:xfrm>
          <a:prstGeom prst="rect">
            <a:avLst/>
          </a:prstGeom>
          <a:noFill/>
          <a:ln>
            <a:noFill/>
          </a:ln>
        </p:spPr>
      </p:pic>
      <p:sp>
        <p:nvSpPr>
          <p:cNvPr id="717" name="Google Shape;717;p16"/>
          <p:cNvSpPr/>
          <p:nvPr/>
        </p:nvSpPr>
        <p:spPr>
          <a:xfrm>
            <a:off x="571500" y="381305"/>
            <a:ext cx="1800454" cy="247802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12700">
            <a:solidFill>
              <a:srgbClr val="6366F1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5B4FC"/>
              </a:buClr>
              <a:buSzPts val="900"/>
              <a:buFont typeface="Noto Sans KR"/>
              <a:buNone/>
            </a:pPr>
            <a:r>
              <a:rPr b="1" i="0" lang="en-US" sz="900" u="none" cap="none" strike="noStrike">
                <a:solidFill>
                  <a:srgbClr val="A5B4FC"/>
                </a:solidFill>
                <a:latin typeface="Noto Sans KR"/>
                <a:ea typeface="Noto Sans KR"/>
                <a:cs typeface="Noto Sans KR"/>
                <a:sym typeface="Noto Sans KR"/>
              </a:rPr>
              <a:t>Optimization Strategy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16"/>
          <p:cNvSpPr txBox="1"/>
          <p:nvPr/>
        </p:nvSpPr>
        <p:spPr>
          <a:xfrm>
            <a:off x="2477110" y="409651"/>
            <a:ext cx="2618842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Regularization &amp; Loss Landscape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16"/>
          <p:cNvSpPr txBox="1"/>
          <p:nvPr/>
        </p:nvSpPr>
        <p:spPr>
          <a:xfrm>
            <a:off x="571500" y="705002"/>
            <a:ext cx="11239805" cy="381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Noto Sans KR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규제항(Regularization)과 지형: 부드러움의 미학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16"/>
          <p:cNvSpPr txBox="1"/>
          <p:nvPr/>
        </p:nvSpPr>
        <p:spPr>
          <a:xfrm>
            <a:off x="571500" y="1162202"/>
            <a:ext cx="11239805" cy="2670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Noto Sans KR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가중치(W)에 제약을 걸어 손실 지형을 매끄럽게 만들고 과적합(Overfitting)을 방지합니다.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21" name="Google Shape;721;p16"/>
          <p:cNvPicPr preferRelativeResize="0"/>
          <p:nvPr/>
        </p:nvPicPr>
        <p:blipFill rotWithShape="1">
          <a:blip r:embed="rId4">
            <a:alphaModFix/>
          </a:blip>
          <a:srcRect b="-4" l="0" r="0" t="-4"/>
          <a:stretch/>
        </p:blipFill>
        <p:spPr>
          <a:xfrm>
            <a:off x="571500" y="1933956"/>
            <a:ext cx="3093415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16"/>
          <p:cNvSpPr/>
          <p:nvPr/>
        </p:nvSpPr>
        <p:spPr>
          <a:xfrm>
            <a:off x="809244" y="2839212"/>
            <a:ext cx="2619756" cy="9144"/>
          </a:xfrm>
          <a:prstGeom prst="rect">
            <a:avLst/>
          </a:prstGeom>
          <a:solidFill>
            <a:srgbClr val="94A3B8">
              <a:alpha val="10196"/>
            </a:srgbClr>
          </a:solidFill>
          <a:ln cap="flat" cmpd="sng" w="12700">
            <a:solidFill>
              <a:srgbClr val="94A3B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16"/>
          <p:cNvSpPr txBox="1"/>
          <p:nvPr/>
        </p:nvSpPr>
        <p:spPr>
          <a:xfrm>
            <a:off x="708660" y="2171700"/>
            <a:ext cx="2821838" cy="286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Noto Sans KR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1. Raw Weights (No Reg)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16"/>
          <p:cNvSpPr txBox="1"/>
          <p:nvPr/>
        </p:nvSpPr>
        <p:spPr>
          <a:xfrm>
            <a:off x="757123" y="2495398"/>
            <a:ext cx="2724912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F87171"/>
                </a:solidFill>
                <a:latin typeface="Courier New"/>
                <a:ea typeface="Courier New"/>
                <a:cs typeface="Courier New"/>
                <a:sym typeface="Courier New"/>
              </a:rPr>
              <a:t>High Variance / Unstable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16"/>
          <p:cNvSpPr txBox="1"/>
          <p:nvPr/>
        </p:nvSpPr>
        <p:spPr>
          <a:xfrm>
            <a:off x="809244" y="3107131"/>
            <a:ext cx="36210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w₁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16"/>
          <p:cNvSpPr/>
          <p:nvPr/>
        </p:nvSpPr>
        <p:spPr>
          <a:xfrm>
            <a:off x="1190549" y="3038551"/>
            <a:ext cx="1762049" cy="342900"/>
          </a:xfrm>
          <a:prstGeom prst="roundRect">
            <a:avLst>
              <a:gd fmla="val 29630" name="adj"/>
            </a:avLst>
          </a:prstGeom>
          <a:solidFill>
            <a:srgbClr val="0F172A">
              <a:alpha val="50196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p16"/>
          <p:cNvSpPr/>
          <p:nvPr/>
        </p:nvSpPr>
        <p:spPr>
          <a:xfrm>
            <a:off x="1190549" y="3072384"/>
            <a:ext cx="1676095" cy="276149"/>
          </a:xfrm>
          <a:prstGeom prst="roundRect">
            <a:avLst>
              <a:gd fmla="val 34254" name="adj"/>
            </a:avLst>
          </a:prstGeom>
          <a:solidFill>
            <a:srgbClr val="EF4444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p16"/>
          <p:cNvSpPr txBox="1"/>
          <p:nvPr/>
        </p:nvSpPr>
        <p:spPr>
          <a:xfrm>
            <a:off x="2969971" y="3118104"/>
            <a:ext cx="45720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F87171"/>
                </a:solidFill>
                <a:latin typeface="Courier New"/>
                <a:ea typeface="Courier New"/>
                <a:cs typeface="Courier New"/>
                <a:sym typeface="Courier New"/>
              </a:rPr>
              <a:t>15.2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16"/>
          <p:cNvSpPr txBox="1"/>
          <p:nvPr/>
        </p:nvSpPr>
        <p:spPr>
          <a:xfrm>
            <a:off x="809244" y="3640226"/>
            <a:ext cx="36210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w₂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16"/>
          <p:cNvSpPr/>
          <p:nvPr/>
        </p:nvSpPr>
        <p:spPr>
          <a:xfrm>
            <a:off x="1190549" y="3571646"/>
            <a:ext cx="1762049" cy="342900"/>
          </a:xfrm>
          <a:prstGeom prst="roundRect">
            <a:avLst>
              <a:gd fmla="val 29630" name="adj"/>
            </a:avLst>
          </a:prstGeom>
          <a:solidFill>
            <a:srgbClr val="0F172A">
              <a:alpha val="50196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p16"/>
          <p:cNvSpPr/>
          <p:nvPr/>
        </p:nvSpPr>
        <p:spPr>
          <a:xfrm>
            <a:off x="1190549" y="3606394"/>
            <a:ext cx="1505102" cy="276149"/>
          </a:xfrm>
          <a:prstGeom prst="roundRect">
            <a:avLst>
              <a:gd fmla="val 34254" name="adj"/>
            </a:avLst>
          </a:prstGeom>
          <a:solidFill>
            <a:srgbClr val="EF4444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p16"/>
          <p:cNvSpPr txBox="1"/>
          <p:nvPr/>
        </p:nvSpPr>
        <p:spPr>
          <a:xfrm>
            <a:off x="2969971" y="3652114"/>
            <a:ext cx="45720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F87171"/>
                </a:solidFill>
                <a:latin typeface="Courier New"/>
                <a:ea typeface="Courier New"/>
                <a:cs typeface="Courier New"/>
                <a:sym typeface="Courier New"/>
              </a:rPr>
              <a:t>-9.8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16"/>
          <p:cNvSpPr txBox="1"/>
          <p:nvPr/>
        </p:nvSpPr>
        <p:spPr>
          <a:xfrm>
            <a:off x="809244" y="4173322"/>
            <a:ext cx="36210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w₃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16"/>
          <p:cNvSpPr/>
          <p:nvPr/>
        </p:nvSpPr>
        <p:spPr>
          <a:xfrm>
            <a:off x="1190549" y="4105656"/>
            <a:ext cx="1762049" cy="342900"/>
          </a:xfrm>
          <a:prstGeom prst="roundRect">
            <a:avLst>
              <a:gd fmla="val 29630" name="adj"/>
            </a:avLst>
          </a:prstGeom>
          <a:solidFill>
            <a:srgbClr val="0F172A">
              <a:alpha val="50196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p16"/>
          <p:cNvSpPr/>
          <p:nvPr/>
        </p:nvSpPr>
        <p:spPr>
          <a:xfrm>
            <a:off x="1190549" y="4139489"/>
            <a:ext cx="181051" cy="276149"/>
          </a:xfrm>
          <a:prstGeom prst="roundRect">
            <a:avLst>
              <a:gd fmla="val 79745" name="adj"/>
            </a:avLst>
          </a:prstGeom>
          <a:solidFill>
            <a:srgbClr val="EF4444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6" name="Google Shape;736;p16"/>
          <p:cNvSpPr txBox="1"/>
          <p:nvPr/>
        </p:nvSpPr>
        <p:spPr>
          <a:xfrm>
            <a:off x="2969971" y="4185209"/>
            <a:ext cx="45720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F87171"/>
                </a:solidFill>
                <a:latin typeface="Courier New"/>
                <a:ea typeface="Courier New"/>
                <a:cs typeface="Courier New"/>
                <a:sym typeface="Courier New"/>
              </a:rPr>
              <a:t>0.5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16"/>
          <p:cNvSpPr/>
          <p:nvPr/>
        </p:nvSpPr>
        <p:spPr>
          <a:xfrm>
            <a:off x="809244" y="4724705"/>
            <a:ext cx="2619756" cy="972007"/>
          </a:xfrm>
          <a:prstGeom prst="roundRect">
            <a:avLst>
              <a:gd fmla="val 7378" name="adj"/>
            </a:avLst>
          </a:prstGeom>
          <a:solidFill>
            <a:srgbClr val="EF4444">
              <a:alpha val="10196"/>
            </a:srgbClr>
          </a:solidFill>
          <a:ln cap="flat" cmpd="sng" w="12700">
            <a:solidFill>
              <a:srgbClr val="EF4444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16"/>
          <p:cNvSpPr txBox="1"/>
          <p:nvPr/>
        </p:nvSpPr>
        <p:spPr>
          <a:xfrm>
            <a:off x="933602" y="4848149"/>
            <a:ext cx="2467051" cy="152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900"/>
              <a:buFont typeface="Noto Sans KR"/>
              <a:buNone/>
            </a:pPr>
            <a:r>
              <a:rPr b="1" i="0" lang="en-US" sz="900" u="none" cap="none" strike="noStrike">
                <a:solidFill>
                  <a:srgbClr val="F87171"/>
                </a:solidFill>
                <a:latin typeface="Noto Sans KR"/>
                <a:ea typeface="Noto Sans KR"/>
                <a:cs typeface="Noto Sans KR"/>
                <a:sym typeface="Noto Sans KR"/>
              </a:rPr>
              <a:t>Problem: Overfitting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16"/>
          <p:cNvSpPr txBox="1"/>
          <p:nvPr/>
        </p:nvSpPr>
        <p:spPr>
          <a:xfrm>
            <a:off x="933602" y="5038344"/>
            <a:ext cx="2562149" cy="152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ECACA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FECACA"/>
                </a:solidFill>
                <a:latin typeface="Noto Sans KR"/>
                <a:ea typeface="Noto Sans KR"/>
                <a:cs typeface="Noto Sans KR"/>
                <a:sym typeface="Noto Sans KR"/>
              </a:rPr>
              <a:t>가중치가 너무 커짐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16"/>
          <p:cNvSpPr txBox="1"/>
          <p:nvPr/>
        </p:nvSpPr>
        <p:spPr>
          <a:xfrm>
            <a:off x="933602" y="5229454"/>
            <a:ext cx="2562149" cy="152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ECACA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FECACA"/>
                </a:solidFill>
                <a:latin typeface="Noto Sans KR"/>
                <a:ea typeface="Noto Sans KR"/>
                <a:cs typeface="Noto Sans KR"/>
                <a:sym typeface="Noto Sans KR"/>
              </a:rPr>
              <a:t>지형이 날카롭고 복잡함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16"/>
          <p:cNvSpPr txBox="1"/>
          <p:nvPr/>
        </p:nvSpPr>
        <p:spPr>
          <a:xfrm>
            <a:off x="933602" y="5419649"/>
            <a:ext cx="2562149" cy="152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ECACA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FECACA"/>
                </a:solidFill>
                <a:latin typeface="Noto Sans KR"/>
                <a:ea typeface="Noto Sans KR"/>
                <a:cs typeface="Noto Sans KR"/>
                <a:sym typeface="Noto Sans KR"/>
              </a:rPr>
              <a:t>학습 데이터에만 특화됨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16"/>
          <p:cNvSpPr/>
          <p:nvPr/>
        </p:nvSpPr>
        <p:spPr>
          <a:xfrm>
            <a:off x="3856025" y="3924605"/>
            <a:ext cx="504749" cy="19202"/>
          </a:xfrm>
          <a:prstGeom prst="rect">
            <a:avLst/>
          </a:prstGeom>
          <a:solidFill>
            <a:srgbClr val="475569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43" name="Google Shape;743;p16"/>
          <p:cNvPicPr preferRelativeResize="0"/>
          <p:nvPr/>
        </p:nvPicPr>
        <p:blipFill rotWithShape="1">
          <a:blip r:embed="rId5">
            <a:alphaModFix/>
          </a:blip>
          <a:srcRect b="-4" l="0" r="0" t="-4"/>
          <a:stretch/>
        </p:blipFill>
        <p:spPr>
          <a:xfrm>
            <a:off x="4549140" y="1933956"/>
            <a:ext cx="3093415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744" name="Google Shape;744;p16"/>
          <p:cNvSpPr/>
          <p:nvPr/>
        </p:nvSpPr>
        <p:spPr>
          <a:xfrm>
            <a:off x="4786884" y="2839212"/>
            <a:ext cx="2619756" cy="9144"/>
          </a:xfrm>
          <a:prstGeom prst="rect">
            <a:avLst/>
          </a:prstGeom>
          <a:solidFill>
            <a:srgbClr val="94A3B8">
              <a:alpha val="10196"/>
            </a:srgbClr>
          </a:solidFill>
          <a:ln cap="flat" cmpd="sng" w="12700">
            <a:solidFill>
              <a:srgbClr val="94A3B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p16"/>
          <p:cNvSpPr txBox="1"/>
          <p:nvPr/>
        </p:nvSpPr>
        <p:spPr>
          <a:xfrm>
            <a:off x="4734763" y="2171700"/>
            <a:ext cx="2724912" cy="286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Noto Sans KR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2. Penalty Pressure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16"/>
          <p:cNvSpPr txBox="1"/>
          <p:nvPr/>
        </p:nvSpPr>
        <p:spPr>
          <a:xfrm>
            <a:off x="4734763" y="2495398"/>
            <a:ext cx="2724912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L1 (Lasso) vs L2 (Ridge)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16"/>
          <p:cNvSpPr/>
          <p:nvPr/>
        </p:nvSpPr>
        <p:spPr>
          <a:xfrm>
            <a:off x="4786884" y="3038551"/>
            <a:ext cx="2619756" cy="952805"/>
          </a:xfrm>
          <a:prstGeom prst="roundRect">
            <a:avLst>
              <a:gd fmla="val 7678" name="adj"/>
            </a:avLst>
          </a:prstGeom>
          <a:solidFill>
            <a:srgbClr val="1E293B">
              <a:alpha val="50196"/>
            </a:srgbClr>
          </a:solidFill>
          <a:ln cap="flat" cmpd="sng" w="12700">
            <a:solidFill>
              <a:srgbClr val="475569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16"/>
          <p:cNvSpPr txBox="1"/>
          <p:nvPr/>
        </p:nvSpPr>
        <p:spPr>
          <a:xfrm>
            <a:off x="4911242" y="3161995"/>
            <a:ext cx="522122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Noto Sans KR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L1: |w|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16"/>
          <p:cNvSpPr txBox="1"/>
          <p:nvPr/>
        </p:nvSpPr>
        <p:spPr>
          <a:xfrm>
            <a:off x="6763817" y="3181198"/>
            <a:ext cx="623621" cy="152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Abs Value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16"/>
          <p:cNvSpPr txBox="1"/>
          <p:nvPr/>
        </p:nvSpPr>
        <p:spPr>
          <a:xfrm>
            <a:off x="4911242" y="3390595"/>
            <a:ext cx="2562149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"0이 되도록 민다"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51" name="Google Shape;751;p16"/>
          <p:cNvPicPr preferRelativeResize="0"/>
          <p:nvPr/>
        </p:nvPicPr>
        <p:blipFill rotWithShape="1">
          <a:blip r:embed="rId6">
            <a:alphaModFix/>
          </a:blip>
          <a:srcRect b="-392" l="0" r="0" t="-393"/>
          <a:stretch/>
        </p:blipFill>
        <p:spPr>
          <a:xfrm>
            <a:off x="4911242" y="3624682"/>
            <a:ext cx="2370125" cy="576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52" name="Google Shape;752;p16"/>
          <p:cNvPicPr preferRelativeResize="0"/>
          <p:nvPr/>
        </p:nvPicPr>
        <p:blipFill rotWithShape="1">
          <a:blip r:embed="rId7">
            <a:alphaModFix/>
          </a:blip>
          <a:srcRect b="-391" l="0" r="0" t="-392"/>
          <a:stretch/>
        </p:blipFill>
        <p:spPr>
          <a:xfrm>
            <a:off x="4911242" y="3624682"/>
            <a:ext cx="1777594" cy="57607"/>
          </a:xfrm>
          <a:prstGeom prst="rect">
            <a:avLst/>
          </a:prstGeom>
          <a:noFill/>
          <a:ln>
            <a:noFill/>
          </a:ln>
        </p:spPr>
      </p:pic>
      <p:sp>
        <p:nvSpPr>
          <p:cNvPr id="753" name="Google Shape;753;p16"/>
          <p:cNvSpPr txBox="1"/>
          <p:nvPr/>
        </p:nvSpPr>
        <p:spPr>
          <a:xfrm>
            <a:off x="4816145" y="3719779"/>
            <a:ext cx="2467051" cy="143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800"/>
              <a:buFont typeface="Noto Sans KR"/>
              <a:buNone/>
            </a:pPr>
            <a:r>
              <a:rPr b="0" i="0" lang="en-US" sz="800" u="none" cap="none" strike="noStrike">
                <a:solidFill>
                  <a:srgbClr val="93C5FD"/>
                </a:solidFill>
                <a:latin typeface="Noto Sans KR"/>
                <a:ea typeface="Noto Sans KR"/>
                <a:cs typeface="Noto Sans KR"/>
                <a:sym typeface="Noto Sans KR"/>
              </a:rPr>
              <a:t>Sparsity Effect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16"/>
          <p:cNvSpPr/>
          <p:nvPr/>
        </p:nvSpPr>
        <p:spPr>
          <a:xfrm>
            <a:off x="4786884" y="4138574"/>
            <a:ext cx="2619756" cy="952805"/>
          </a:xfrm>
          <a:prstGeom prst="roundRect">
            <a:avLst>
              <a:gd fmla="val 7678" name="adj"/>
            </a:avLst>
          </a:prstGeom>
          <a:solidFill>
            <a:srgbClr val="1E293B">
              <a:alpha val="50196"/>
            </a:srgbClr>
          </a:solidFill>
          <a:ln cap="flat" cmpd="sng" w="12700">
            <a:solidFill>
              <a:srgbClr val="475569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5" name="Google Shape;755;p16"/>
          <p:cNvSpPr txBox="1"/>
          <p:nvPr/>
        </p:nvSpPr>
        <p:spPr>
          <a:xfrm>
            <a:off x="4911242" y="4262018"/>
            <a:ext cx="48829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Noto Sans KR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L2: w²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16"/>
          <p:cNvSpPr txBox="1"/>
          <p:nvPr/>
        </p:nvSpPr>
        <p:spPr>
          <a:xfrm>
            <a:off x="6831482" y="4281221"/>
            <a:ext cx="534010" cy="152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Squared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16"/>
          <p:cNvSpPr txBox="1"/>
          <p:nvPr/>
        </p:nvSpPr>
        <p:spPr>
          <a:xfrm>
            <a:off x="4911242" y="4490618"/>
            <a:ext cx="2562149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"큰 값을 강하게 억제"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58" name="Google Shape;758;p16"/>
          <p:cNvPicPr preferRelativeResize="0"/>
          <p:nvPr/>
        </p:nvPicPr>
        <p:blipFill rotWithShape="1">
          <a:blip r:embed="rId6">
            <a:alphaModFix/>
          </a:blip>
          <a:srcRect b="-392" l="0" r="0" t="-393"/>
          <a:stretch/>
        </p:blipFill>
        <p:spPr>
          <a:xfrm>
            <a:off x="4911242" y="4724705"/>
            <a:ext cx="2370125" cy="576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59" name="Google Shape;759;p16"/>
          <p:cNvPicPr preferRelativeResize="0"/>
          <p:nvPr/>
        </p:nvPicPr>
        <p:blipFill rotWithShape="1">
          <a:blip r:embed="rId8">
            <a:alphaModFix/>
          </a:blip>
          <a:srcRect b="-392" l="0" r="0" t="-393"/>
          <a:stretch/>
        </p:blipFill>
        <p:spPr>
          <a:xfrm>
            <a:off x="4911242" y="4724705"/>
            <a:ext cx="2370125" cy="57607"/>
          </a:xfrm>
          <a:prstGeom prst="rect">
            <a:avLst/>
          </a:prstGeom>
          <a:noFill/>
          <a:ln>
            <a:noFill/>
          </a:ln>
        </p:spPr>
      </p:pic>
      <p:sp>
        <p:nvSpPr>
          <p:cNvPr id="760" name="Google Shape;760;p16"/>
          <p:cNvSpPr txBox="1"/>
          <p:nvPr/>
        </p:nvSpPr>
        <p:spPr>
          <a:xfrm>
            <a:off x="4816145" y="4819802"/>
            <a:ext cx="2467051" cy="143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800"/>
              <a:buFont typeface="Noto Sans KR"/>
              <a:buNone/>
            </a:pPr>
            <a:r>
              <a:rPr b="0" i="0" lang="en-US" sz="800" u="none" cap="none" strike="noStrike">
                <a:solidFill>
                  <a:srgbClr val="93C5FD"/>
                </a:solidFill>
                <a:latin typeface="Noto Sans KR"/>
                <a:ea typeface="Noto Sans KR"/>
                <a:cs typeface="Noto Sans KR"/>
                <a:sym typeface="Noto Sans KR"/>
              </a:rPr>
              <a:t>Smoothing Effect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16"/>
          <p:cNvSpPr/>
          <p:nvPr/>
        </p:nvSpPr>
        <p:spPr>
          <a:xfrm>
            <a:off x="4786884" y="5086807"/>
            <a:ext cx="2619756" cy="972007"/>
          </a:xfrm>
          <a:prstGeom prst="roundRect">
            <a:avLst>
              <a:gd fmla="val 7378" name="adj"/>
            </a:avLst>
          </a:prstGeom>
          <a:solidFill>
            <a:srgbClr val="3B82F6">
              <a:alpha val="10196"/>
            </a:srgbClr>
          </a:solidFill>
          <a:ln cap="flat" cmpd="sng" w="12700">
            <a:solidFill>
              <a:srgbClr val="3B82F6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2" name="Google Shape;762;p16"/>
          <p:cNvSpPr txBox="1"/>
          <p:nvPr/>
        </p:nvSpPr>
        <p:spPr>
          <a:xfrm>
            <a:off x="4911242" y="5210251"/>
            <a:ext cx="2467051" cy="152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900"/>
              <a:buFont typeface="Noto Sans KR"/>
              <a:buNone/>
            </a:pPr>
            <a:r>
              <a:rPr b="1" i="0" lang="en-US" sz="900" u="none" cap="none" strike="noStrike">
                <a:solidFill>
                  <a:srgbClr val="60A5FA"/>
                </a:solidFill>
                <a:latin typeface="Noto Sans KR"/>
                <a:ea typeface="Noto Sans KR"/>
                <a:cs typeface="Noto Sans KR"/>
                <a:sym typeface="Noto Sans KR"/>
              </a:rPr>
              <a:t>Mechanism: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16"/>
          <p:cNvSpPr txBox="1"/>
          <p:nvPr/>
        </p:nvSpPr>
        <p:spPr>
          <a:xfrm>
            <a:off x="4911242" y="5400446"/>
            <a:ext cx="2562149" cy="152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BFE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BFDBFE"/>
                </a:solidFill>
                <a:latin typeface="Noto Sans KR"/>
                <a:ea typeface="Noto Sans KR"/>
                <a:cs typeface="Noto Sans KR"/>
                <a:sym typeface="Noto Sans KR"/>
              </a:rPr>
              <a:t>손실 함수 뒤에 항 추가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16"/>
          <p:cNvSpPr txBox="1"/>
          <p:nvPr/>
        </p:nvSpPr>
        <p:spPr>
          <a:xfrm>
            <a:off x="4911242" y="5591556"/>
            <a:ext cx="2562149" cy="152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BFE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BFDBFE"/>
                </a:solidFill>
                <a:latin typeface="Noto Sans KR"/>
                <a:ea typeface="Noto Sans KR"/>
                <a:cs typeface="Noto Sans KR"/>
                <a:sym typeface="Noto Sans KR"/>
              </a:rPr>
              <a:t>W가 커질수록 손실 급증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16"/>
          <p:cNvSpPr txBox="1"/>
          <p:nvPr/>
        </p:nvSpPr>
        <p:spPr>
          <a:xfrm>
            <a:off x="4911242" y="5781751"/>
            <a:ext cx="2562149" cy="152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BFE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BFDBFE"/>
                </a:solidFill>
                <a:latin typeface="Noto Sans KR"/>
                <a:ea typeface="Noto Sans KR"/>
                <a:cs typeface="Noto Sans KR"/>
                <a:sym typeface="Noto Sans KR"/>
              </a:rPr>
              <a:t>지형의 곡률을 완화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16"/>
          <p:cNvSpPr/>
          <p:nvPr/>
        </p:nvSpPr>
        <p:spPr>
          <a:xfrm>
            <a:off x="7833665" y="3924605"/>
            <a:ext cx="504749" cy="19202"/>
          </a:xfrm>
          <a:prstGeom prst="rect">
            <a:avLst/>
          </a:prstGeom>
          <a:solidFill>
            <a:srgbClr val="475569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67" name="Google Shape;767;p16"/>
          <p:cNvPicPr preferRelativeResize="0"/>
          <p:nvPr/>
        </p:nvPicPr>
        <p:blipFill rotWithShape="1">
          <a:blip r:embed="rId9">
            <a:alphaModFix/>
          </a:blip>
          <a:srcRect b="-4" l="0" r="0" t="-4"/>
          <a:stretch/>
        </p:blipFill>
        <p:spPr>
          <a:xfrm>
            <a:off x="8526780" y="1933956"/>
            <a:ext cx="3093415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768" name="Google Shape;768;p16"/>
          <p:cNvSpPr/>
          <p:nvPr/>
        </p:nvSpPr>
        <p:spPr>
          <a:xfrm>
            <a:off x="8764524" y="2839212"/>
            <a:ext cx="2619756" cy="9144"/>
          </a:xfrm>
          <a:prstGeom prst="rect">
            <a:avLst/>
          </a:prstGeom>
          <a:solidFill>
            <a:srgbClr val="94A3B8">
              <a:alpha val="10196"/>
            </a:srgbClr>
          </a:solidFill>
          <a:ln cap="flat" cmpd="sng" w="12700">
            <a:solidFill>
              <a:srgbClr val="94A3B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9" name="Google Shape;769;p16"/>
          <p:cNvSpPr txBox="1"/>
          <p:nvPr/>
        </p:nvSpPr>
        <p:spPr>
          <a:xfrm>
            <a:off x="8712403" y="2171700"/>
            <a:ext cx="2724912" cy="286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Noto Sans KR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3. Regularized W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16"/>
          <p:cNvSpPr txBox="1"/>
          <p:nvPr/>
        </p:nvSpPr>
        <p:spPr>
          <a:xfrm>
            <a:off x="8712403" y="2495398"/>
            <a:ext cx="2724912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rPr>
              <a:t>Generalization / Smooth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16"/>
          <p:cNvSpPr txBox="1"/>
          <p:nvPr/>
        </p:nvSpPr>
        <p:spPr>
          <a:xfrm>
            <a:off x="8764524" y="3107131"/>
            <a:ext cx="36210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w₁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16"/>
          <p:cNvSpPr/>
          <p:nvPr/>
        </p:nvSpPr>
        <p:spPr>
          <a:xfrm>
            <a:off x="9145829" y="3038551"/>
            <a:ext cx="1762049" cy="342900"/>
          </a:xfrm>
          <a:prstGeom prst="roundRect">
            <a:avLst>
              <a:gd fmla="val 29630" name="adj"/>
            </a:avLst>
          </a:prstGeom>
          <a:solidFill>
            <a:srgbClr val="0F172A">
              <a:alpha val="50196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p16"/>
          <p:cNvSpPr/>
          <p:nvPr/>
        </p:nvSpPr>
        <p:spPr>
          <a:xfrm>
            <a:off x="9145829" y="3072384"/>
            <a:ext cx="705002" cy="276149"/>
          </a:xfrm>
          <a:prstGeom prst="roundRect">
            <a:avLst>
              <a:gd fmla="val 34254" name="adj"/>
            </a:avLst>
          </a:prstGeom>
          <a:solidFill>
            <a:srgbClr val="10B981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p16"/>
          <p:cNvSpPr txBox="1"/>
          <p:nvPr/>
        </p:nvSpPr>
        <p:spPr>
          <a:xfrm>
            <a:off x="10510114" y="3138221"/>
            <a:ext cx="400507" cy="143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Noto Sans KR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Shrunk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16"/>
          <p:cNvSpPr txBox="1"/>
          <p:nvPr/>
        </p:nvSpPr>
        <p:spPr>
          <a:xfrm>
            <a:off x="10925251" y="3118104"/>
            <a:ext cx="45720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rPr>
              <a:t>2.1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16"/>
          <p:cNvSpPr txBox="1"/>
          <p:nvPr/>
        </p:nvSpPr>
        <p:spPr>
          <a:xfrm>
            <a:off x="8764524" y="3640226"/>
            <a:ext cx="36210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w₂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16"/>
          <p:cNvSpPr/>
          <p:nvPr/>
        </p:nvSpPr>
        <p:spPr>
          <a:xfrm>
            <a:off x="9145829" y="3571646"/>
            <a:ext cx="1762049" cy="342900"/>
          </a:xfrm>
          <a:prstGeom prst="roundRect">
            <a:avLst>
              <a:gd fmla="val 29630" name="adj"/>
            </a:avLst>
          </a:prstGeom>
          <a:solidFill>
            <a:srgbClr val="0F172A">
              <a:alpha val="50196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8" name="Google Shape;778;p16"/>
          <p:cNvSpPr/>
          <p:nvPr/>
        </p:nvSpPr>
        <p:spPr>
          <a:xfrm>
            <a:off x="9145829" y="3606394"/>
            <a:ext cx="533095" cy="276149"/>
          </a:xfrm>
          <a:prstGeom prst="roundRect">
            <a:avLst>
              <a:gd fmla="val 34254" name="adj"/>
            </a:avLst>
          </a:prstGeom>
          <a:solidFill>
            <a:srgbClr val="10B981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p16"/>
          <p:cNvSpPr txBox="1"/>
          <p:nvPr/>
        </p:nvSpPr>
        <p:spPr>
          <a:xfrm>
            <a:off x="10510114" y="3672230"/>
            <a:ext cx="400507" cy="143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Noto Sans KR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Shrunk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16"/>
          <p:cNvSpPr txBox="1"/>
          <p:nvPr/>
        </p:nvSpPr>
        <p:spPr>
          <a:xfrm>
            <a:off x="10925251" y="3652114"/>
            <a:ext cx="45720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rPr>
              <a:t>-1.5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16"/>
          <p:cNvSpPr txBox="1"/>
          <p:nvPr/>
        </p:nvSpPr>
        <p:spPr>
          <a:xfrm>
            <a:off x="8764524" y="4173322"/>
            <a:ext cx="36210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w₃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16"/>
          <p:cNvSpPr/>
          <p:nvPr/>
        </p:nvSpPr>
        <p:spPr>
          <a:xfrm>
            <a:off x="9145829" y="4105656"/>
            <a:ext cx="1762049" cy="342900"/>
          </a:xfrm>
          <a:prstGeom prst="roundRect">
            <a:avLst>
              <a:gd fmla="val 29630" name="adj"/>
            </a:avLst>
          </a:prstGeom>
          <a:solidFill>
            <a:srgbClr val="0F172A">
              <a:alpha val="50196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83" name="Google Shape;783;p16"/>
          <p:cNvPicPr preferRelativeResize="0"/>
          <p:nvPr/>
        </p:nvPicPr>
        <p:blipFill rotWithShape="1">
          <a:blip r:embed="rId10">
            <a:alphaModFix/>
          </a:blip>
          <a:srcRect b="-2083" l="0" r="0" t="-2083"/>
          <a:stretch/>
        </p:blipFill>
        <p:spPr>
          <a:xfrm>
            <a:off x="9145829" y="4105656"/>
            <a:ext cx="9144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784" name="Google Shape;784;p16"/>
          <p:cNvSpPr txBox="1"/>
          <p:nvPr/>
        </p:nvSpPr>
        <p:spPr>
          <a:xfrm>
            <a:off x="9221724" y="4205326"/>
            <a:ext cx="391363" cy="143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Noto Sans KR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Zeroed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16"/>
          <p:cNvSpPr txBox="1"/>
          <p:nvPr/>
        </p:nvSpPr>
        <p:spPr>
          <a:xfrm>
            <a:off x="10925251" y="4185209"/>
            <a:ext cx="45720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rPr>
              <a:t>0.0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16"/>
          <p:cNvSpPr/>
          <p:nvPr/>
        </p:nvSpPr>
        <p:spPr>
          <a:xfrm>
            <a:off x="8764524" y="4724705"/>
            <a:ext cx="2619756" cy="972007"/>
          </a:xfrm>
          <a:prstGeom prst="roundRect">
            <a:avLst>
              <a:gd fmla="val 7378" name="adj"/>
            </a:avLst>
          </a:prstGeom>
          <a:solidFill>
            <a:srgbClr val="10B981">
              <a:alpha val="10196"/>
            </a:srgbClr>
          </a:solidFill>
          <a:ln cap="flat" cmpd="sng" w="12700">
            <a:solidFill>
              <a:srgbClr val="10B981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7" name="Google Shape;787;p16"/>
          <p:cNvSpPr txBox="1"/>
          <p:nvPr/>
        </p:nvSpPr>
        <p:spPr>
          <a:xfrm>
            <a:off x="8888882" y="4848149"/>
            <a:ext cx="2467051" cy="152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900"/>
              <a:buFont typeface="Noto Sans KR"/>
              <a:buNone/>
            </a:pPr>
            <a:r>
              <a:rPr b="1" i="0" lang="en-US" sz="900" u="none" cap="none" strike="noStrike">
                <a:solidFill>
                  <a:srgbClr val="34D399"/>
                </a:solidFill>
                <a:latin typeface="Noto Sans KR"/>
                <a:ea typeface="Noto Sans KR"/>
                <a:cs typeface="Noto Sans KR"/>
                <a:sym typeface="Noto Sans KR"/>
              </a:rPr>
              <a:t>Result: Better Landscape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16"/>
          <p:cNvSpPr txBox="1"/>
          <p:nvPr/>
        </p:nvSpPr>
        <p:spPr>
          <a:xfrm>
            <a:off x="8888882" y="5038344"/>
            <a:ext cx="2562149" cy="152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A7F3D0"/>
                </a:solidFill>
                <a:latin typeface="Noto Sans KR"/>
                <a:ea typeface="Noto Sans KR"/>
                <a:cs typeface="Noto Sans KR"/>
                <a:sym typeface="Noto Sans KR"/>
              </a:rPr>
              <a:t>부드럽고 완만한 계곡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16"/>
          <p:cNvSpPr txBox="1"/>
          <p:nvPr/>
        </p:nvSpPr>
        <p:spPr>
          <a:xfrm>
            <a:off x="8888882" y="5229454"/>
            <a:ext cx="2467051" cy="152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A7F3D0"/>
                </a:solidFill>
                <a:latin typeface="Noto Sans KR"/>
                <a:ea typeface="Noto Sans KR"/>
                <a:cs typeface="Noto Sans KR"/>
                <a:sym typeface="Noto Sans KR"/>
              </a:rPr>
              <a:t>이상치(Outlier)에 강인함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16"/>
          <p:cNvSpPr txBox="1"/>
          <p:nvPr/>
        </p:nvSpPr>
        <p:spPr>
          <a:xfrm>
            <a:off x="8888882" y="5419649"/>
            <a:ext cx="2562149" cy="152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A7F3D0"/>
                </a:solidFill>
                <a:latin typeface="Noto Sans KR"/>
                <a:ea typeface="Noto Sans KR"/>
                <a:cs typeface="Noto Sans KR"/>
                <a:sym typeface="Noto Sans KR"/>
              </a:rPr>
              <a:t>일반화 성능 향상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91" name="Google Shape;791;p16"/>
          <p:cNvPicPr preferRelativeResize="0"/>
          <p:nvPr/>
        </p:nvPicPr>
        <p:blipFill rotWithShape="1">
          <a:blip r:embed="rId11">
            <a:alphaModFix/>
          </a:blip>
          <a:srcRect b="-47" l="0" r="0" t="-47"/>
          <a:stretch/>
        </p:blipFill>
        <p:spPr>
          <a:xfrm>
            <a:off x="3393338" y="6200546"/>
            <a:ext cx="5405018" cy="514807"/>
          </a:xfrm>
          <a:prstGeom prst="rect">
            <a:avLst/>
          </a:prstGeom>
          <a:noFill/>
          <a:ln>
            <a:noFill/>
          </a:ln>
        </p:spPr>
      </p:pic>
      <p:sp>
        <p:nvSpPr>
          <p:cNvPr id="792" name="Google Shape;792;p16"/>
          <p:cNvSpPr txBox="1"/>
          <p:nvPr/>
        </p:nvSpPr>
        <p:spPr>
          <a:xfrm>
            <a:off x="3707892" y="6362395"/>
            <a:ext cx="962863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Total Loss: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16"/>
          <p:cNvSpPr txBox="1"/>
          <p:nvPr/>
        </p:nvSpPr>
        <p:spPr>
          <a:xfrm>
            <a:off x="4740250" y="6324905"/>
            <a:ext cx="2981858" cy="2670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L(W) = </a:t>
            </a:r>
            <a:r>
              <a:rPr b="0" i="0" lang="en-US" sz="1500" u="none" cap="none" strike="noStrike">
                <a:solidFill>
                  <a:srgbClr val="F87171"/>
                </a:solidFill>
                <a:latin typeface="Arial"/>
                <a:ea typeface="Arial"/>
                <a:cs typeface="Arial"/>
                <a:sym typeface="Arial"/>
              </a:rPr>
              <a:t>L_data</a:t>
            </a:r>
            <a:r>
              <a:rPr b="0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b="0" i="0" lang="en-US" sz="1500" u="none" cap="none" strike="noStrike">
                <a:solidFill>
                  <a:srgbClr val="60A5FA"/>
                </a:solidFill>
                <a:latin typeface="Arial"/>
                <a:ea typeface="Arial"/>
                <a:cs typeface="Arial"/>
                <a:sym typeface="Arial"/>
              </a:rPr>
              <a:t>λ</a:t>
            </a:r>
            <a:r>
              <a:rPr b="0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· </a:t>
            </a:r>
            <a:r>
              <a:rPr b="0" i="0" lang="en-US" sz="1500" u="none" cap="none" strike="noStrike">
                <a:solidFill>
                  <a:srgbClr val="60A5FA"/>
                </a:solidFill>
                <a:latin typeface="Arial"/>
                <a:ea typeface="Arial"/>
                <a:cs typeface="Arial"/>
                <a:sym typeface="Arial"/>
              </a:rPr>
              <a:t>||W||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16"/>
          <p:cNvSpPr txBox="1"/>
          <p:nvPr/>
        </p:nvSpPr>
        <p:spPr>
          <a:xfrm>
            <a:off x="7827264" y="6381598"/>
            <a:ext cx="782726" cy="152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(λ: 규제 강도)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95" name="Google Shape;795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406140" y="3766414"/>
            <a:ext cx="141000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796" name="Google Shape;796;p16"/>
          <p:cNvSpPr/>
          <p:nvPr/>
        </p:nvSpPr>
        <p:spPr>
          <a:xfrm>
            <a:off x="3406140" y="3766414"/>
            <a:ext cx="1410005" cy="342900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254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5B4FC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A5B4FC"/>
                </a:solidFill>
                <a:latin typeface="Courier New"/>
                <a:ea typeface="Courier New"/>
                <a:cs typeface="Courier New"/>
                <a:sym typeface="Courier New"/>
              </a:rPr>
              <a:t>+ Penalty λR(W)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97" name="Google Shape;797;p1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639812" y="3766414"/>
            <a:ext cx="895198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798" name="Google Shape;798;p16"/>
          <p:cNvSpPr/>
          <p:nvPr/>
        </p:nvSpPr>
        <p:spPr>
          <a:xfrm>
            <a:off x="7639812" y="3766414"/>
            <a:ext cx="896112" cy="342900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254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E7B7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6EE7B7"/>
                </a:solidFill>
                <a:latin typeface="Courier New"/>
                <a:ea typeface="Courier New"/>
                <a:cs typeface="Courier New"/>
                <a:sym typeface="Courier New"/>
              </a:rPr>
              <a:t>Optimize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1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5" name="Google Shape;805;p1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06" name="Google Shape;806;p17"/>
          <p:cNvPicPr preferRelativeResize="0"/>
          <p:nvPr/>
        </p:nvPicPr>
        <p:blipFill rotWithShape="1">
          <a:blip r:embed="rId3">
            <a:alphaModFix/>
          </a:blip>
          <a:srcRect b="-1" l="0" r="0" t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07" name="Google Shape;807;p17"/>
          <p:cNvPicPr preferRelativeResize="0"/>
          <p:nvPr/>
        </p:nvPicPr>
        <p:blipFill rotWithShape="1">
          <a:blip r:embed="rId4">
            <a:alphaModFix/>
          </a:blip>
          <a:srcRect b="-1" l="0" r="0" t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8" name="Google Shape;808;p17"/>
          <p:cNvSpPr/>
          <p:nvPr/>
        </p:nvSpPr>
        <p:spPr>
          <a:xfrm>
            <a:off x="733349" y="476402"/>
            <a:ext cx="914400" cy="247802"/>
          </a:xfrm>
          <a:prstGeom prst="rect">
            <a:avLst/>
          </a:prstGeom>
          <a:noFill/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Noto Sans KR"/>
              <a:buNone/>
            </a:pPr>
            <a:r>
              <a:rPr b="1" i="0" lang="en-US" sz="900" u="none" cap="none" strike="noStrike">
                <a:solidFill>
                  <a:srgbClr val="E2E8F0"/>
                </a:solidFill>
                <a:latin typeface="Noto Sans KR"/>
                <a:ea typeface="Noto Sans KR"/>
                <a:cs typeface="Noto Sans KR"/>
                <a:sym typeface="Noto Sans KR"/>
              </a:rPr>
              <a:t>Summary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17"/>
          <p:cNvSpPr txBox="1"/>
          <p:nvPr/>
        </p:nvSpPr>
        <p:spPr>
          <a:xfrm>
            <a:off x="1730959" y="504749"/>
            <a:ext cx="112014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Noto Sans KR"/>
                <a:ea typeface="Noto Sans KR"/>
                <a:cs typeface="Noto Sans KR"/>
                <a:sym typeface="Noto Sans KR"/>
              </a:rPr>
              <a:t>Chapter Recap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17"/>
          <p:cNvSpPr txBox="1"/>
          <p:nvPr/>
        </p:nvSpPr>
        <p:spPr>
          <a:xfrm>
            <a:off x="761695" y="838505"/>
            <a:ext cx="10972800" cy="381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Noto Sans KR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단원 요약: 손실 함수는 딥러닝의 지형도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17"/>
          <p:cNvSpPr txBox="1"/>
          <p:nvPr/>
        </p:nvSpPr>
        <p:spPr>
          <a:xfrm>
            <a:off x="761695" y="1295705"/>
            <a:ext cx="10858500" cy="2670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Noto Sans KR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Noto Sans KR"/>
                <a:ea typeface="Noto Sans KR"/>
                <a:cs typeface="Noto Sans KR"/>
                <a:sym typeface="Noto Sans KR"/>
              </a:rPr>
              <a:t>우리는 오차를 줄여나가는 여정을 위한 지도와 나침반을 얻었습니다.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17"/>
          <p:cNvSpPr txBox="1"/>
          <p:nvPr/>
        </p:nvSpPr>
        <p:spPr>
          <a:xfrm>
            <a:off x="993953" y="7307885"/>
            <a:ext cx="1121054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Lecture 01-04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17"/>
          <p:cNvSpPr txBox="1"/>
          <p:nvPr/>
        </p:nvSpPr>
        <p:spPr>
          <a:xfrm>
            <a:off x="8876995" y="7307885"/>
            <a:ext cx="2665476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 Next: Optimization Algorithms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17"/>
          <p:cNvSpPr/>
          <p:nvPr/>
        </p:nvSpPr>
        <p:spPr>
          <a:xfrm>
            <a:off x="761695" y="7365492"/>
            <a:ext cx="75895" cy="75895"/>
          </a:xfrm>
          <a:prstGeom prst="ellipse">
            <a:avLst/>
          </a:prstGeom>
          <a:solidFill>
            <a:srgbClr val="3B82F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15" name="Google Shape;815;p17"/>
          <p:cNvPicPr preferRelativeResize="0"/>
          <p:nvPr/>
        </p:nvPicPr>
        <p:blipFill rotWithShape="1">
          <a:blip r:embed="rId5">
            <a:alphaModFix/>
          </a:blip>
          <a:srcRect b="-1100" l="0" r="0" t="-1100"/>
          <a:stretch/>
        </p:blipFill>
        <p:spPr>
          <a:xfrm>
            <a:off x="11315700" y="7324344"/>
            <a:ext cx="114300" cy="133502"/>
          </a:xfrm>
          <a:prstGeom prst="rect">
            <a:avLst/>
          </a:prstGeom>
          <a:noFill/>
          <a:ln>
            <a:noFill/>
          </a:ln>
        </p:spPr>
      </p:pic>
      <p:sp>
        <p:nvSpPr>
          <p:cNvPr id="816" name="Google Shape;816;p17"/>
          <p:cNvSpPr/>
          <p:nvPr/>
        </p:nvSpPr>
        <p:spPr>
          <a:xfrm>
            <a:off x="752551" y="1608430"/>
            <a:ext cx="6734556" cy="1019556"/>
          </a:xfrm>
          <a:prstGeom prst="roundRect">
            <a:avLst>
              <a:gd fmla="val 10058" name="adj"/>
            </a:avLst>
          </a:prstGeom>
          <a:solidFill>
            <a:srgbClr val="1E293B">
              <a:alpha val="40000"/>
            </a:srgbClr>
          </a:solidFill>
          <a:ln cap="flat" cmpd="sng" w="12700">
            <a:solidFill>
              <a:srgbClr val="94A3B8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17" name="Google Shape;817;p17"/>
          <p:cNvPicPr preferRelativeResize="0"/>
          <p:nvPr/>
        </p:nvPicPr>
        <p:blipFill rotWithShape="1">
          <a:blip r:embed="rId6">
            <a:alphaModFix/>
          </a:blip>
          <a:srcRect b="0" l="-4396" r="-4395" t="0"/>
          <a:stretch/>
        </p:blipFill>
        <p:spPr>
          <a:xfrm>
            <a:off x="1133856" y="1980590"/>
            <a:ext cx="181051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818" name="Google Shape;818;p17"/>
          <p:cNvSpPr txBox="1"/>
          <p:nvPr/>
        </p:nvSpPr>
        <p:spPr>
          <a:xfrm>
            <a:off x="1638605" y="1847088"/>
            <a:ext cx="4705502" cy="2670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Noto Sans KR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역전파의 시작점 (Origin of Gradient)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17"/>
          <p:cNvSpPr txBox="1"/>
          <p:nvPr/>
        </p:nvSpPr>
        <p:spPr>
          <a:xfrm>
            <a:off x="1638605" y="2151583"/>
            <a:ext cx="5519318" cy="238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Noto Sans KR"/>
                <a:ea typeface="Noto Sans KR"/>
                <a:cs typeface="Noto Sans KR"/>
                <a:sym typeface="Noto Sans KR"/>
              </a:rPr>
              <a:t> 손실 함수 </a:t>
            </a:r>
            <a:r>
              <a:rPr b="0" i="0" lang="en-US" sz="10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L(W)</a:t>
            </a:r>
            <a:r>
              <a:rPr b="0" i="0" lang="en-US" sz="1000" u="none" cap="none" strike="noStrike">
                <a:solidFill>
                  <a:srgbClr val="E2E8F0"/>
                </a:solidFill>
                <a:latin typeface="Noto Sans KR"/>
                <a:ea typeface="Noto Sans KR"/>
                <a:cs typeface="Noto Sans KR"/>
                <a:sym typeface="Noto Sans KR"/>
              </a:rPr>
              <a:t>은 모델 학습을 위한 미분값(기울기)을 생성하는 신호의 원천입니다.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17"/>
          <p:cNvSpPr/>
          <p:nvPr/>
        </p:nvSpPr>
        <p:spPr>
          <a:xfrm>
            <a:off x="752551" y="2777947"/>
            <a:ext cx="6734556" cy="1238098"/>
          </a:xfrm>
          <a:prstGeom prst="roundRect">
            <a:avLst>
              <a:gd fmla="val 6817" name="adj"/>
            </a:avLst>
          </a:prstGeom>
          <a:solidFill>
            <a:srgbClr val="1E293B">
              <a:alpha val="40000"/>
            </a:srgbClr>
          </a:solidFill>
          <a:ln cap="flat" cmpd="sng" w="12700">
            <a:solidFill>
              <a:srgbClr val="94A3B8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21" name="Google Shape;821;p17"/>
          <p:cNvPicPr preferRelativeResize="0"/>
          <p:nvPr/>
        </p:nvPicPr>
        <p:blipFill rotWithShape="1">
          <a:blip r:embed="rId7">
            <a:alphaModFix/>
          </a:blip>
          <a:srcRect b="0" l="-3419" r="-3418" t="0"/>
          <a:stretch/>
        </p:blipFill>
        <p:spPr>
          <a:xfrm>
            <a:off x="1110082" y="3149194"/>
            <a:ext cx="228600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822" name="Google Shape;822;p17"/>
          <p:cNvSpPr txBox="1"/>
          <p:nvPr/>
        </p:nvSpPr>
        <p:spPr>
          <a:xfrm>
            <a:off x="1638605" y="3015691"/>
            <a:ext cx="5725058" cy="2670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Noto Sans KR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분류의 표준, Cross-Entropy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17"/>
          <p:cNvSpPr txBox="1"/>
          <p:nvPr/>
        </p:nvSpPr>
        <p:spPr>
          <a:xfrm>
            <a:off x="1638605" y="3321101"/>
            <a:ext cx="568665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B5FD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C4B5FD"/>
                </a:solidFill>
                <a:latin typeface="Arial"/>
                <a:ea typeface="Arial"/>
                <a:cs typeface="Arial"/>
                <a:sym typeface="Arial"/>
              </a:rPr>
              <a:t>Softmax</a:t>
            </a:r>
            <a:r>
              <a:rPr b="0" i="0" lang="en-US" sz="1000" u="none" cap="none" strike="noStrike">
                <a:solidFill>
                  <a:srgbClr val="E2E8F0"/>
                </a:solidFill>
                <a:latin typeface="Noto Sans KR"/>
                <a:ea typeface="Noto Sans KR"/>
                <a:cs typeface="Noto Sans KR"/>
                <a:sym typeface="Noto Sans KR"/>
              </a:rPr>
              <a:t>와 결합된 CE는 초기 기울기 소실을 방지하고, 정답 확률을 높이는 강력한 피드백을 제공합니다.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17"/>
          <p:cNvSpPr/>
          <p:nvPr/>
        </p:nvSpPr>
        <p:spPr>
          <a:xfrm>
            <a:off x="752551" y="4164178"/>
            <a:ext cx="6734556" cy="1218895"/>
          </a:xfrm>
          <a:prstGeom prst="roundRect">
            <a:avLst>
              <a:gd fmla="val 7033" name="adj"/>
            </a:avLst>
          </a:prstGeom>
          <a:solidFill>
            <a:srgbClr val="1E293B">
              <a:alpha val="40000"/>
            </a:srgbClr>
          </a:solidFill>
          <a:ln cap="flat" cmpd="sng" w="12700">
            <a:solidFill>
              <a:srgbClr val="94A3B8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25" name="Google Shape;825;p17"/>
          <p:cNvPicPr preferRelativeResize="0"/>
          <p:nvPr/>
        </p:nvPicPr>
        <p:blipFill rotWithShape="1">
          <a:blip r:embed="rId8">
            <a:alphaModFix/>
          </a:blip>
          <a:srcRect b="0" l="-2644" r="-2644" t="0"/>
          <a:stretch/>
        </p:blipFill>
        <p:spPr>
          <a:xfrm>
            <a:off x="1123798" y="4535424"/>
            <a:ext cx="200254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826" name="Google Shape;826;p17"/>
          <p:cNvSpPr txBox="1"/>
          <p:nvPr/>
        </p:nvSpPr>
        <p:spPr>
          <a:xfrm>
            <a:off x="1638605" y="4401922"/>
            <a:ext cx="5725058" cy="2670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Noto Sans KR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안개 낀 비볼록 지형 (Non-Convex)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17"/>
          <p:cNvSpPr txBox="1"/>
          <p:nvPr/>
        </p:nvSpPr>
        <p:spPr>
          <a:xfrm>
            <a:off x="1638605" y="4706417"/>
            <a:ext cx="5686654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Noto Sans KR"/>
                <a:ea typeface="Noto Sans KR"/>
                <a:cs typeface="Noto Sans KR"/>
                <a:sym typeface="Noto Sans KR"/>
              </a:rPr>
              <a:t>고차원 오차 공간에는 웅덩이(Local Minima)와 안장점(Saddle Point) 같은 함정이 존재하며, 이를 극복하는 것이 학습입니다.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17"/>
          <p:cNvSpPr/>
          <p:nvPr/>
        </p:nvSpPr>
        <p:spPr>
          <a:xfrm>
            <a:off x="752551" y="5530291"/>
            <a:ext cx="6734556" cy="1218895"/>
          </a:xfrm>
          <a:prstGeom prst="roundRect">
            <a:avLst>
              <a:gd fmla="val 7033" name="adj"/>
            </a:avLst>
          </a:prstGeom>
          <a:solidFill>
            <a:srgbClr val="1E293B">
              <a:alpha val="40000"/>
            </a:srgbClr>
          </a:solidFill>
          <a:ln cap="flat" cmpd="sng" w="12700">
            <a:solidFill>
              <a:srgbClr val="94A3B8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29" name="Google Shape;829;p17"/>
          <p:cNvPicPr preferRelativeResize="0"/>
          <p:nvPr/>
        </p:nvPicPr>
        <p:blipFill rotWithShape="1">
          <a:blip r:embed="rId9">
            <a:alphaModFix/>
          </a:blip>
          <a:srcRect b="0" l="-2644" r="-2644" t="0"/>
          <a:stretch/>
        </p:blipFill>
        <p:spPr>
          <a:xfrm>
            <a:off x="1123798" y="5902452"/>
            <a:ext cx="200254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830" name="Google Shape;830;p17"/>
          <p:cNvSpPr txBox="1"/>
          <p:nvPr/>
        </p:nvSpPr>
        <p:spPr>
          <a:xfrm>
            <a:off x="1638605" y="5768950"/>
            <a:ext cx="5725058" cy="2670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Noto Sans KR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지형을 바꾸는 설계 (Optimization Design)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17"/>
          <p:cNvSpPr txBox="1"/>
          <p:nvPr/>
        </p:nvSpPr>
        <p:spPr>
          <a:xfrm>
            <a:off x="1638605" y="6073445"/>
            <a:ext cx="5686654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Noto Sans KR"/>
                <a:ea typeface="Noto Sans KR"/>
                <a:cs typeface="Noto Sans KR"/>
                <a:sym typeface="Noto Sans KR"/>
              </a:rPr>
              <a:t>활성화 함수, 규제(Regularization), 초기화는 손실 지형을 더 매끄럽고 탐험하기 좋게 만드는 핵심 도구입니다.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32" name="Google Shape;832;p17"/>
          <p:cNvPicPr preferRelativeResize="0"/>
          <p:nvPr/>
        </p:nvPicPr>
        <p:blipFill rotWithShape="1">
          <a:blip r:embed="rId10">
            <a:alphaModFix/>
          </a:blip>
          <a:srcRect b="0" l="-4" r="-4" t="0"/>
          <a:stretch/>
        </p:blipFill>
        <p:spPr>
          <a:xfrm>
            <a:off x="7864754" y="1608430"/>
            <a:ext cx="3556102" cy="5136185"/>
          </a:xfrm>
          <a:prstGeom prst="rect">
            <a:avLst/>
          </a:prstGeom>
          <a:noFill/>
          <a:ln>
            <a:noFill/>
          </a:ln>
        </p:spPr>
      </p:pic>
      <p:sp>
        <p:nvSpPr>
          <p:cNvPr id="833" name="Google Shape;833;p17"/>
          <p:cNvSpPr/>
          <p:nvPr/>
        </p:nvSpPr>
        <p:spPr>
          <a:xfrm>
            <a:off x="8214055" y="2747772"/>
            <a:ext cx="2857500" cy="2857500"/>
          </a:xfrm>
          <a:prstGeom prst="ellipse">
            <a:avLst/>
          </a:prstGeom>
          <a:noFill/>
          <a:ln cap="flat" cmpd="sng" w="25400">
            <a:solidFill>
              <a:srgbClr val="94A3B8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" name="Google Shape;834;p17"/>
          <p:cNvSpPr/>
          <p:nvPr/>
        </p:nvSpPr>
        <p:spPr>
          <a:xfrm rot="2700000">
            <a:off x="9624060" y="4157777"/>
            <a:ext cx="2286000" cy="2286000"/>
          </a:xfrm>
          <a:prstGeom prst="roundRect">
            <a:avLst>
              <a:gd fmla="val 16000" name="adj"/>
            </a:avLst>
          </a:prstGeom>
          <a:noFill/>
          <a:ln cap="flat" cmpd="sng" w="12700">
            <a:solidFill>
              <a:srgbClr val="94A3B8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35" name="Google Shape;835;p17"/>
          <p:cNvPicPr preferRelativeResize="0"/>
          <p:nvPr/>
        </p:nvPicPr>
        <p:blipFill rotWithShape="1">
          <a:blip r:embed="rId11">
            <a:alphaModFix/>
          </a:blip>
          <a:srcRect b="0" l="-347" r="-346" t="0"/>
          <a:stretch/>
        </p:blipFill>
        <p:spPr>
          <a:xfrm>
            <a:off x="9318650" y="1998878"/>
            <a:ext cx="647395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836" name="Google Shape;836;p17"/>
          <p:cNvSpPr txBox="1"/>
          <p:nvPr/>
        </p:nvSpPr>
        <p:spPr>
          <a:xfrm>
            <a:off x="8212226" y="2951683"/>
            <a:ext cx="2867558" cy="609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Noto Sans KR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 Deep Learning </a:t>
            </a:r>
            <a:r>
              <a:rPr b="1" i="0" lang="en-US" sz="1800" u="none" cap="none" strike="noStrike">
                <a:solidFill>
                  <a:srgbClr val="8498FA"/>
                </a:solidFill>
                <a:latin typeface="Noto Sans KR"/>
                <a:ea typeface="Noto Sans KR"/>
                <a:cs typeface="Noto Sans KR"/>
                <a:sym typeface="Noto Sans KR"/>
              </a:rPr>
              <a:t>Navigation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17"/>
          <p:cNvSpPr txBox="1"/>
          <p:nvPr/>
        </p:nvSpPr>
        <p:spPr>
          <a:xfrm>
            <a:off x="8785555" y="3713378"/>
            <a:ext cx="1714500" cy="6574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Noto Sans KR"/>
                <a:ea typeface="Noto Sans KR"/>
                <a:cs typeface="Noto Sans KR"/>
                <a:sym typeface="Noto Sans KR"/>
              </a:rPr>
              <a:t> "손실 함수를 이해한다는 것은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Noto Sans KR"/>
                <a:ea typeface="Noto Sans KR"/>
                <a:cs typeface="Noto Sans KR"/>
                <a:sym typeface="Noto Sans KR"/>
              </a:rPr>
              <a:t> 모델이 나아가야 할 길을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Noto Sans KR"/>
                <a:ea typeface="Noto Sans KR"/>
                <a:cs typeface="Noto Sans KR"/>
                <a:sym typeface="Noto Sans KR"/>
              </a:rPr>
              <a:t> 설계하는 것과 같습니다."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17"/>
          <p:cNvSpPr/>
          <p:nvPr/>
        </p:nvSpPr>
        <p:spPr>
          <a:xfrm>
            <a:off x="8255203" y="6040526"/>
            <a:ext cx="2781605" cy="9144"/>
          </a:xfrm>
          <a:prstGeom prst="rect">
            <a:avLst/>
          </a:prstGeom>
          <a:solidFill>
            <a:srgbClr val="E5E7EB"/>
          </a:solidFill>
          <a:ln cap="flat" cmpd="sng" w="12700">
            <a:solidFill>
              <a:srgbClr val="E5E7E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39" name="Google Shape;839;p1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998610" y="6221578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840" name="Google Shape;840;p17"/>
          <p:cNvSpPr txBox="1"/>
          <p:nvPr/>
        </p:nvSpPr>
        <p:spPr>
          <a:xfrm>
            <a:off x="9160459" y="6040526"/>
            <a:ext cx="1162202" cy="3145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Chapter Complete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