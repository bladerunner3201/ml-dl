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image" Target="../media/image-3-9.png"/><Relationship Id="rId10" Type="http://schemas.openxmlformats.org/officeDocument/2006/relationships/image" Target="../media/image-3-10.png"/><Relationship Id="rId11" Type="http://schemas.openxmlformats.org/officeDocument/2006/relationships/image" Target="../media/image-3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jpe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image" Target="../media/image-5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image" Target="../media/image-6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image" Target="../media/image-8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image" Target="../media/image-10-10.png"/><Relationship Id="rId11" Type="http://schemas.openxmlformats.org/officeDocument/2006/relationships/image" Target="../media/image-10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image" Target="../media/image-11-10.png"/><Relationship Id="rId11" Type="http://schemas.openxmlformats.org/officeDocument/2006/relationships/image" Target="../media/image-11-11.png"/><Relationship Id="rId12" Type="http://schemas.openxmlformats.org/officeDocument/2006/relationships/image" Target="../media/image-11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image" Target="../media/image-1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jpeg"/><Relationship Id="rId6" Type="http://schemas.openxmlformats.org/officeDocument/2006/relationships/image" Target="../media/image-1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image" Target="../media/image-14-10.pn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png"/><Relationship Id="rId13" Type="http://schemas.openxmlformats.org/officeDocument/2006/relationships/image" Target="../media/image-14-13.png"/><Relationship Id="rId14" Type="http://schemas.openxmlformats.org/officeDocument/2006/relationships/image" Target="../media/image-14-14.png"/><Relationship Id="rId15" Type="http://schemas.openxmlformats.org/officeDocument/2006/relationships/image" Target="../media/image-14-15.png"/><Relationship Id="rId16" Type="http://schemas.openxmlformats.org/officeDocument/2006/relationships/image" Target="../media/image-14-16.png"/><Relationship Id="rId17" Type="http://schemas.openxmlformats.org/officeDocument/2006/relationships/image" Target="../media/image-14-17.png"/><Relationship Id="rId18" Type="http://schemas.openxmlformats.org/officeDocument/2006/relationships/slideLayout" Target="../slideLayouts/slideLayout1.xml"/><Relationship Id="rId1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5000"/>
          </a:blip>
          <a:srcRect l="0" r="0" t="0" b="0"/>
          <a:stretch/>
        </p:blipFill>
        <p:spPr>
          <a:xfrm>
            <a:off x="-914400" y="-914400"/>
            <a:ext cx="3657600" cy="36576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>
            <a:alphaModFix amt="15000"/>
          </a:blip>
          <a:srcRect l="0" r="0" t="0" b="0"/>
          <a:stretch/>
        </p:blipFill>
        <p:spPr>
          <a:xfrm>
            <a:off x="9905695" y="4572000"/>
            <a:ext cx="3047695" cy="3047695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4">
            <a:alphaModFix amt="80000"/>
          </a:blip>
          <a:srcRect l="0" r="0" t="0" b="0"/>
          <a:stretch/>
        </p:blipFill>
        <p:spPr>
          <a:xfrm>
            <a:off x="11277295" y="457200"/>
            <a:ext cx="457200" cy="457200"/>
          </a:xfrm>
          <a:prstGeom prst="rect">
            <a:avLst/>
          </a:prstGeom>
        </p:spPr>
      </p:pic>
      <p:sp>
        <p:nvSpPr>
          <p:cNvPr id="8" name="Text 2"/>
          <p:cNvSpPr txBox="1"/>
          <p:nvPr/>
        </p:nvSpPr>
        <p:spPr>
          <a:xfrm>
            <a:off x="3073298" y="1090879"/>
            <a:ext cx="6048756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5400" b="1" spc="-13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딥러닝의 기원:</a:t>
            </a:r>
            <a:pPr algn="ctr" indent="0" marL="0">
              <a:buNone/>
            </a:pPr>
            <a:endParaRPr lang="en-US" sz="5400" dirty="0"/>
          </a:p>
          <a:p>
            <a:pPr algn="ctr" indent="0" marL="0">
              <a:buNone/>
            </a:pPr>
            <a:r>
              <a:rPr lang="en-US" sz="5400" b="1" spc="-135" kern="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인공 뉴런</a:t>
            </a:r>
            <a:pPr algn="ctr" indent="0" marL="0">
              <a:buNone/>
            </a:pPr>
            <a:r>
              <a:rPr lang="en-US" sz="5400" b="1" spc="-13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pPr algn="ctr" indent="0" marL="0">
              <a:buNone/>
            </a:pPr>
            <a:r>
              <a:rPr lang="en-US" sz="5400" b="1" spc="-135" kern="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퍼셉트론</a:t>
            </a:r>
            <a:endParaRPr lang="en-US" sz="5400" dirty="0"/>
          </a:p>
        </p:txBody>
      </p:sp>
      <p:sp>
        <p:nvSpPr>
          <p:cNvPr id="9" name="Text 3"/>
          <p:cNvSpPr txBox="1"/>
          <p:nvPr/>
        </p:nvSpPr>
        <p:spPr>
          <a:xfrm>
            <a:off x="3309214" y="3033979"/>
            <a:ext cx="558058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spc="56" kern="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분리의 한계와 다층 구조의 필요성</a:t>
            </a:r>
            <a:endParaRPr lang="en-US" sz="22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2467" y="424282"/>
            <a:ext cx="2895905" cy="362102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4652467" y="424282"/>
            <a:ext cx="2895905" cy="3621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E5E7E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C5FD">
                    <a:alpha val="97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Learning Fundamentals 1-1</a:t>
            </a:r>
            <a:endParaRPr lang="en-US" sz="1000" dirty="0"/>
          </a:p>
        </p:txBody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6"/>
          <a:srcRect l="-2" r="-2" t="0" b="0"/>
          <a:stretch/>
        </p:blipFill>
        <p:spPr>
          <a:xfrm>
            <a:off x="2438705" y="3985870"/>
            <a:ext cx="7315200" cy="2447849"/>
          </a:xfrm>
          <a:prstGeom prst="rect">
            <a:avLst/>
          </a:prstGeom>
        </p:spPr>
      </p:pic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>
            <a:alphaModFix amt="5000"/>
          </a:blip>
          <a:srcRect l="0" r="0" t="0" b="0"/>
          <a:stretch/>
        </p:blipFill>
        <p:spPr>
          <a:xfrm>
            <a:off x="8524951" y="3995928"/>
            <a:ext cx="1218895" cy="1218895"/>
          </a:xfrm>
          <a:prstGeom prst="rect">
            <a:avLst/>
          </a:prstGeom>
        </p:spPr>
      </p:pic>
      <p:sp>
        <p:nvSpPr>
          <p:cNvPr id="14" name="Shape 5"/>
          <p:cNvSpPr/>
          <p:nvPr/>
        </p:nvSpPr>
        <p:spPr>
          <a:xfrm>
            <a:off x="2800807" y="4796028"/>
            <a:ext cx="6638544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15" name="Text 6"/>
          <p:cNvSpPr txBox="1"/>
          <p:nvPr/>
        </p:nvSpPr>
        <p:spPr>
          <a:xfrm>
            <a:off x="3258007" y="4300423"/>
            <a:ext cx="6258154" cy="4206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이번 강의 목표 </a:t>
            </a:r>
            <a:endParaRPr lang="en-US" sz="1500" dirty="0"/>
          </a:p>
        </p:txBody>
      </p:sp>
      <p:pic>
        <p:nvPicPr>
          <p:cNvPr id="1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876702" y="4419295"/>
            <a:ext cx="190195" cy="190195"/>
          </a:xfrm>
          <a:prstGeom prst="rect">
            <a:avLst/>
          </a:prstGeom>
        </p:spPr>
      </p:pic>
      <p:sp>
        <p:nvSpPr>
          <p:cNvPr id="17" name="Text 7"/>
          <p:cNvSpPr txBox="1"/>
          <p:nvPr/>
        </p:nvSpPr>
        <p:spPr>
          <a:xfrm>
            <a:off x="2800807" y="5033772"/>
            <a:ext cx="2149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01. 원리 이해</a:t>
            </a:r>
            <a:endParaRPr lang="en-US" sz="1300" dirty="0"/>
          </a:p>
        </p:txBody>
      </p:sp>
      <p:sp>
        <p:nvSpPr>
          <p:cNvPr id="18" name="Text 8"/>
          <p:cNvSpPr txBox="1"/>
          <p:nvPr/>
        </p:nvSpPr>
        <p:spPr>
          <a:xfrm>
            <a:off x="2800807" y="5376672"/>
            <a:ext cx="21433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신경망의 기본 단위인 </a:t>
            </a:r>
            <a:pPr algn="l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퍼셉트론의 작동 원리</a:t>
            </a:r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수학적 모델을 이해합니다.</a:t>
            </a:r>
            <a:endParaRPr lang="en-US" sz="1200" dirty="0"/>
          </a:p>
        </p:txBody>
      </p:sp>
      <p:sp>
        <p:nvSpPr>
          <p:cNvPr id="19" name="Text 9"/>
          <p:cNvSpPr txBox="1"/>
          <p:nvPr/>
        </p:nvSpPr>
        <p:spPr>
          <a:xfrm>
            <a:off x="5089550" y="5033772"/>
            <a:ext cx="2149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02. 시각적 학습</a:t>
            </a:r>
            <a:endParaRPr lang="en-US" sz="1300" dirty="0"/>
          </a:p>
        </p:txBody>
      </p:sp>
      <p:sp>
        <p:nvSpPr>
          <p:cNvPr id="20" name="Text 10"/>
          <p:cNvSpPr txBox="1"/>
          <p:nvPr/>
        </p:nvSpPr>
        <p:spPr>
          <a:xfrm>
            <a:off x="5089550" y="5376672"/>
            <a:ext cx="2143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퍼셉트론이 만드는 </a:t>
            </a:r>
            <a:pPr algn="l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결정 경계</a:t>
            </a:r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기하학적으로 확인합니다.</a:t>
            </a:r>
            <a:endParaRPr lang="en-US" sz="1200" dirty="0"/>
          </a:p>
        </p:txBody>
      </p:sp>
      <p:sp>
        <p:nvSpPr>
          <p:cNvPr id="21" name="Text 11"/>
          <p:cNvSpPr txBox="1"/>
          <p:nvPr/>
        </p:nvSpPr>
        <p:spPr>
          <a:xfrm>
            <a:off x="7378294" y="5033772"/>
            <a:ext cx="21497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03. 한계와 확장</a:t>
            </a:r>
            <a:endParaRPr lang="en-US" sz="1300" dirty="0"/>
          </a:p>
        </p:txBody>
      </p:sp>
      <p:sp>
        <p:nvSpPr>
          <p:cNvPr id="22" name="Text 12"/>
          <p:cNvSpPr txBox="1"/>
          <p:nvPr/>
        </p:nvSpPr>
        <p:spPr>
          <a:xfrm>
            <a:off x="7378294" y="5376672"/>
            <a:ext cx="2143354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XOR 문제</a:t>
            </a:r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통해 단일 층의 한계를 깨닫고 </a:t>
            </a:r>
            <a:pPr algn="l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다층 구조(MLP)</a:t>
            </a:r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필요성을 배웁니다.</a:t>
            </a:r>
            <a:endParaRPr lang="en-US" sz="1200" dirty="0"/>
          </a:p>
        </p:txBody>
      </p:sp>
      <p:sp>
        <p:nvSpPr>
          <p:cNvPr id="23" name="Text 13"/>
          <p:cNvSpPr txBox="1"/>
          <p:nvPr/>
        </p:nvSpPr>
        <p:spPr>
          <a:xfrm>
            <a:off x="457200" y="6476695"/>
            <a:ext cx="1800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AI &amp; Deep Learning Course</a:t>
            </a:r>
            <a:endParaRPr lang="en-US" sz="900" dirty="0"/>
          </a:p>
        </p:txBody>
      </p:sp>
      <p:sp>
        <p:nvSpPr>
          <p:cNvPr id="24" name="Text 14"/>
          <p:cNvSpPr txBox="1"/>
          <p:nvPr/>
        </p:nvSpPr>
        <p:spPr>
          <a:xfrm>
            <a:off x="8785555" y="6476695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Lecture 1-1. Perceptron &amp; Linear Separation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rcRect l="0" r="0" t="0" b="0"/>
          <a:stretch/>
        </p:blipFill>
        <p:spPr>
          <a:xfrm>
            <a:off x="8382305" y="-952805"/>
            <a:ext cx="4762195" cy="4762195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20000"/>
          </a:blip>
          <a:srcRect l="0" r="0" t="0" b="0"/>
          <a:stretch/>
        </p:blipFill>
        <p:spPr>
          <a:xfrm>
            <a:off x="-476402" y="3524098"/>
            <a:ext cx="3810305" cy="3810305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571500"/>
            <a:ext cx="1000354" cy="2286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695" y="571500"/>
            <a:ext cx="10003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4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8" name="Text 3"/>
          <p:cNvSpPr txBox="1"/>
          <p:nvPr/>
        </p:nvSpPr>
        <p:spPr>
          <a:xfrm>
            <a:off x="1867205" y="590702"/>
            <a:ext cx="167426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26" kern="0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딥러닝이 필요했을까?</a:t>
            </a:r>
            <a:endParaRPr lang="en-US" sz="1000" dirty="0"/>
          </a:p>
        </p:txBody>
      </p:sp>
      <p:sp>
        <p:nvSpPr>
          <p:cNvPr id="9" name="Text 4"/>
          <p:cNvSpPr txBox="1"/>
          <p:nvPr/>
        </p:nvSpPr>
        <p:spPr>
          <a:xfrm>
            <a:off x="761695" y="952805"/>
            <a:ext cx="10840212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왜 단순한 모델로는</a:t>
            </a:r>
            <a:pPr algn="l" indent="0" marL="0">
              <a:buNone/>
            </a:pPr>
            <a:endParaRPr lang="en-US" sz="3600" dirty="0"/>
          </a:p>
          <a:p>
            <a:pPr algn="l" indent="0" marL="0">
              <a:buNone/>
            </a:pPr>
            <a:r>
              <a:rPr lang="en-US" sz="36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</a:t>
            </a:r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나 </a:t>
            </a:r>
            <a:pPr algn="l" indent="0" marL="0">
              <a:buNone/>
            </a:pPr>
            <a:r>
              <a:rPr lang="en-US" sz="36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음성</a:t>
            </a:r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인식하기 힘들었을까? </a:t>
            </a:r>
            <a:endParaRPr lang="en-US" sz="3600" dirty="0"/>
          </a:p>
        </p:txBody>
      </p:sp>
      <p:sp>
        <p:nvSpPr>
          <p:cNvPr id="10" name="Shape 5"/>
          <p:cNvSpPr/>
          <p:nvPr/>
        </p:nvSpPr>
        <p:spPr>
          <a:xfrm>
            <a:off x="761695" y="3847795"/>
            <a:ext cx="3353105" cy="2438705"/>
          </a:xfrm>
          <a:prstGeom prst="roundRect">
            <a:avLst>
              <a:gd name="adj" fmla="val 2343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1" name="Shape 6"/>
          <p:cNvSpPr/>
          <p:nvPr/>
        </p:nvSpPr>
        <p:spPr>
          <a:xfrm>
            <a:off x="1000354" y="4086454"/>
            <a:ext cx="647395" cy="619049"/>
          </a:xfrm>
          <a:prstGeom prst="roundRect">
            <a:avLst>
              <a:gd name="adj" fmla="val 27270"/>
            </a:avLst>
          </a:prstGeom>
          <a:solidFill>
            <a:srgbClr val="38BDF8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000354" y="5272430"/>
            <a:ext cx="3067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 상호작용</a:t>
            </a:r>
            <a:endParaRPr lang="en-US" sz="1500" dirty="0"/>
          </a:p>
        </p:txBody>
      </p:sp>
      <p:sp>
        <p:nvSpPr>
          <p:cNvPr id="13" name="Text 8"/>
          <p:cNvSpPr txBox="1"/>
          <p:nvPr/>
        </p:nvSpPr>
        <p:spPr>
          <a:xfrm>
            <a:off x="1000354" y="561533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픽셀이나 음소 하나하나는 의미가 없으며, 특징들 간의 복잡한 </a:t>
            </a:r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상호작용</a:t>
            </a:r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속에 핵심 정보가 숨어있습니다. 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419295" y="3847795"/>
            <a:ext cx="3353105" cy="2438705"/>
          </a:xfrm>
          <a:prstGeom prst="roundRect">
            <a:avLst>
              <a:gd name="adj" fmla="val 2343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4657954" y="4086454"/>
            <a:ext cx="609905" cy="619049"/>
          </a:xfrm>
          <a:prstGeom prst="roundRect">
            <a:avLst>
              <a:gd name="adj" fmla="val 28111"/>
            </a:avLst>
          </a:prstGeom>
          <a:solidFill>
            <a:srgbClr val="A855F7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4657954" y="5055718"/>
            <a:ext cx="3067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고차원의 복잡한 경계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4657954" y="5398618"/>
            <a:ext cx="295351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현실 데이터는 수만 차원의 공간에서 </a:t>
            </a:r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휘어지고 접힌 형태</a:t>
            </a:r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분포하여, 단순한 평면으로는 자를 수 없습니다. </a:t>
            </a:r>
            <a:endParaRPr lang="en-US" sz="1000" dirty="0"/>
          </a:p>
        </p:txBody>
      </p:sp>
      <p:sp>
        <p:nvSpPr>
          <p:cNvPr id="18" name="Shape 13"/>
          <p:cNvSpPr/>
          <p:nvPr/>
        </p:nvSpPr>
        <p:spPr>
          <a:xfrm>
            <a:off x="8076895" y="3847795"/>
            <a:ext cx="3353105" cy="2438705"/>
          </a:xfrm>
          <a:prstGeom prst="roundRect">
            <a:avLst>
              <a:gd name="adj" fmla="val 2343"/>
            </a:avLst>
          </a:prstGeom>
          <a:solidFill>
            <a:srgbClr val="1E293B">
              <a:alpha val="7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315554" y="4086454"/>
            <a:ext cx="571500" cy="619049"/>
          </a:xfrm>
          <a:prstGeom prst="roundRect">
            <a:avLst>
              <a:gd name="adj" fmla="val 32000"/>
            </a:avLst>
          </a:prstGeom>
          <a:solidFill>
            <a:srgbClr val="EC4899">
              <a:alpha val="1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5"/>
          <p:cNvSpPr txBox="1"/>
          <p:nvPr/>
        </p:nvSpPr>
        <p:spPr>
          <a:xfrm>
            <a:off x="8315554" y="5272430"/>
            <a:ext cx="306781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잡음과 변형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8315554" y="5615330"/>
            <a:ext cx="29535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조명, 각도, 억양 같은 </a:t>
            </a:r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무작위 변형</a:t>
            </a:r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에도 견고하게 작동하려면 모델이 충분히 유연해야 합니다. </a:t>
            </a:r>
            <a:endParaRPr lang="en-US" sz="10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rcRect l="-50" r="-50" t="0" b="0"/>
          <a:stretch/>
        </p:blipFill>
        <p:spPr>
          <a:xfrm>
            <a:off x="1152144" y="4238244"/>
            <a:ext cx="342900" cy="304495"/>
          </a:xfrm>
          <a:prstGeom prst="rect">
            <a:avLst/>
          </a:prstGeom>
        </p:spPr>
      </p:pic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09744" y="4238244"/>
            <a:ext cx="304495" cy="304495"/>
          </a:xfrm>
          <a:prstGeom prst="rect">
            <a:avLst/>
          </a:prstGeom>
        </p:spPr>
      </p:pic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rcRect l="-107" r="-107" t="0" b="0"/>
          <a:stretch/>
        </p:blipFill>
        <p:spPr>
          <a:xfrm>
            <a:off x="8467344" y="4238244"/>
            <a:ext cx="267005" cy="304495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761695" y="2400300"/>
            <a:ext cx="38405" cy="89519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6" name="Text 18"/>
          <p:cNvSpPr txBox="1"/>
          <p:nvPr/>
        </p:nvSpPr>
        <p:spPr>
          <a:xfrm>
            <a:off x="1257300" y="2476195"/>
            <a:ext cx="9954158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"세상은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비선형적</a:t>
            </a:r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얽혀 있으며,</a:t>
            </a:r>
            <a:pPr algn="l" indent="0" marL="0">
              <a:buNone/>
            </a:pP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직선으로는 그 </a:t>
            </a:r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경계</a:t>
            </a:r>
            <a:pPr algn="l" indent="0" marL="0">
              <a:buNone/>
            </a:pPr>
            <a:r>
              <a:rPr lang="en-US" sz="18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그릴 수 없기 때문입니다." </a:t>
            </a:r>
            <a:endParaRPr lang="en-US" sz="1800" dirty="0"/>
          </a:p>
        </p:txBody>
      </p:sp>
      <p:sp>
        <p:nvSpPr>
          <p:cNvPr id="27" name="Text 19"/>
          <p:cNvSpPr txBox="1"/>
          <p:nvPr/>
        </p:nvSpPr>
        <p:spPr>
          <a:xfrm>
            <a:off x="10865815" y="5982005"/>
            <a:ext cx="629107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705295" cy="6858000"/>
          </a:xfrm>
          <a:prstGeom prst="rect">
            <a:avLst/>
          </a:prstGeom>
          <a:solidFill>
            <a:srgbClr val="00000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alphaModFix amt="90000"/>
          </a:blip>
          <a:srcRect l="22714" r="22714" t="0" b="0"/>
          <a:stretch/>
        </p:blipFill>
        <p:spPr>
          <a:xfrm>
            <a:off x="0" y="0"/>
            <a:ext cx="6705295" cy="68580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1371600"/>
            <a:ext cx="1228954" cy="38130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05840" y="1371600"/>
            <a:ext cx="1228954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수상돌기 (입력)</a:t>
            </a:r>
            <a:endParaRPr lang="en-US" sz="10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7265" y="3086100"/>
            <a:ext cx="1104595" cy="381305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347265" y="3086100"/>
            <a:ext cx="11055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세포체 (종합)</a:t>
            </a:r>
            <a:endParaRPr lang="en-US" sz="10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9022" y="2400300"/>
            <a:ext cx="972007" cy="38130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4059022" y="2400300"/>
            <a:ext cx="972007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축삭 (전달)</a:t>
            </a:r>
            <a:endParaRPr lang="en-US" sz="100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8674" y="4765853"/>
            <a:ext cx="1104595" cy="381305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4938674" y="4765853"/>
            <a:ext cx="1105510" cy="38130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8BDF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시냅스 (출력)</a:t>
            </a:r>
            <a:endParaRPr lang="en-US" sz="1000" dirty="0"/>
          </a:p>
        </p:txBody>
      </p:sp>
      <p:sp>
        <p:nvSpPr>
          <p:cNvPr id="14" name="Shape 7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8"/>
          <p:cNvSpPr txBox="1"/>
          <p:nvPr/>
        </p:nvSpPr>
        <p:spPr>
          <a:xfrm>
            <a:off x="7181698" y="251460"/>
            <a:ext cx="4648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Biological Inspiration</a:t>
            </a:r>
            <a:endParaRPr lang="en-US" sz="1000" dirty="0"/>
          </a:p>
        </p:txBody>
      </p:sp>
      <p:sp>
        <p:nvSpPr>
          <p:cNvPr id="16" name="Text 9"/>
          <p:cNvSpPr txBox="1"/>
          <p:nvPr/>
        </p:nvSpPr>
        <p:spPr>
          <a:xfrm>
            <a:off x="7181698" y="518465"/>
            <a:ext cx="4662526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생물학적 뉴런의</a:t>
            </a:r>
            <a:pPr algn="l" indent="0" marL="0">
              <a:buNone/>
            </a:pPr>
            <a:endParaRPr lang="en-US" sz="2700" dirty="0"/>
          </a:p>
          <a:p>
            <a:pPr algn="l" indent="0" marL="0">
              <a:buNone/>
            </a:pPr>
            <a:r>
              <a:rPr lang="en-US" sz="27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모방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 </a:t>
            </a:r>
            <a:pPr algn="l" indent="0" marL="0">
              <a:buNone/>
            </a:pPr>
            <a:r>
              <a:rPr lang="en-US" sz="27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원리</a:t>
            </a:r>
            <a:endParaRPr lang="en-US" sz="2700" dirty="0"/>
          </a:p>
        </p:txBody>
      </p:sp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4" b="-14"/>
          <a:stretch/>
        </p:blipFill>
        <p:spPr>
          <a:xfrm>
            <a:off x="7181698" y="1756562"/>
            <a:ext cx="4533595" cy="123078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714793" y="1946758"/>
            <a:ext cx="39246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수상돌기 (Dendrites) </a:t>
            </a:r>
            <a:endParaRPr lang="en-US" sz="1500" dirty="0"/>
          </a:p>
        </p:txBody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10298" y="1994306"/>
            <a:ext cx="190195" cy="190195"/>
          </a:xfrm>
          <a:prstGeom prst="rect">
            <a:avLst/>
          </a:prstGeom>
        </p:spPr>
      </p:pic>
      <p:sp>
        <p:nvSpPr>
          <p:cNvPr id="20" name="Text 11"/>
          <p:cNvSpPr txBox="1"/>
          <p:nvPr/>
        </p:nvSpPr>
        <p:spPr>
          <a:xfrm>
            <a:off x="7410298" y="2308860"/>
            <a:ext cx="4191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외부로부터 전기 신호를 </a:t>
            </a:r>
            <a:pPr algn="l"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수신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인공 신경망에서의 </a:t>
            </a:r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입력(Input)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에 해당합니다. </a:t>
            </a:r>
            <a:endParaRPr lang="en-US" sz="1200" dirty="0"/>
          </a:p>
        </p:txBody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4" b="-14"/>
          <a:stretch/>
        </p:blipFill>
        <p:spPr>
          <a:xfrm>
            <a:off x="7181698" y="3215945"/>
            <a:ext cx="4533595" cy="1230782"/>
          </a:xfrm>
          <a:prstGeom prst="rect">
            <a:avLst/>
          </a:prstGeom>
        </p:spPr>
      </p:pic>
      <p:sp>
        <p:nvSpPr>
          <p:cNvPr id="22" name="Text 12"/>
          <p:cNvSpPr txBox="1"/>
          <p:nvPr/>
        </p:nvSpPr>
        <p:spPr>
          <a:xfrm>
            <a:off x="7667244" y="3406140"/>
            <a:ext cx="39721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세포체 (Cell Body) </a:t>
            </a:r>
            <a:endParaRPr lang="en-US" sz="1500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410298" y="3453689"/>
            <a:ext cx="142646" cy="190195"/>
          </a:xfrm>
          <a:prstGeom prst="rect">
            <a:avLst/>
          </a:prstGeom>
        </p:spPr>
      </p:pic>
      <p:sp>
        <p:nvSpPr>
          <p:cNvPr id="24" name="Text 13"/>
          <p:cNvSpPr txBox="1"/>
          <p:nvPr/>
        </p:nvSpPr>
        <p:spPr>
          <a:xfrm>
            <a:off x="7410298" y="3768242"/>
            <a:ext cx="4191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들어온 신호들을 모두 </a:t>
            </a:r>
            <a:pPr algn="l"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합산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처리합니다.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 합(Weighted Sum)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연산이 일어나는 곳입니다. </a:t>
            </a:r>
            <a:endParaRPr lang="en-US" sz="1200" dirty="0"/>
          </a:p>
        </p:txBody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rcRect l="-6" r="-6" t="0" b="0"/>
          <a:stretch/>
        </p:blipFill>
        <p:spPr>
          <a:xfrm>
            <a:off x="7181698" y="4674413"/>
            <a:ext cx="4533595" cy="1474013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7696505" y="4865522"/>
            <a:ext cx="3942893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축삭 &amp; 발화 (Axon &amp; Fire) </a:t>
            </a:r>
            <a:endParaRPr lang="en-US" sz="1500" dirty="0"/>
          </a:p>
        </p:txBody>
      </p:sp>
      <p:pic>
        <p:nvPicPr>
          <p:cNvPr id="27" name="Image 10" descr="preencoded.png">    </p:cNvPr>
          <p:cNvPicPr>
            <a:picLocks noChangeAspect="1"/>
          </p:cNvPicPr>
          <p:nvPr/>
        </p:nvPicPr>
        <p:blipFill>
          <a:blip r:embed="rId11"/>
          <a:srcRect l="-1648" r="-1648" t="0" b="0"/>
          <a:stretch/>
        </p:blipFill>
        <p:spPr>
          <a:xfrm>
            <a:off x="7410298" y="4913071"/>
            <a:ext cx="171907" cy="190195"/>
          </a:xfrm>
          <a:prstGeom prst="rect">
            <a:avLst/>
          </a:prstGeom>
        </p:spPr>
      </p:pic>
      <p:sp>
        <p:nvSpPr>
          <p:cNvPr id="28" name="Text 15"/>
          <p:cNvSpPr txBox="1"/>
          <p:nvPr/>
        </p:nvSpPr>
        <p:spPr>
          <a:xfrm>
            <a:off x="7410298" y="5227625"/>
            <a:ext cx="4191610" cy="7342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합산된 신호가 임계값을 넘으면 </a:t>
            </a:r>
            <a:pPr algn="l" indent="0" marL="0">
              <a:buNone/>
            </a:pPr>
            <a:r>
              <a:rPr lang="en-US" sz="1200" b="1" dirty="0">
                <a:solidFill>
                  <a:srgbClr val="C08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발화(Fire)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하여 다음 뉴런으로 전달합니다.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 함수(Activation Function)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역할입니다. </a:t>
            </a:r>
            <a:endParaRPr lang="en-US" sz="1200" dirty="0"/>
          </a:p>
        </p:txBody>
      </p:sp>
      <p:sp>
        <p:nvSpPr>
          <p:cNvPr id="29" name="Text 16"/>
          <p:cNvSpPr txBox="1"/>
          <p:nvPr/>
        </p:nvSpPr>
        <p:spPr>
          <a:xfrm>
            <a:off x="7181698" y="6453835"/>
            <a:ext cx="217993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Human Brain ➝ Artificial Model</a:t>
            </a:r>
            <a:endParaRPr lang="en-US" sz="900" dirty="0"/>
          </a:p>
        </p:txBody>
      </p:sp>
      <p:sp>
        <p:nvSpPr>
          <p:cNvPr id="30" name="Text 17"/>
          <p:cNvSpPr txBox="1"/>
          <p:nvPr/>
        </p:nvSpPr>
        <p:spPr>
          <a:xfrm>
            <a:off x="11303813" y="6453835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143914"/>
            <a:ext cx="11048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Mathematical Model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09905"/>
            <a:ext cx="113541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인공 뉴런의 수학적 모델</a:t>
            </a:r>
            <a:endParaRPr lang="en-US" sz="2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571500" y="1910182"/>
            <a:ext cx="5333695" cy="175290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302" y="1814170"/>
            <a:ext cx="1314907" cy="24780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19302" y="1814170"/>
            <a:ext cx="1314907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Perceptron Formula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-170078" y="2214677"/>
            <a:ext cx="6816852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pPr algn="ctr" indent="0" marL="0">
              <a:buNone/>
            </a:pPr>
            <a:r>
              <a:rPr lang="en-US" sz="42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= </a:t>
            </a:r>
            <a:pPr algn="ctr" indent="0" marL="0">
              <a:buNone/>
            </a:pPr>
            <a:r>
              <a:rPr lang="en-US" sz="4200" b="1" spc="150" kern="0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pPr algn="ctr" indent="0" marL="0">
              <a:buNone/>
            </a:pPr>
            <a:r>
              <a:rPr lang="en-US" sz="42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 </a:t>
            </a:r>
            <a:pPr algn="ctr" indent="0" marL="0">
              <a:buNone/>
            </a:pPr>
            <a:r>
              <a:rPr lang="en-US" sz="4200" b="1" spc="150" kern="0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4200" b="1" spc="150" kern="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pPr algn="ctr" indent="0" marL="0">
              <a:buNone/>
            </a:pPr>
            <a:r>
              <a:rPr lang="en-US" sz="4200" b="1" spc="150" kern="0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pPr algn="ctr" indent="0" marL="0">
              <a:buNone/>
            </a:pPr>
            <a:r>
              <a:rPr lang="en-US" sz="42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+ </a:t>
            </a:r>
            <a:pPr algn="ctr" indent="0" marL="0">
              <a:buNone/>
            </a:pPr>
            <a:r>
              <a:rPr lang="en-US" sz="4200" b="1" spc="150" kern="0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pPr algn="ctr" indent="0" marL="0">
              <a:buNone/>
            </a:pPr>
            <a:r>
              <a:rPr lang="en-US" sz="42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 </a:t>
            </a:r>
            <a:endParaRPr lang="en-US" sz="4200" dirty="0"/>
          </a:p>
        </p:txBody>
      </p:sp>
      <p:sp>
        <p:nvSpPr>
          <p:cNvPr id="11" name="Text 7"/>
          <p:cNvSpPr txBox="1"/>
          <p:nvPr/>
        </p:nvSpPr>
        <p:spPr>
          <a:xfrm>
            <a:off x="1456639" y="2318918"/>
            <a:ext cx="3621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50" kern="0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4200" dirty="0"/>
          </a:p>
        </p:txBody>
      </p:sp>
      <p:sp>
        <p:nvSpPr>
          <p:cNvPr id="12" name="Text 8"/>
          <p:cNvSpPr txBox="1"/>
          <p:nvPr/>
        </p:nvSpPr>
        <p:spPr>
          <a:xfrm>
            <a:off x="2350922" y="2318918"/>
            <a:ext cx="31638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50" kern="0" dirty="0">
                <a:solidFill>
                  <a:srgbClr val="10B9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4200" dirty="0"/>
          </a:p>
        </p:txBody>
      </p:sp>
      <p:sp>
        <p:nvSpPr>
          <p:cNvPr id="13" name="Text 9"/>
          <p:cNvSpPr txBox="1"/>
          <p:nvPr/>
        </p:nvSpPr>
        <p:spPr>
          <a:xfrm>
            <a:off x="2916022" y="2318918"/>
            <a:ext cx="486461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50" kern="0" dirty="0">
                <a:solidFill>
                  <a:srgbClr val="A855F7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4200" dirty="0"/>
          </a:p>
        </p:txBody>
      </p:sp>
      <p:sp>
        <p:nvSpPr>
          <p:cNvPr id="14" name="Text 10"/>
          <p:cNvSpPr txBox="1"/>
          <p:nvPr/>
        </p:nvSpPr>
        <p:spPr>
          <a:xfrm>
            <a:off x="3300984" y="2318918"/>
            <a:ext cx="31638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50" kern="0" dirty="0">
                <a:solidFill>
                  <a:srgbClr val="9CA3A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·</a:t>
            </a:r>
            <a:endParaRPr lang="en-US" sz="4200" dirty="0"/>
          </a:p>
        </p:txBody>
      </p:sp>
      <p:sp>
        <p:nvSpPr>
          <p:cNvPr id="15" name="Text 11"/>
          <p:cNvSpPr txBox="1"/>
          <p:nvPr/>
        </p:nvSpPr>
        <p:spPr>
          <a:xfrm>
            <a:off x="3517697" y="2318918"/>
            <a:ext cx="362102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50" kern="0" dirty="0">
                <a:solidFill>
                  <a:srgbClr val="3B82F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4200" dirty="0"/>
          </a:p>
        </p:txBody>
      </p:sp>
      <p:sp>
        <p:nvSpPr>
          <p:cNvPr id="16" name="Text 12"/>
          <p:cNvSpPr txBox="1"/>
          <p:nvPr/>
        </p:nvSpPr>
        <p:spPr>
          <a:xfrm>
            <a:off x="4431182" y="2318918"/>
            <a:ext cx="40050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spc="150" kern="0" dirty="0">
                <a:solidFill>
                  <a:srgbClr val="F43F5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4200" dirty="0"/>
          </a:p>
        </p:txBody>
      </p:sp>
      <p:sp>
        <p:nvSpPr>
          <p:cNvPr id="17" name="Text 13"/>
          <p:cNvSpPr txBox="1"/>
          <p:nvPr/>
        </p:nvSpPr>
        <p:spPr>
          <a:xfrm>
            <a:off x="780898" y="3167482"/>
            <a:ext cx="49149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입력의 가중 합이 편향을 넘어설 때 활성화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571500" y="3948379"/>
            <a:ext cx="2572207" cy="905256"/>
          </a:xfrm>
          <a:prstGeom prst="roundRect">
            <a:avLst>
              <a:gd name="adj" fmla="val 12759"/>
            </a:avLst>
          </a:prstGeom>
          <a:solidFill>
            <a:srgbClr val="1E293B">
              <a:alpha val="60000"/>
            </a:srgbClr>
          </a:solidFill>
          <a:ln/>
        </p:spPr>
      </p:sp>
      <p:sp>
        <p:nvSpPr>
          <p:cNvPr id="19" name="Shape 15"/>
          <p:cNvSpPr/>
          <p:nvPr/>
        </p:nvSpPr>
        <p:spPr>
          <a:xfrm>
            <a:off x="571500" y="3948379"/>
            <a:ext cx="38405" cy="905256"/>
          </a:xfrm>
          <a:prstGeom prst="roundRect">
            <a:avLst>
              <a:gd name="adj" fmla="val 300750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695" y="4100170"/>
            <a:ext cx="381305" cy="381305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61695" y="4100170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0A5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endParaRPr lang="en-US" sz="1800" dirty="0"/>
          </a:p>
        </p:txBody>
      </p:sp>
      <p:sp>
        <p:nvSpPr>
          <p:cNvPr id="22" name="Text 17"/>
          <p:cNvSpPr txBox="1"/>
          <p:nvPr/>
        </p:nvSpPr>
        <p:spPr>
          <a:xfrm>
            <a:off x="1285646" y="4100170"/>
            <a:ext cx="154350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벡터 (Input)</a:t>
            </a:r>
            <a:endParaRPr lang="en-US" sz="1000" dirty="0"/>
          </a:p>
        </p:txBody>
      </p:sp>
      <p:sp>
        <p:nvSpPr>
          <p:cNvPr id="23" name="Text 18"/>
          <p:cNvSpPr txBox="1"/>
          <p:nvPr/>
        </p:nvSpPr>
        <p:spPr>
          <a:xfrm>
            <a:off x="1285646" y="4328770"/>
            <a:ext cx="1526134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외부에서 들어오는 데이터 신호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(이미지 픽셀, 음성 파형 등)</a:t>
            </a:r>
            <a:endParaRPr lang="en-US" sz="900" dirty="0"/>
          </a:p>
        </p:txBody>
      </p:sp>
      <p:sp>
        <p:nvSpPr>
          <p:cNvPr id="24" name="Shape 19"/>
          <p:cNvSpPr/>
          <p:nvPr/>
        </p:nvSpPr>
        <p:spPr>
          <a:xfrm>
            <a:off x="3333902" y="3948379"/>
            <a:ext cx="2572207" cy="905256"/>
          </a:xfrm>
          <a:prstGeom prst="roundRect">
            <a:avLst>
              <a:gd name="adj" fmla="val 12759"/>
            </a:avLst>
          </a:prstGeom>
          <a:solidFill>
            <a:srgbClr val="1E293B">
              <a:alpha val="60000"/>
            </a:srgbClr>
          </a:solidFill>
          <a:ln/>
        </p:spPr>
      </p:sp>
      <p:sp>
        <p:nvSpPr>
          <p:cNvPr id="25" name="Shape 20"/>
          <p:cNvSpPr/>
          <p:nvPr/>
        </p:nvSpPr>
        <p:spPr>
          <a:xfrm>
            <a:off x="3333902" y="3948379"/>
            <a:ext cx="38405" cy="905256"/>
          </a:xfrm>
          <a:prstGeom prst="roundRect">
            <a:avLst>
              <a:gd name="adj" fmla="val 300750"/>
            </a:avLst>
          </a:prstGeom>
          <a:solidFill>
            <a:srgbClr val="8B5CF6"/>
          </a:solidFill>
          <a:ln w="12700">
            <a:solidFill>
              <a:srgbClr val="8B5CF6">
                <a:alpha val="0"/>
              </a:srgbClr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4098" y="4100170"/>
            <a:ext cx="381305" cy="38130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3524098" y="4100170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084FC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1800" dirty="0"/>
          </a:p>
        </p:txBody>
      </p:sp>
      <p:sp>
        <p:nvSpPr>
          <p:cNvPr id="28" name="Text 22"/>
          <p:cNvSpPr txBox="1"/>
          <p:nvPr/>
        </p:nvSpPr>
        <p:spPr>
          <a:xfrm>
            <a:off x="4048049" y="4100170"/>
            <a:ext cx="1334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 (Weight)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4048049" y="4328770"/>
            <a:ext cx="1314907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신호의 </a:t>
            </a:r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중요도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학습을 통해 최적화되는 값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571500" y="5043830"/>
            <a:ext cx="2572207" cy="905256"/>
          </a:xfrm>
          <a:prstGeom prst="roundRect">
            <a:avLst>
              <a:gd name="adj" fmla="val 12759"/>
            </a:avLst>
          </a:prstGeom>
          <a:solidFill>
            <a:srgbClr val="1E293B">
              <a:alpha val="60000"/>
            </a:srgbClr>
          </a:solidFill>
          <a:ln/>
        </p:spPr>
      </p:sp>
      <p:sp>
        <p:nvSpPr>
          <p:cNvPr id="31" name="Shape 25"/>
          <p:cNvSpPr/>
          <p:nvPr/>
        </p:nvSpPr>
        <p:spPr>
          <a:xfrm>
            <a:off x="571500" y="5043830"/>
            <a:ext cx="38405" cy="905256"/>
          </a:xfrm>
          <a:prstGeom prst="roundRect">
            <a:avLst>
              <a:gd name="adj" fmla="val 300750"/>
            </a:avLst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1695" y="5195621"/>
            <a:ext cx="381305" cy="381305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61695" y="5195621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B718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endParaRPr lang="en-US" sz="1800" dirty="0"/>
          </a:p>
        </p:txBody>
      </p:sp>
      <p:sp>
        <p:nvSpPr>
          <p:cNvPr id="34" name="Text 27"/>
          <p:cNvSpPr txBox="1"/>
          <p:nvPr/>
        </p:nvSpPr>
        <p:spPr>
          <a:xfrm>
            <a:off x="1285646" y="5195621"/>
            <a:ext cx="16002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 (Bias)</a:t>
            </a:r>
            <a:endParaRPr lang="en-US" sz="1000" dirty="0"/>
          </a:p>
        </p:txBody>
      </p:sp>
      <p:sp>
        <p:nvSpPr>
          <p:cNvPr id="35" name="Text 28"/>
          <p:cNvSpPr txBox="1"/>
          <p:nvPr/>
        </p:nvSpPr>
        <p:spPr>
          <a:xfrm>
            <a:off x="1285646" y="5424221"/>
            <a:ext cx="1585570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뉴런의 </a:t>
            </a:r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민감도</a:t>
            </a:r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조절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 임계값(Threshold) 이동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3333902" y="5043830"/>
            <a:ext cx="2572207" cy="905256"/>
          </a:xfrm>
          <a:prstGeom prst="roundRect">
            <a:avLst>
              <a:gd name="adj" fmla="val 12759"/>
            </a:avLst>
          </a:prstGeom>
          <a:solidFill>
            <a:srgbClr val="1E293B">
              <a:alpha val="60000"/>
            </a:srgbClr>
          </a:solidFill>
          <a:ln/>
        </p:spPr>
      </p:sp>
      <p:sp>
        <p:nvSpPr>
          <p:cNvPr id="37" name="Shape 30"/>
          <p:cNvSpPr/>
          <p:nvPr/>
        </p:nvSpPr>
        <p:spPr>
          <a:xfrm>
            <a:off x="3333902" y="5043830"/>
            <a:ext cx="38405" cy="905256"/>
          </a:xfrm>
          <a:prstGeom prst="roundRect">
            <a:avLst>
              <a:gd name="adj" fmla="val 300750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24098" y="5195621"/>
            <a:ext cx="381305" cy="381305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3524098" y="5195621"/>
            <a:ext cx="381305" cy="381305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endParaRPr lang="en-US" sz="1800" dirty="0"/>
          </a:p>
        </p:txBody>
      </p:sp>
      <p:sp>
        <p:nvSpPr>
          <p:cNvPr id="40" name="Text 32"/>
          <p:cNvSpPr txBox="1"/>
          <p:nvPr/>
        </p:nvSpPr>
        <p:spPr>
          <a:xfrm>
            <a:off x="4048049" y="5195621"/>
            <a:ext cx="166695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EE7B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 함수</a:t>
            </a:r>
            <a:endParaRPr lang="en-US" sz="1000" dirty="0"/>
          </a:p>
        </p:txBody>
      </p:sp>
      <p:sp>
        <p:nvSpPr>
          <p:cNvPr id="41" name="Text 33"/>
          <p:cNvSpPr txBox="1"/>
          <p:nvPr/>
        </p:nvSpPr>
        <p:spPr>
          <a:xfrm>
            <a:off x="4048049" y="5424221"/>
            <a:ext cx="1604772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총합을 출력 신호(0/1)로 변환</a:t>
            </a:r>
            <a:pPr algn="l" indent="0" marL="0">
              <a:buNone/>
            </a:pPr>
            <a:endParaRPr lang="en-US" sz="900" dirty="0"/>
          </a:p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퍼셉트론은 </a:t>
            </a:r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함수</a:t>
            </a:r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사용</a:t>
            </a:r>
            <a:endParaRPr lang="en-US" sz="900" dirty="0"/>
          </a:p>
        </p:txBody>
      </p:sp>
      <p:pic>
        <p:nvPicPr>
          <p:cNvPr id="42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39" b="-39"/>
          <a:stretch/>
        </p:blipFill>
        <p:spPr>
          <a:xfrm>
            <a:off x="6286500" y="1781251"/>
            <a:ext cx="5333695" cy="314554"/>
          </a:xfrm>
          <a:prstGeom prst="rect">
            <a:avLst/>
          </a:prstGeom>
        </p:spPr>
      </p:pic>
      <p:sp>
        <p:nvSpPr>
          <p:cNvPr id="43" name="Text 34"/>
          <p:cNvSpPr txBox="1"/>
          <p:nvPr/>
        </p:nvSpPr>
        <p:spPr>
          <a:xfrm>
            <a:off x="6439205" y="1857146"/>
            <a:ext cx="16578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Structure Visualization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11087100" y="1895551"/>
            <a:ext cx="75895" cy="75895"/>
          </a:xfrm>
          <a:prstGeom prst="ellipse">
            <a:avLst/>
          </a:prstGeom>
          <a:solidFill>
            <a:srgbClr val="EF4444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5" name="Shape 36"/>
          <p:cNvSpPr/>
          <p:nvPr/>
        </p:nvSpPr>
        <p:spPr>
          <a:xfrm>
            <a:off x="11239805" y="1895551"/>
            <a:ext cx="75895" cy="75895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6" name="Shape 37"/>
          <p:cNvSpPr/>
          <p:nvPr/>
        </p:nvSpPr>
        <p:spPr>
          <a:xfrm>
            <a:off x="11391595" y="1895551"/>
            <a:ext cx="75895" cy="75895"/>
          </a:xfrm>
          <a:prstGeom prst="ellipse">
            <a:avLst/>
          </a:prstGeom>
          <a:solidFill>
            <a:srgbClr val="10B981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7" name="Shape 38"/>
          <p:cNvSpPr/>
          <p:nvPr/>
        </p:nvSpPr>
        <p:spPr>
          <a:xfrm>
            <a:off x="6286500" y="2095805"/>
            <a:ext cx="5333695" cy="2857500"/>
          </a:xfrm>
          <a:prstGeom prst="roundRect">
            <a:avLst>
              <a:gd name="adj" fmla="val 1707"/>
            </a:avLst>
          </a:prstGeom>
          <a:solidFill>
            <a:srgbClr val="000000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4693" b="4693"/>
          <a:stretch/>
        </p:blipFill>
        <p:spPr>
          <a:xfrm>
            <a:off x="6448349" y="2257654"/>
            <a:ext cx="5009998" cy="2533802"/>
          </a:xfrm>
          <a:prstGeom prst="rect">
            <a:avLst/>
          </a:prstGeom>
        </p:spPr>
      </p:pic>
      <p:sp>
        <p:nvSpPr>
          <p:cNvPr id="49" name="Shape 39"/>
          <p:cNvSpPr/>
          <p:nvPr/>
        </p:nvSpPr>
        <p:spPr>
          <a:xfrm>
            <a:off x="6286500" y="5181905"/>
            <a:ext cx="5333695" cy="895198"/>
          </a:xfrm>
          <a:prstGeom prst="roundRect">
            <a:avLst>
              <a:gd name="adj" fmla="val 13040"/>
            </a:avLst>
          </a:prstGeom>
          <a:solidFill>
            <a:srgbClr val="1F2937">
              <a:alpha val="50000"/>
            </a:srgbClr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50" name="Text 40"/>
          <p:cNvSpPr txBox="1"/>
          <p:nvPr/>
        </p:nvSpPr>
        <p:spPr>
          <a:xfrm>
            <a:off x="8696858" y="5343754"/>
            <a:ext cx="283829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직관적 이해: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"여러 힌트(x)에 신뢰도(w)를 곱해 합산한 점수가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커트라인(-b)을 넘으면 합격(1), 아니면 불합격(0)" </a:t>
            </a:r>
            <a:endParaRPr lang="en-US" sz="1000" dirty="0"/>
          </a:p>
        </p:txBody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rcRect l="-2512" r="-2512" t="0" b="0"/>
          <a:stretch/>
        </p:blipFill>
        <p:spPr>
          <a:xfrm>
            <a:off x="8515807" y="5379415"/>
            <a:ext cx="105156" cy="133502"/>
          </a:xfrm>
          <a:prstGeom prst="rect">
            <a:avLst/>
          </a:prstGeom>
        </p:spPr>
      </p:pic>
      <p:sp>
        <p:nvSpPr>
          <p:cNvPr id="52" name="Text 41"/>
          <p:cNvSpPr txBox="1"/>
          <p:nvPr/>
        </p:nvSpPr>
        <p:spPr>
          <a:xfrm>
            <a:off x="11398910" y="6476695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10000"/>
          </a:blip>
          <a:srcRect l="0" r="0" t="0" b="0"/>
          <a:stretch/>
        </p:blipFill>
        <p:spPr>
          <a:xfrm>
            <a:off x="3047695" y="-1828800"/>
            <a:ext cx="3657600" cy="36576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rcRect l="0" r="0" t="0" b="0"/>
          <a:stretch/>
        </p:blipFill>
        <p:spPr>
          <a:xfrm>
            <a:off x="6096305" y="5333695"/>
            <a:ext cx="3047695" cy="3047695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66598" y="981151"/>
            <a:ext cx="10858500" cy="5056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가중치(</a:t>
            </a:r>
            <a:pPr algn="ctr" indent="0" marL="0">
              <a:buNone/>
            </a:pPr>
            <a:r>
              <a:rPr lang="en-US" sz="3600" b="1" i="1" dirty="0">
                <a:solidFill>
                  <a:srgbClr val="A78BF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)의 의미 </a:t>
            </a:r>
            <a:endParaRPr lang="en-US" sz="3600" dirty="0"/>
          </a:p>
        </p:txBody>
      </p:sp>
      <p:sp>
        <p:nvSpPr>
          <p:cNvPr id="7" name="Text 3"/>
          <p:cNvSpPr txBox="1"/>
          <p:nvPr/>
        </p:nvSpPr>
        <p:spPr>
          <a:xfrm>
            <a:off x="666598" y="1638605"/>
            <a:ext cx="10858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모델이 입력 정보를 얼마나 </a:t>
            </a:r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중요하게</a:t>
            </a:r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생각하는지 결정합니다. </a:t>
            </a:r>
            <a:endParaRPr lang="en-US" sz="15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7198" y="580644"/>
            <a:ext cx="1257300" cy="2478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67198" y="580644"/>
            <a:ext cx="1257300" cy="2478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338C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90" kern="0" dirty="0">
                <a:solidFill>
                  <a:srgbClr val="A5B4F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Concept</a:t>
            </a:r>
            <a:endParaRPr lang="en-US" sz="900" dirty="0"/>
          </a:p>
        </p:txBody>
      </p:sp>
      <p:sp>
        <p:nvSpPr>
          <p:cNvPr id="10" name="Shape 5"/>
          <p:cNvSpPr/>
          <p:nvPr/>
        </p:nvSpPr>
        <p:spPr>
          <a:xfrm>
            <a:off x="761695" y="2361895"/>
            <a:ext cx="3305556" cy="3305556"/>
          </a:xfrm>
          <a:prstGeom prst="roundRect">
            <a:avLst>
              <a:gd name="adj" fmla="val 191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>
            <a:alphaModFix amt="10000"/>
          </a:blip>
          <a:srcRect l="0" r="0" t="0" b="0"/>
          <a:stretch/>
        </p:blipFill>
        <p:spPr>
          <a:xfrm>
            <a:off x="3292754" y="2523744"/>
            <a:ext cx="609905" cy="60990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4444898" y="2361895"/>
            <a:ext cx="3305556" cy="3305556"/>
          </a:xfrm>
          <a:prstGeom prst="roundRect">
            <a:avLst>
              <a:gd name="adj" fmla="val 191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>
            <a:alphaModFix amt="10000"/>
          </a:blip>
          <a:srcRect l="0" r="0" t="-25" b="-25"/>
          <a:stretch/>
        </p:blipFill>
        <p:spPr>
          <a:xfrm>
            <a:off x="6899148" y="2523744"/>
            <a:ext cx="685800" cy="609905"/>
          </a:xfrm>
          <a:prstGeom prst="rect">
            <a:avLst/>
          </a:prstGeom>
        </p:spPr>
      </p:pic>
      <p:sp>
        <p:nvSpPr>
          <p:cNvPr id="14" name="Shape 7"/>
          <p:cNvSpPr/>
          <p:nvPr/>
        </p:nvSpPr>
        <p:spPr>
          <a:xfrm>
            <a:off x="8128102" y="2361895"/>
            <a:ext cx="3305556" cy="3305556"/>
          </a:xfrm>
          <a:prstGeom prst="roundRect">
            <a:avLst>
              <a:gd name="adj" fmla="val 1913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>
            <a:alphaModFix amt="10000"/>
          </a:blip>
          <a:srcRect l="0" r="0" t="0" b="0"/>
          <a:stretch/>
        </p:blipFill>
        <p:spPr>
          <a:xfrm>
            <a:off x="10658246" y="2523744"/>
            <a:ext cx="609905" cy="609905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936699" y="2752344"/>
            <a:ext cx="952805" cy="95280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222906" y="3038551"/>
            <a:ext cx="381305" cy="381305"/>
          </a:xfrm>
          <a:prstGeom prst="rect">
            <a:avLst/>
          </a:prstGeom>
        </p:spPr>
      </p:pic>
      <p:sp>
        <p:nvSpPr>
          <p:cNvPr id="18" name="Text 8"/>
          <p:cNvSpPr txBox="1"/>
          <p:nvPr/>
        </p:nvSpPr>
        <p:spPr>
          <a:xfrm>
            <a:off x="905256" y="3933749"/>
            <a:ext cx="3020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볼륨 조절 노브</a:t>
            </a:r>
            <a:endParaRPr lang="en-US" sz="1800" dirty="0"/>
          </a:p>
        </p:txBody>
      </p:sp>
      <p:sp>
        <p:nvSpPr>
          <p:cNvPr id="19" name="Text 9"/>
          <p:cNvSpPr txBox="1"/>
          <p:nvPr/>
        </p:nvSpPr>
        <p:spPr>
          <a:xfrm>
            <a:off x="961949" y="4390949"/>
            <a:ext cx="29059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음악 믹싱에서 특정 악기의 소리를 키우듯, </a:t>
            </a:r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정보의 신호는 증폭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(w &gt; 1)시키고, 불필요한 정보는 줄이거나(w &lt; 1) 차단(w = 0)합니다. </a:t>
            </a:r>
            <a:endParaRPr lang="en-US" sz="1000" dirty="0"/>
          </a:p>
        </p:txBody>
      </p:sp>
      <p:pic>
        <p:nvPicPr>
          <p:cNvPr id="20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619902" y="2752344"/>
            <a:ext cx="952805" cy="952805"/>
          </a:xfrm>
          <a:prstGeom prst="rect">
            <a:avLst/>
          </a:prstGeom>
        </p:spPr>
      </p:pic>
      <p:pic>
        <p:nvPicPr>
          <p:cNvPr id="2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905195" y="3038551"/>
            <a:ext cx="381305" cy="381305"/>
          </a:xfrm>
          <a:prstGeom prst="rect">
            <a:avLst/>
          </a:prstGeom>
        </p:spPr>
      </p:pic>
      <p:sp>
        <p:nvSpPr>
          <p:cNvPr id="22" name="Text 10"/>
          <p:cNvSpPr txBox="1"/>
          <p:nvPr/>
        </p:nvSpPr>
        <p:spPr>
          <a:xfrm>
            <a:off x="4587545" y="3933749"/>
            <a:ext cx="3020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투표 가중치</a:t>
            </a:r>
            <a:endParaRPr lang="en-US" sz="1800" dirty="0"/>
          </a:p>
        </p:txBody>
      </p:sp>
      <p:sp>
        <p:nvSpPr>
          <p:cNvPr id="23" name="Text 11"/>
          <p:cNvSpPr txBox="1"/>
          <p:nvPr/>
        </p:nvSpPr>
        <p:spPr>
          <a:xfrm>
            <a:off x="4645152" y="4390949"/>
            <a:ext cx="29059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의견이 동등하지 않습니다. </a:t>
            </a:r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신뢰할 수 있는 전문가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(높은 가중치)의 의견이 최종 결정에 더 큰 영향력을 미치는 것과 같습니다. </a:t>
            </a:r>
            <a:endParaRPr lang="en-US" sz="1000" dirty="0"/>
          </a:p>
        </p:txBody>
      </p:sp>
      <p:pic>
        <p:nvPicPr>
          <p:cNvPr id="24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303106" y="2752344"/>
            <a:ext cx="952805" cy="952805"/>
          </a:xfrm>
          <a:prstGeom prst="rect">
            <a:avLst/>
          </a:prstGeom>
        </p:spPr>
      </p:pic>
      <p:pic>
        <p:nvPicPr>
          <p:cNvPr id="25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588398" y="3038551"/>
            <a:ext cx="381305" cy="381305"/>
          </a:xfrm>
          <a:prstGeom prst="rect">
            <a:avLst/>
          </a:prstGeom>
        </p:spPr>
      </p:pic>
      <p:sp>
        <p:nvSpPr>
          <p:cNvPr id="26" name="Text 12"/>
          <p:cNvSpPr txBox="1"/>
          <p:nvPr/>
        </p:nvSpPr>
        <p:spPr>
          <a:xfrm>
            <a:off x="8270748" y="3933749"/>
            <a:ext cx="30202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특징 필터</a:t>
            </a:r>
            <a:endParaRPr lang="en-US" sz="1800" dirty="0"/>
          </a:p>
        </p:txBody>
      </p:sp>
      <p:sp>
        <p:nvSpPr>
          <p:cNvPr id="27" name="Text 13"/>
          <p:cNvSpPr txBox="1"/>
          <p:nvPr/>
        </p:nvSpPr>
        <p:spPr>
          <a:xfrm>
            <a:off x="8328355" y="4390949"/>
            <a:ext cx="2905963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이미지에서 '가로선', '곡선' 등 </a:t>
            </a:r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유용한 패턴은 통과</a:t>
            </a:r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시키고, 배경 잡음과 같은 무의미한 정보는 걸러내는 필터 역할을 합니다. </a:t>
            </a:r>
            <a:endParaRPr lang="en-US" sz="1000" dirty="0"/>
          </a:p>
        </p:txBody>
      </p:sp>
      <p:sp>
        <p:nvSpPr>
          <p:cNvPr id="28" name="Shape 14"/>
          <p:cNvSpPr/>
          <p:nvPr/>
        </p:nvSpPr>
        <p:spPr>
          <a:xfrm>
            <a:off x="761695" y="5971946"/>
            <a:ext cx="10668305" cy="9144"/>
          </a:xfrm>
          <a:prstGeom prst="rect">
            <a:avLst/>
          </a:prstGeom>
          <a:solidFill>
            <a:srgbClr val="1F2937"/>
          </a:solidFill>
          <a:ln w="12700">
            <a:solidFill>
              <a:srgbClr val="1F2937">
                <a:alpha val="0"/>
              </a:srgbClr>
            </a:solidFill>
            <a:prstDash val="solid"/>
          </a:ln>
        </p:spPr>
      </p:sp>
      <p:sp>
        <p:nvSpPr>
          <p:cNvPr id="29" name="Text 15"/>
          <p:cNvSpPr txBox="1"/>
          <p:nvPr/>
        </p:nvSpPr>
        <p:spPr>
          <a:xfrm>
            <a:off x="761695" y="6133795"/>
            <a:ext cx="257586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Artificial Neural Network Parameters</a:t>
            </a:r>
            <a:endParaRPr lang="en-US" sz="900" dirty="0"/>
          </a:p>
        </p:txBody>
      </p:sp>
      <p:sp>
        <p:nvSpPr>
          <p:cNvPr id="30" name="Text 16"/>
          <p:cNvSpPr txBox="1"/>
          <p:nvPr/>
        </p:nvSpPr>
        <p:spPr>
          <a:xfrm>
            <a:off x="11018520" y="6133795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6705295" cy="68580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5" name="Shape 3"/>
          <p:cNvSpPr/>
          <p:nvPr/>
        </p:nvSpPr>
        <p:spPr>
          <a:xfrm>
            <a:off x="6696151" y="0"/>
            <a:ext cx="9144" cy="685800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81305" y="886054"/>
            <a:ext cx="38405" cy="304495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72414" y="886054"/>
            <a:ext cx="3466490" cy="3054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Activation Boundary Shift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381305" y="1419149"/>
            <a:ext cx="5934456" cy="3810305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4994" y="2180844"/>
            <a:ext cx="1591056" cy="59070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834994" y="2180844"/>
            <a:ext cx="1591056" cy="5907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Bias &gt; 0 쉽게 활성화 (좌측 이동)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4318711" y="2266798"/>
            <a:ext cx="62362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Bias &gt; 0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1016" y="3884371"/>
            <a:ext cx="1723644" cy="59070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71016" y="3884371"/>
            <a:ext cx="1724558" cy="5907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472B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Bias &lt; 0 어렵게 활성화 (우측 이동)</a:t>
            </a:r>
            <a:endParaRPr lang="en-US" sz="1000" dirty="0"/>
          </a:p>
        </p:txBody>
      </p:sp>
      <p:sp>
        <p:nvSpPr>
          <p:cNvPr id="14" name="Text 9"/>
          <p:cNvSpPr txBox="1"/>
          <p:nvPr/>
        </p:nvSpPr>
        <p:spPr>
          <a:xfrm>
            <a:off x="1818742" y="3969410"/>
            <a:ext cx="62362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Bias &lt; 0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2818181" y="3269894"/>
            <a:ext cx="106527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Moves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>
            <a:alphaModFix amt="57000"/>
          </a:blip>
          <a:srcRect l="0" r="0" t="0" b="0"/>
          <a:stretch/>
        </p:blipFill>
        <p:spPr>
          <a:xfrm>
            <a:off x="3176626" y="2845613"/>
            <a:ext cx="342900" cy="342900"/>
          </a:xfrm>
          <a:prstGeom prst="rect">
            <a:avLst/>
          </a:prstGeom>
        </p:spPr>
      </p:pic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8720" y="5533949"/>
            <a:ext cx="4324198" cy="437998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73352" y="5533949"/>
            <a:ext cx="3840480" cy="4389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37415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편향(b)이 없다면 결정 경계는 항상 원점(0,0) 을 지나야만 합니다.</a:t>
            </a:r>
            <a:endParaRPr lang="en-US" sz="10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1427378" y="5693969"/>
            <a:ext cx="133502" cy="133502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6705295" y="0"/>
            <a:ext cx="5486400" cy="6858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3"/>
          <p:cNvSpPr txBox="1"/>
          <p:nvPr/>
        </p:nvSpPr>
        <p:spPr>
          <a:xfrm>
            <a:off x="7181698" y="373990"/>
            <a:ext cx="46488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Parameter</a:t>
            </a:r>
            <a:endParaRPr lang="en-US" sz="1000" dirty="0"/>
          </a:p>
        </p:txBody>
      </p:sp>
      <p:sp>
        <p:nvSpPr>
          <p:cNvPr id="22" name="Text 14"/>
          <p:cNvSpPr txBox="1"/>
          <p:nvPr/>
        </p:nvSpPr>
        <p:spPr>
          <a:xfrm>
            <a:off x="7181698" y="640080"/>
            <a:ext cx="4662526" cy="8577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편향 (Bias)</a:t>
            </a:r>
            <a:pPr algn="l" indent="0" marL="0">
              <a:buNone/>
            </a:pPr>
            <a:endParaRPr lang="en-US" sz="2700" dirty="0"/>
          </a:p>
          <a:p>
            <a:pPr algn="l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얼마나 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민감</a:t>
            </a:r>
            <a:pPr algn="l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한가?</a:t>
            </a:r>
            <a:endParaRPr lang="en-US" sz="27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14" b="-14"/>
          <a:stretch/>
        </p:blipFill>
        <p:spPr>
          <a:xfrm>
            <a:off x="7181698" y="1878178"/>
            <a:ext cx="4533595" cy="1230782"/>
          </a:xfrm>
          <a:prstGeom prst="rect">
            <a:avLst/>
          </a:prstGeom>
        </p:spPr>
      </p:pic>
      <p:sp>
        <p:nvSpPr>
          <p:cNvPr id="24" name="Text 15"/>
          <p:cNvSpPr txBox="1"/>
          <p:nvPr/>
        </p:nvSpPr>
        <p:spPr>
          <a:xfrm>
            <a:off x="7714793" y="2069287"/>
            <a:ext cx="3924605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발화의 문턱값 (Threshold) </a:t>
            </a:r>
            <a:endParaRPr lang="en-US" sz="15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410298" y="2116836"/>
            <a:ext cx="190195" cy="190195"/>
          </a:xfrm>
          <a:prstGeom prst="rect">
            <a:avLst/>
          </a:prstGeom>
        </p:spPr>
      </p:pic>
      <p:sp>
        <p:nvSpPr>
          <p:cNvPr id="26" name="Text 16"/>
          <p:cNvSpPr txBox="1"/>
          <p:nvPr/>
        </p:nvSpPr>
        <p:spPr>
          <a:xfrm>
            <a:off x="7410298" y="2431390"/>
            <a:ext cx="4191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동일한 입력이 들어와도 편향에 따라 결과가 달라집니다.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편향은 뉴런이 </a:t>
            </a:r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활성화되기 쉬운 정도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를 조절합니다. </a:t>
            </a:r>
            <a:endParaRPr lang="en-US" sz="12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14" b="-14"/>
          <a:stretch/>
        </p:blipFill>
        <p:spPr>
          <a:xfrm>
            <a:off x="7181698" y="3337560"/>
            <a:ext cx="4533595" cy="1230782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7762342" y="3527755"/>
            <a:ext cx="3877056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민감도 조절 (Sensitivity) </a:t>
            </a:r>
            <a:endParaRPr lang="en-US" sz="150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7410298" y="3575304"/>
            <a:ext cx="237744" cy="190195"/>
          </a:xfrm>
          <a:prstGeom prst="rect">
            <a:avLst/>
          </a:prstGeom>
        </p:spPr>
      </p:pic>
      <p:sp>
        <p:nvSpPr>
          <p:cNvPr id="30" name="Text 18"/>
          <p:cNvSpPr txBox="1"/>
          <p:nvPr/>
        </p:nvSpPr>
        <p:spPr>
          <a:xfrm>
            <a:off x="7410298" y="3889858"/>
            <a:ext cx="4191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높은 편향 (+b):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작은 자극에도 쉽게 반응 (낙관적)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편향 (-b):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큰 자극이 있어야 반응 (보수적) </a:t>
            </a:r>
            <a:endParaRPr lang="en-US" sz="120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4" b="-14"/>
          <a:stretch/>
        </p:blipFill>
        <p:spPr>
          <a:xfrm>
            <a:off x="7181698" y="4796942"/>
            <a:ext cx="4533595" cy="1230782"/>
          </a:xfrm>
          <a:prstGeom prst="rect">
            <a:avLst/>
          </a:prstGeom>
        </p:spPr>
      </p:pic>
      <p:sp>
        <p:nvSpPr>
          <p:cNvPr id="32" name="Text 19"/>
          <p:cNvSpPr txBox="1"/>
          <p:nvPr/>
        </p:nvSpPr>
        <p:spPr>
          <a:xfrm>
            <a:off x="7667244" y="4987138"/>
            <a:ext cx="3972154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472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공간의 이동 (Shift) </a:t>
            </a:r>
            <a:endParaRPr lang="en-US" sz="150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7410298" y="5034686"/>
            <a:ext cx="142646" cy="190195"/>
          </a:xfrm>
          <a:prstGeom prst="rect">
            <a:avLst/>
          </a:prstGeom>
        </p:spPr>
      </p:pic>
      <p:sp>
        <p:nvSpPr>
          <p:cNvPr id="34" name="Text 20"/>
          <p:cNvSpPr txBox="1"/>
          <p:nvPr/>
        </p:nvSpPr>
        <p:spPr>
          <a:xfrm>
            <a:off x="7410298" y="5349240"/>
            <a:ext cx="41916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그래프 상에서 활성화 함수를 </a:t>
            </a:r>
            <a:pPr algn="l" indent="0" marL="0">
              <a:buNone/>
            </a:pPr>
            <a:r>
              <a:rPr lang="en-US" sz="12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좌우로 이동</a:t>
            </a:r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시킵니다.</a:t>
            </a:r>
            <a:pPr algn="l" indent="0" marL="0">
              <a:buNone/>
            </a:pP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 분포에 맞게 결정 경계선의 위치를 조정합니다. </a:t>
            </a:r>
            <a:endParaRPr lang="en-US" sz="1200" dirty="0"/>
          </a:p>
        </p:txBody>
      </p:sp>
      <p:sp>
        <p:nvSpPr>
          <p:cNvPr id="35" name="Text 21"/>
          <p:cNvSpPr txBox="1"/>
          <p:nvPr/>
        </p:nvSpPr>
        <p:spPr>
          <a:xfrm>
            <a:off x="7181698" y="6332220"/>
            <a:ext cx="19339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Parameters: Weights vs Bias</a:t>
            </a:r>
            <a:endParaRPr lang="en-US" sz="900" dirty="0"/>
          </a:p>
        </p:txBody>
      </p:sp>
      <p:sp>
        <p:nvSpPr>
          <p:cNvPr id="36" name="Text 22"/>
          <p:cNvSpPr txBox="1"/>
          <p:nvPr/>
        </p:nvSpPr>
        <p:spPr>
          <a:xfrm>
            <a:off x="11303813" y="6332220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66598" y="476402"/>
            <a:ext cx="36676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Activation Function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666598" y="705002"/>
            <a:ext cx="5165446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Step Function </a:t>
            </a:r>
            <a:pPr algn="l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(계단 함수)</a:t>
            </a:r>
            <a:endParaRPr lang="en-US" sz="2700" dirty="0"/>
          </a:p>
        </p:txBody>
      </p:sp>
      <p:sp>
        <p:nvSpPr>
          <p:cNvPr id="7" name="Text 4"/>
          <p:cNvSpPr txBox="1"/>
          <p:nvPr/>
        </p:nvSpPr>
        <p:spPr>
          <a:xfrm>
            <a:off x="9263786" y="914400"/>
            <a:ext cx="22622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퍼셉트론의 엄격한 결정 방식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rcRect l="-8" r="-8" t="0" b="0"/>
          <a:stretch/>
        </p:blipFill>
        <p:spPr>
          <a:xfrm>
            <a:off x="7178954" y="2056486"/>
            <a:ext cx="4346143" cy="1218895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407554" y="2246681"/>
            <a:ext cx="40489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22" kern="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Mathematical Definition</a:t>
            </a:r>
            <a:endParaRPr lang="en-US" sz="900" dirty="0"/>
          </a:p>
        </p:txBody>
      </p:sp>
      <p:sp>
        <p:nvSpPr>
          <p:cNvPr id="10" name="Shape 6"/>
          <p:cNvSpPr/>
          <p:nvPr/>
        </p:nvSpPr>
        <p:spPr>
          <a:xfrm>
            <a:off x="7178954" y="3503981"/>
            <a:ext cx="4352544" cy="961949"/>
          </a:xfrm>
          <a:prstGeom prst="roundRect">
            <a:avLst>
              <a:gd name="adj" fmla="val 11294"/>
            </a:avLst>
          </a:prstGeom>
          <a:solidFill>
            <a:srgbClr val="064E3B">
              <a:alpha val="40000"/>
            </a:srgbClr>
          </a:solidFill>
          <a:ln w="12700">
            <a:solidFill>
              <a:srgbClr val="34D399">
                <a:alpha val="30000"/>
              </a:srgbClr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759598" y="3665830"/>
            <a:ext cx="3801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명확하고 단순함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7759598" y="3932834"/>
            <a:ext cx="3686861" cy="372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 또는 1이라는 확실한 이진 결과를 내놓아, 디지털 논리 회로처럼 직관적이고 해석이 쉽습니다.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7178954" y="4614062"/>
            <a:ext cx="4352544" cy="1143000"/>
          </a:xfrm>
          <a:prstGeom prst="roundRect">
            <a:avLst>
              <a:gd name="adj" fmla="val 8000"/>
            </a:avLst>
          </a:prstGeom>
          <a:solidFill>
            <a:srgbClr val="7F1D1D">
              <a:alpha val="40000"/>
            </a:srgbClr>
          </a:solidFill>
          <a:ln w="12700">
            <a:solidFill>
              <a:srgbClr val="F87171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340803" y="4775911"/>
            <a:ext cx="304495" cy="381305"/>
          </a:xfrm>
          <a:prstGeom prst="roundRect">
            <a:avLst>
              <a:gd name="adj" fmla="val 75075"/>
            </a:avLst>
          </a:prstGeom>
          <a:solidFill>
            <a:srgbClr val="EF4444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7759598" y="4775911"/>
            <a:ext cx="38011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CA5A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학습의 한계 (미분 불가)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7759598" y="5042002"/>
            <a:ext cx="3686861" cy="553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FEE2E2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순간적인 변화(불연속)로 인해 </a:t>
            </a:r>
            <a:pPr algn="l" indent="0" marL="0">
              <a:buNone/>
            </a:pPr>
            <a:r>
              <a:rPr lang="en-US" sz="1000" b="1" dirty="0">
                <a:solidFill>
                  <a:srgbClr val="FEE2E2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미분값(기울기)이 0이거나 무한대</a:t>
            </a:r>
            <a:pPr algn="l" indent="0" marL="0">
              <a:buNone/>
            </a:pPr>
            <a:r>
              <a:rPr lang="en-US" sz="1000" dirty="0">
                <a:solidFill>
                  <a:srgbClr val="FEE2E2">
                    <a:alpha val="7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입니다. 따라서 오차를 역추적하여 조금씩 수정하는 '딥러닝 학습(역전파)'을 적용할 수 없습니다. 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7407554" y="2631643"/>
            <a:ext cx="181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endParaRPr lang="en-US" sz="1800" dirty="0"/>
          </a:p>
        </p:txBody>
      </p:sp>
      <p:sp>
        <p:nvSpPr>
          <p:cNvPr id="18" name="Text 14"/>
          <p:cNvSpPr txBox="1"/>
          <p:nvPr/>
        </p:nvSpPr>
        <p:spPr>
          <a:xfrm>
            <a:off x="7509053" y="2612441"/>
            <a:ext cx="2953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1500" dirty="0"/>
          </a:p>
        </p:txBody>
      </p:sp>
      <p:sp>
        <p:nvSpPr>
          <p:cNvPr id="19" name="Text 15"/>
          <p:cNvSpPr txBox="1"/>
          <p:nvPr/>
        </p:nvSpPr>
        <p:spPr>
          <a:xfrm>
            <a:off x="7721194" y="2570378"/>
            <a:ext cx="181051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{</a:t>
            </a:r>
            <a:endParaRPr lang="en-US" sz="2200" dirty="0"/>
          </a:p>
        </p:txBody>
      </p:sp>
      <p:sp>
        <p:nvSpPr>
          <p:cNvPr id="20" name="Text 16"/>
          <p:cNvSpPr txBox="1"/>
          <p:nvPr/>
        </p:nvSpPr>
        <p:spPr>
          <a:xfrm>
            <a:off x="7894015" y="2494483"/>
            <a:ext cx="181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Text 17"/>
          <p:cNvSpPr txBox="1"/>
          <p:nvPr/>
        </p:nvSpPr>
        <p:spPr>
          <a:xfrm>
            <a:off x="7995514" y="2494483"/>
            <a:ext cx="181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8097926" y="2494483"/>
            <a:ext cx="129296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w·x + b &gt; 0</a:t>
            </a:r>
            <a:endParaRPr lang="en-US" sz="1800" dirty="0"/>
          </a:p>
        </p:txBody>
      </p:sp>
      <p:sp>
        <p:nvSpPr>
          <p:cNvPr id="23" name="Text 19"/>
          <p:cNvSpPr txBox="1"/>
          <p:nvPr/>
        </p:nvSpPr>
        <p:spPr>
          <a:xfrm>
            <a:off x="7894015" y="2818181"/>
            <a:ext cx="181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7995514" y="2818181"/>
            <a:ext cx="181051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if</a:t>
            </a:r>
            <a:endParaRPr lang="en-US" sz="1300" dirty="0"/>
          </a:p>
        </p:txBody>
      </p:sp>
      <p:sp>
        <p:nvSpPr>
          <p:cNvPr id="25" name="Text 21"/>
          <p:cNvSpPr txBox="1"/>
          <p:nvPr/>
        </p:nvSpPr>
        <p:spPr>
          <a:xfrm>
            <a:off x="8097926" y="2818181"/>
            <a:ext cx="125821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w·x + b ≤ 0</a:t>
            </a:r>
            <a:endParaRPr lang="en-US" sz="1800" dirty="0"/>
          </a:p>
        </p:txBody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16698" y="3790188"/>
            <a:ext cx="152705" cy="152705"/>
          </a:xfrm>
          <a:prstGeom prst="rect">
            <a:avLst/>
          </a:prstGeom>
        </p:spPr>
      </p:pic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16698" y="4899355"/>
            <a:ext cx="152705" cy="15270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666598" y="1410005"/>
            <a:ext cx="6210605" cy="4990795"/>
          </a:xfrm>
          <a:prstGeom prst="roundRect">
            <a:avLst>
              <a:gd name="adj" fmla="val 699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38BDF8">
                <a:alpha val="20000"/>
              </a:srgbClr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-79" r="-79" t="0" b="0"/>
          <a:stretch/>
        </p:blipFill>
        <p:spPr>
          <a:xfrm>
            <a:off x="866851" y="1609344"/>
            <a:ext cx="5810098" cy="4591202"/>
          </a:xfrm>
          <a:prstGeom prst="rect">
            <a:avLst/>
          </a:prstGeom>
        </p:spPr>
      </p:pic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98110" y="2413102"/>
            <a:ext cx="1248156" cy="543154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4998110" y="2413102"/>
            <a:ext cx="1248156" cy="5431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= 1 (활성화) 임계값 초과 시 발화</a:t>
            </a:r>
            <a:endParaRPr lang="en-US" sz="900" dirty="0"/>
          </a:p>
        </p:txBody>
      </p:sp>
      <p:pic>
        <p:nvPicPr>
          <p:cNvPr id="3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4790" y="4860036"/>
            <a:ext cx="1266444" cy="543154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294790" y="4860036"/>
            <a:ext cx="1267358" cy="54315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= 0 (비활성화) 임계값 미만 시 무시</a:t>
            </a:r>
            <a:endParaRPr lang="en-US" sz="900" dirty="0"/>
          </a:p>
        </p:txBody>
      </p:sp>
      <p:sp>
        <p:nvSpPr>
          <p:cNvPr id="34" name="Shape 25"/>
          <p:cNvSpPr/>
          <p:nvPr/>
        </p:nvSpPr>
        <p:spPr>
          <a:xfrm>
            <a:off x="3155594" y="3728009"/>
            <a:ext cx="1228954" cy="362102"/>
          </a:xfrm>
          <a:prstGeom prst="roundRect">
            <a:avLst>
              <a:gd name="adj" fmla="val 53163"/>
            </a:avLst>
          </a:prstGeom>
          <a:solidFill>
            <a:srgbClr val="0F172A">
              <a:alpha val="90000"/>
            </a:srgbClr>
          </a:solidFill>
          <a:ln w="12700">
            <a:solidFill>
              <a:srgbClr val="F43F5E"/>
            </a:solidFill>
            <a:prstDash val="solid"/>
          </a:ln>
          <a:effectLst>
            <a:outerShdw sx="100000" sy="100000" kx="0" ky="0" algn="bl" rotWithShape="0" blurRad="63500" dist="38100" dir="16200000">
              <a:srgbClr val="000000">
                <a:alpha val="30000"/>
              </a:srgbClr>
            </a:outerShdw>
          </a:effectLst>
        </p:spPr>
      </p:sp>
      <p:sp>
        <p:nvSpPr>
          <p:cNvPr id="35" name="Text 26"/>
          <p:cNvSpPr txBox="1"/>
          <p:nvPr/>
        </p:nvSpPr>
        <p:spPr>
          <a:xfrm>
            <a:off x="3441802" y="3813962"/>
            <a:ext cx="897941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급격한 불연속점</a:t>
            </a:r>
            <a:endParaRPr lang="en-US" sz="90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3279953" y="3847795"/>
            <a:ext cx="123444" cy="12344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11398910" y="6476695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143914"/>
            <a:ext cx="11048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375361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 Gate Practice 1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09905"/>
            <a:ext cx="4272991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 게이트 실습 — </a:t>
            </a:r>
            <a:pPr algn="l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987638" y="504749"/>
            <a:ext cx="2638044" cy="362102"/>
          </a:xfrm>
          <a:prstGeom prst="roundRect">
            <a:avLst>
              <a:gd name="adj" fmla="val 5316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9486" y="629107"/>
            <a:ext cx="114300" cy="114300"/>
          </a:xfrm>
          <a:prstGeom prst="ellipse">
            <a:avLst/>
          </a:prstGeom>
          <a:solidFill>
            <a:srgbClr val="3B82F6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378086" y="590702"/>
            <a:ext cx="21698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Linear Separation Possible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71500" y="1495044"/>
            <a:ext cx="4419295" cy="5143500"/>
          </a:xfrm>
          <a:prstGeom prst="roundRect">
            <a:avLst>
              <a:gd name="adj" fmla="val 89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6851" y="1790395"/>
            <a:ext cx="3829507" cy="972007"/>
          </a:xfrm>
          <a:prstGeom prst="roundRect">
            <a:avLst>
              <a:gd name="adj" fmla="val 147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16990" y="1990649"/>
            <a:ext cx="1143000" cy="5715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2812694" y="2066544"/>
            <a:ext cx="13149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 Gate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2812694" y="2333549"/>
            <a:ext cx="156728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두 입력이 모두 1일 때만 1</a:t>
            </a:r>
            <a:endParaRPr lang="en-US" sz="9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" y="3247949"/>
            <a:ext cx="1352398" cy="55229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875995" y="3247949"/>
            <a:ext cx="1353312" cy="5532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1 ( x₁ )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393" y="3247949"/>
            <a:ext cx="1352398" cy="55229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228393" y="3247949"/>
            <a:ext cx="1353312" cy="5532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2 ( x₂ )</a:t>
            </a:r>
            <a:endParaRPr lang="en-US" sz="10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790" y="3247949"/>
            <a:ext cx="1114654" cy="55229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3580790" y="3247949"/>
            <a:ext cx="1114654" cy="5532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( y )</a:t>
            </a:r>
            <a:endParaRPr lang="en-US" sz="1000" dirty="0"/>
          </a:p>
        </p:txBody>
      </p:sp>
      <p:sp>
        <p:nvSpPr>
          <p:cNvPr id="21" name="Shape 15"/>
          <p:cNvSpPr/>
          <p:nvPr/>
        </p:nvSpPr>
        <p:spPr>
          <a:xfrm>
            <a:off x="875995" y="4378147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847649" y="3796589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3" name="Shape 17"/>
          <p:cNvSpPr/>
          <p:nvPr/>
        </p:nvSpPr>
        <p:spPr>
          <a:xfrm>
            <a:off x="2228393" y="4378147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4" name="Text 18"/>
          <p:cNvSpPr txBox="1"/>
          <p:nvPr/>
        </p:nvSpPr>
        <p:spPr>
          <a:xfrm>
            <a:off x="2200046" y="3796589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5" name="Shape 19"/>
          <p:cNvSpPr/>
          <p:nvPr/>
        </p:nvSpPr>
        <p:spPr>
          <a:xfrm>
            <a:off x="3580790" y="4378147"/>
            <a:ext cx="11146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3551530" y="3796589"/>
            <a:ext cx="11722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875995" y="4967021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847649" y="4385462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9" name="Shape 23"/>
          <p:cNvSpPr/>
          <p:nvPr/>
        </p:nvSpPr>
        <p:spPr>
          <a:xfrm>
            <a:off x="2228393" y="4967021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2200046" y="4385462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3580790" y="4967021"/>
            <a:ext cx="11146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3551530" y="4385462"/>
            <a:ext cx="11722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3" name="Shape 27"/>
          <p:cNvSpPr/>
          <p:nvPr/>
        </p:nvSpPr>
        <p:spPr>
          <a:xfrm>
            <a:off x="875995" y="5555894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847649" y="4974336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Shape 29"/>
          <p:cNvSpPr/>
          <p:nvPr/>
        </p:nvSpPr>
        <p:spPr>
          <a:xfrm>
            <a:off x="2228393" y="5555894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6" name="Text 30"/>
          <p:cNvSpPr txBox="1"/>
          <p:nvPr/>
        </p:nvSpPr>
        <p:spPr>
          <a:xfrm>
            <a:off x="2200046" y="4974336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Shape 31"/>
          <p:cNvSpPr/>
          <p:nvPr/>
        </p:nvSpPr>
        <p:spPr>
          <a:xfrm>
            <a:off x="3580790" y="5555894"/>
            <a:ext cx="11146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8" name="Text 32"/>
          <p:cNvSpPr txBox="1"/>
          <p:nvPr/>
        </p:nvSpPr>
        <p:spPr>
          <a:xfrm>
            <a:off x="3551530" y="4974336"/>
            <a:ext cx="11722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875995" y="5562295"/>
            <a:ext cx="3810305" cy="580644"/>
          </a:xfrm>
          <a:prstGeom prst="roundRect">
            <a:avLst>
              <a:gd name="adj" fmla="val 30980"/>
            </a:avLst>
          </a:prstGeom>
          <a:solidFill>
            <a:srgbClr val="1E3A8A">
              <a:alpha val="20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847649" y="5562295"/>
            <a:ext cx="14100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5"/>
          <p:cNvSpPr txBox="1"/>
          <p:nvPr/>
        </p:nvSpPr>
        <p:spPr>
          <a:xfrm>
            <a:off x="2200046" y="5562295"/>
            <a:ext cx="14100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36"/>
          <p:cNvSpPr txBox="1"/>
          <p:nvPr/>
        </p:nvSpPr>
        <p:spPr>
          <a:xfrm>
            <a:off x="4006901" y="5562295"/>
            <a:ext cx="74615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4155034" y="5796382"/>
            <a:ext cx="105156" cy="114300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66851" y="6151169"/>
            <a:ext cx="3905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규칙:</a:t>
            </a:r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모든 조건이 충족되어야 활성화됩니다.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퍼셉트론은 이를 좌표평면 상의 점으로 인식하여 분류합니다. </a:t>
            </a:r>
            <a:endParaRPr lang="en-US" sz="10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2" b="-2"/>
          <a:stretch/>
        </p:blipFill>
        <p:spPr>
          <a:xfrm>
            <a:off x="5372100" y="1495044"/>
            <a:ext cx="6248095" cy="5143500"/>
          </a:xfrm>
          <a:prstGeom prst="rect">
            <a:avLst/>
          </a:prstGeom>
        </p:spPr>
      </p:pic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rcRect l="-2" r="-2" t="0" b="0"/>
          <a:stretch/>
        </p:blipFill>
        <p:spPr>
          <a:xfrm>
            <a:off x="5572354" y="1695298"/>
            <a:ext cx="5848502" cy="3933749"/>
          </a:xfrm>
          <a:prstGeom prst="rect">
            <a:avLst/>
          </a:prstGeom>
        </p:spPr>
      </p:pic>
      <p:pic>
        <p:nvPicPr>
          <p:cNvPr id="47" name="Image 7" descr="preencoded.png">    </p:cNvPr>
          <p:cNvPicPr>
            <a:picLocks noChangeAspect="1"/>
          </p:cNvPicPr>
          <p:nvPr/>
        </p:nvPicPr>
        <p:blipFill>
          <a:blip r:embed="rId8"/>
          <a:srcRect l="-13" r="-13" t="0" b="0"/>
          <a:stretch/>
        </p:blipFill>
        <p:spPr>
          <a:xfrm>
            <a:off x="5572354" y="5772607"/>
            <a:ext cx="5848502" cy="666598"/>
          </a:xfrm>
          <a:prstGeom prst="rect">
            <a:avLst/>
          </a:prstGeom>
        </p:spPr>
      </p:pic>
      <p:sp>
        <p:nvSpPr>
          <p:cNvPr id="48" name="Text 38"/>
          <p:cNvSpPr txBox="1"/>
          <p:nvPr/>
        </p:nvSpPr>
        <p:spPr>
          <a:xfrm>
            <a:off x="5962802" y="5915254"/>
            <a:ext cx="5391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 분리 가능: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파란색 점(1,1)과 빨간색 점들(0,0, 0,1, 1,0) 사이를 </a:t>
            </a:r>
            <a:pPr algn="l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 하나의 직선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깨끗하게 나눌 수 있습니다. </a:t>
            </a:r>
            <a:endParaRPr lang="en-US" sz="10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753405" y="5950915"/>
            <a:ext cx="133502" cy="133502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11398910" y="6476695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8 / 15</a:t>
            </a:r>
            <a:endParaRPr lang="en-US" sz="900" dirty="0"/>
          </a:p>
        </p:txBody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72354" y="1695298"/>
            <a:ext cx="1676095" cy="362102"/>
          </a:xfrm>
          <a:prstGeom prst="rect">
            <a:avLst/>
          </a:prstGeom>
        </p:spPr>
      </p:pic>
      <p:sp>
        <p:nvSpPr>
          <p:cNvPr id="52" name="Text 40"/>
          <p:cNvSpPr/>
          <p:nvPr/>
        </p:nvSpPr>
        <p:spPr>
          <a:xfrm>
            <a:off x="5968289" y="1695298"/>
            <a:ext cx="1281074" cy="3621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결정 경계 시각화</a:t>
            </a:r>
            <a:endParaRPr lang="en-US" sz="900" dirty="0"/>
          </a:p>
        </p:txBody>
      </p:sp>
      <p:pic>
        <p:nvPicPr>
          <p:cNvPr id="53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734202" y="1815084"/>
            <a:ext cx="123444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143914"/>
            <a:ext cx="11048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353415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Logic Gate Practice 2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09905"/>
            <a:ext cx="405993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논리 게이트 실습 — </a:t>
            </a:r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</a:t>
            </a:r>
            <a:endParaRPr lang="en-US" sz="2700" dirty="0"/>
          </a:p>
        </p:txBody>
      </p:sp>
      <p:sp>
        <p:nvSpPr>
          <p:cNvPr id="7" name="Shape 5"/>
          <p:cNvSpPr/>
          <p:nvPr/>
        </p:nvSpPr>
        <p:spPr>
          <a:xfrm>
            <a:off x="8987638" y="504749"/>
            <a:ext cx="2638044" cy="362102"/>
          </a:xfrm>
          <a:prstGeom prst="roundRect">
            <a:avLst>
              <a:gd name="adj" fmla="val 53163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9378086" y="590702"/>
            <a:ext cx="21698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Linear Separation Possible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71500" y="1495044"/>
            <a:ext cx="4419295" cy="5143500"/>
          </a:xfrm>
          <a:prstGeom prst="roundRect">
            <a:avLst>
              <a:gd name="adj" fmla="val 89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6851" y="1790395"/>
            <a:ext cx="3829507" cy="972007"/>
          </a:xfrm>
          <a:prstGeom prst="roundRect">
            <a:avLst>
              <a:gd name="adj" fmla="val 14757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527962" y="1990649"/>
            <a:ext cx="1143000" cy="57150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2823667" y="2066544"/>
            <a:ext cx="12957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 Gate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2823667" y="2333549"/>
            <a:ext cx="1469441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조건만 참이어도 1</a:t>
            </a:r>
            <a:endParaRPr lang="en-US" sz="9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5995" y="3247949"/>
            <a:ext cx="1352398" cy="55229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875995" y="3247949"/>
            <a:ext cx="1353312" cy="5532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1 ( x₁ )</a:t>
            </a:r>
            <a:endParaRPr lang="en-US" sz="1000" dirty="0"/>
          </a:p>
        </p:txBody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8393" y="3247949"/>
            <a:ext cx="1352398" cy="55229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228393" y="3247949"/>
            <a:ext cx="1353312" cy="5532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2 ( x₂ )</a:t>
            </a:r>
            <a:endParaRPr lang="en-US" sz="1000" dirty="0"/>
          </a:p>
        </p:txBody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0790" y="3247949"/>
            <a:ext cx="1114654" cy="55229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3580790" y="3247949"/>
            <a:ext cx="1114654" cy="553212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334155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출력 ( y )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875995" y="4378147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47649" y="3796589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2228393" y="4378147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2200046" y="3796589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3580790" y="4378147"/>
            <a:ext cx="11146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3551530" y="3796589"/>
            <a:ext cx="1172261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43F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875995" y="4967021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7" name="Text 21"/>
          <p:cNvSpPr txBox="1"/>
          <p:nvPr/>
        </p:nvSpPr>
        <p:spPr>
          <a:xfrm>
            <a:off x="847649" y="4385462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28" name="Shape 22"/>
          <p:cNvSpPr/>
          <p:nvPr/>
        </p:nvSpPr>
        <p:spPr>
          <a:xfrm>
            <a:off x="2228393" y="4967021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9" name="Text 23"/>
          <p:cNvSpPr txBox="1"/>
          <p:nvPr/>
        </p:nvSpPr>
        <p:spPr>
          <a:xfrm>
            <a:off x="2200046" y="4385462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0" name="Shape 24"/>
          <p:cNvSpPr/>
          <p:nvPr/>
        </p:nvSpPr>
        <p:spPr>
          <a:xfrm>
            <a:off x="3580790" y="4967021"/>
            <a:ext cx="11146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4006901" y="4385462"/>
            <a:ext cx="74615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rcRect l="-2571" r="-2571" t="0" b="0"/>
          <a:stretch/>
        </p:blipFill>
        <p:spPr>
          <a:xfrm>
            <a:off x="4155034" y="4618634"/>
            <a:ext cx="105156" cy="114300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875995" y="5555894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847649" y="4974336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35" name="Shape 28"/>
          <p:cNvSpPr/>
          <p:nvPr/>
        </p:nvSpPr>
        <p:spPr>
          <a:xfrm>
            <a:off x="2228393" y="5555894"/>
            <a:ext cx="1352398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200046" y="4974336"/>
            <a:ext cx="1410005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3580790" y="5555894"/>
            <a:ext cx="1114654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006901" y="4974336"/>
            <a:ext cx="746150" cy="42885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4155034" y="5207508"/>
            <a:ext cx="105156" cy="114300"/>
          </a:xfrm>
          <a:prstGeom prst="rect">
            <a:avLst/>
          </a:prstGeom>
        </p:spPr>
      </p:pic>
      <p:sp>
        <p:nvSpPr>
          <p:cNvPr id="40" name="Text 32"/>
          <p:cNvSpPr txBox="1"/>
          <p:nvPr/>
        </p:nvSpPr>
        <p:spPr>
          <a:xfrm>
            <a:off x="847649" y="5562295"/>
            <a:ext cx="14100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1" name="Text 33"/>
          <p:cNvSpPr txBox="1"/>
          <p:nvPr/>
        </p:nvSpPr>
        <p:spPr>
          <a:xfrm>
            <a:off x="2200046" y="5562295"/>
            <a:ext cx="1410005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BD5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sp>
        <p:nvSpPr>
          <p:cNvPr id="42" name="Text 34"/>
          <p:cNvSpPr txBox="1"/>
          <p:nvPr/>
        </p:nvSpPr>
        <p:spPr>
          <a:xfrm>
            <a:off x="4006901" y="5562295"/>
            <a:ext cx="746150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400" dirty="0"/>
          </a:p>
        </p:txBody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4155034" y="5796382"/>
            <a:ext cx="105156" cy="1143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866851" y="6151169"/>
            <a:ext cx="39054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규칙:</a:t>
            </a:r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 중 </a:t>
            </a:r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하나라도 1이면</a:t>
            </a:r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활성화됩니다.</a:t>
            </a:r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AND보다 발화 조건이 훨씬 관대한 편향을 가집니다. </a:t>
            </a:r>
            <a:endParaRPr lang="en-US" sz="10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2" b="-2"/>
          <a:stretch/>
        </p:blipFill>
        <p:spPr>
          <a:xfrm>
            <a:off x="5372100" y="1495044"/>
            <a:ext cx="6248095" cy="5143500"/>
          </a:xfrm>
          <a:prstGeom prst="rect">
            <a:avLst/>
          </a:prstGeom>
        </p:spPr>
      </p:pic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-2" r="-2" t="0" b="0"/>
          <a:stretch/>
        </p:blipFill>
        <p:spPr>
          <a:xfrm>
            <a:off x="5572354" y="1695298"/>
            <a:ext cx="5848502" cy="3933749"/>
          </a:xfrm>
          <a:prstGeom prst="rect">
            <a:avLst/>
          </a:prstGeom>
        </p:spPr>
      </p:pic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rcRect l="-13" r="-13" t="0" b="0"/>
          <a:stretch/>
        </p:blipFill>
        <p:spPr>
          <a:xfrm>
            <a:off x="5572354" y="5772607"/>
            <a:ext cx="5848502" cy="666598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5962802" y="5915254"/>
            <a:ext cx="539130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 분리 가능: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빨간색 점(0,0)과 나머지 세 점들(0,1, 1,0, 1,1)을 </a:t>
            </a:r>
            <a:pPr algn="l" indent="0" marL="0">
              <a:buNone/>
            </a:pPr>
            <a:r>
              <a:rPr lang="en-US" sz="1000" b="1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 하나의 직선</a:t>
            </a:r>
            <a:pPr algn="l"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완벽하게 분리할 수 있습니다. </a:t>
            </a:r>
            <a:endParaRPr lang="en-US" sz="1000" dirty="0"/>
          </a:p>
        </p:txBody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5753405" y="5950915"/>
            <a:ext cx="133502" cy="133502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11398910" y="6476695"/>
            <a:ext cx="495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9 / 15</a:t>
            </a:r>
            <a:endParaRPr lang="en-US" sz="900" dirty="0"/>
          </a:p>
        </p:txBody>
      </p:sp>
      <p:pic>
        <p:nvPicPr>
          <p:cNvPr id="5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72354" y="1695298"/>
            <a:ext cx="1676095" cy="362102"/>
          </a:xfrm>
          <a:prstGeom prst="rect">
            <a:avLst/>
          </a:prstGeom>
        </p:spPr>
      </p:pic>
      <p:sp>
        <p:nvSpPr>
          <p:cNvPr id="52" name="Text 38"/>
          <p:cNvSpPr/>
          <p:nvPr/>
        </p:nvSpPr>
        <p:spPr>
          <a:xfrm>
            <a:off x="5968289" y="1695298"/>
            <a:ext cx="1281074" cy="3621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75569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결정 경계 시각화</a:t>
            </a:r>
            <a:endParaRPr lang="en-US" sz="900" dirty="0"/>
          </a:p>
        </p:txBody>
      </p:sp>
      <p:pic>
        <p:nvPicPr>
          <p:cNvPr id="53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5734202" y="1815084"/>
            <a:ext cx="123444" cy="1234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163117"/>
            <a:ext cx="11048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511515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Linear Classifier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09905"/>
            <a:ext cx="7286854" cy="4005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결정 경계 </a:t>
            </a:r>
            <a:pPr algn="l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(Linear Decision Boundary)</a:t>
            </a:r>
            <a:endParaRPr lang="en-US" sz="2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03106" y="647395"/>
            <a:ext cx="2324405" cy="36210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674352" y="647395"/>
            <a:ext cx="1953158" cy="36210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4B5563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퍼셉트론의 핵심 능력: 직선 분리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464954" y="769010"/>
            <a:ext cx="133502" cy="133502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4" b="-4"/>
          <a:stretch/>
        </p:blipFill>
        <p:spPr>
          <a:xfrm>
            <a:off x="571500" y="1277417"/>
            <a:ext cx="5333695" cy="4981651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771754" y="1858975"/>
            <a:ext cx="4934102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2" name="Text 7"/>
          <p:cNvSpPr txBox="1"/>
          <p:nvPr/>
        </p:nvSpPr>
        <p:spPr>
          <a:xfrm>
            <a:off x="1427378" y="1477670"/>
            <a:ext cx="981151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AND Gate</a:t>
            </a:r>
            <a:endParaRPr lang="en-US" sz="15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754" y="1506017"/>
            <a:ext cx="543154" cy="2286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71754" y="1506017"/>
            <a:ext cx="5431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1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4401922" y="1544422"/>
            <a:ext cx="1381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w₁x₁ + w₂x₂ + b = 0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3" r="-3" t="0" b="0"/>
          <a:stretch/>
        </p:blipFill>
        <p:spPr>
          <a:xfrm>
            <a:off x="771754" y="1963217"/>
            <a:ext cx="4934102" cy="4095598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" b="-4"/>
          <a:stretch/>
        </p:blipFill>
        <p:spPr>
          <a:xfrm>
            <a:off x="6286500" y="1277417"/>
            <a:ext cx="5333695" cy="4981651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6486754" y="1858975"/>
            <a:ext cx="4934102" cy="9144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9" name="Text 11"/>
          <p:cNvSpPr txBox="1"/>
          <p:nvPr/>
        </p:nvSpPr>
        <p:spPr>
          <a:xfrm>
            <a:off x="7142378" y="1477670"/>
            <a:ext cx="857707" cy="2862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OR Gate</a:t>
            </a:r>
            <a:endParaRPr lang="en-US" sz="15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86754" y="1506017"/>
            <a:ext cx="543154" cy="228600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486754" y="1506017"/>
            <a:ext cx="543154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CASE 2</a:t>
            </a:r>
            <a:endParaRPr lang="en-US" sz="900" dirty="0"/>
          </a:p>
        </p:txBody>
      </p:sp>
      <p:sp>
        <p:nvSpPr>
          <p:cNvPr id="22" name="Text 13"/>
          <p:cNvSpPr txBox="1"/>
          <p:nvPr/>
        </p:nvSpPr>
        <p:spPr>
          <a:xfrm>
            <a:off x="10116922" y="1544422"/>
            <a:ext cx="138165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w₁x₁ + w₂x₂ + b = 0</a:t>
            </a:r>
            <a:endParaRPr lang="en-US" sz="900" dirty="0"/>
          </a:p>
        </p:txBody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rcRect l="-3" r="-3" t="0" b="0"/>
          <a:stretch/>
        </p:blipFill>
        <p:spPr>
          <a:xfrm>
            <a:off x="6486754" y="1963217"/>
            <a:ext cx="4934102" cy="4095598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11330330" y="6476695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10 / 15</a:t>
            </a:r>
            <a:endParaRPr lang="en-US" sz="9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2388413" y="6175858"/>
            <a:ext cx="7315200" cy="571500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3500323" y="6328562"/>
            <a:ext cx="581924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퍼셉트론은 데이터를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직선(초평면)</a:t>
            </a:r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으로만 나눌 수 있습니다. </a:t>
            </a:r>
            <a:endParaRPr lang="en-US" sz="13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3224174" y="6420917"/>
            <a:ext cx="114300" cy="133502"/>
          </a:xfrm>
          <a:prstGeom prst="rect">
            <a:avLst/>
          </a:prstGeom>
        </p:spPr>
      </p:pic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8754466" y="6420917"/>
            <a:ext cx="114300" cy="13350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76402" y="896112"/>
            <a:ext cx="1123980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76402" y="286207"/>
            <a:ext cx="3924605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45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Limitations of Perceptron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476402" y="476402"/>
            <a:ext cx="46204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퍼셉트론의 한계 — 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XOR</a:t>
            </a:r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등장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9877349" y="314554"/>
            <a:ext cx="1848002" cy="476402"/>
          </a:xfrm>
          <a:prstGeom prst="roundRect">
            <a:avLst>
              <a:gd name="adj" fmla="val 30710"/>
            </a:avLst>
          </a:prstGeom>
          <a:solidFill>
            <a:srgbClr val="1F2937"/>
          </a:solidFill>
          <a:ln w="12700">
            <a:solidFill>
              <a:srgbClr val="37415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000793" y="466344"/>
            <a:ext cx="171907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48595" y="381305"/>
            <a:ext cx="1429207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Status</a:t>
            </a:r>
            <a:endParaRPr lang="en-US" sz="900" dirty="0"/>
          </a:p>
        </p:txBody>
      </p:sp>
      <p:sp>
        <p:nvSpPr>
          <p:cNvPr id="10" name="Text 7"/>
          <p:cNvSpPr txBox="1"/>
          <p:nvPr/>
        </p:nvSpPr>
        <p:spPr>
          <a:xfrm>
            <a:off x="10248595" y="533095"/>
            <a:ext cx="161025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Linearly Inseparable</a:t>
            </a:r>
            <a:endParaRPr lang="en-US" sz="10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-7" r="-7" t="0" b="0"/>
          <a:stretch/>
        </p:blipFill>
        <p:spPr>
          <a:xfrm>
            <a:off x="476402" y="1076249"/>
            <a:ext cx="6572707" cy="5495544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" b="-1"/>
          <a:stretch/>
        </p:blipFill>
        <p:spPr>
          <a:xfrm>
            <a:off x="485546" y="1086307"/>
            <a:ext cx="6553505" cy="5477256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6164885" y="6077102"/>
            <a:ext cx="73426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FFFFFF">
                    <a:alpha val="1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FAIL</a:t>
            </a:r>
            <a:endParaRPr lang="en-US" sz="2200" dirty="0"/>
          </a:p>
        </p:txBody>
      </p:sp>
      <p:sp>
        <p:nvSpPr>
          <p:cNvPr id="14" name="Shape 9"/>
          <p:cNvSpPr/>
          <p:nvPr/>
        </p:nvSpPr>
        <p:spPr>
          <a:xfrm>
            <a:off x="7334402" y="1076249"/>
            <a:ext cx="4381805" cy="2210105"/>
          </a:xfrm>
          <a:prstGeom prst="roundRect">
            <a:avLst>
              <a:gd name="adj" fmla="val 2140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7696505" y="1228954"/>
            <a:ext cx="114391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XOR Truth Table</a:t>
            </a:r>
            <a:endParaRPr lang="en-US" sz="10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87107" y="1264615"/>
            <a:ext cx="133502" cy="133502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0740542" y="1248156"/>
            <a:ext cx="9052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Exclusive OR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7487107" y="1742846"/>
            <a:ext cx="838505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19" name="Text 13"/>
          <p:cNvSpPr txBox="1"/>
          <p:nvPr/>
        </p:nvSpPr>
        <p:spPr>
          <a:xfrm>
            <a:off x="7457846" y="1495044"/>
            <a:ext cx="8961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x₁</a:t>
            </a:r>
            <a:endParaRPr lang="en-US" sz="900" dirty="0"/>
          </a:p>
        </p:txBody>
      </p:sp>
      <p:sp>
        <p:nvSpPr>
          <p:cNvPr id="20" name="Shape 14"/>
          <p:cNvSpPr/>
          <p:nvPr/>
        </p:nvSpPr>
        <p:spPr>
          <a:xfrm>
            <a:off x="8321040" y="1742846"/>
            <a:ext cx="838505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21" name="Text 15"/>
          <p:cNvSpPr txBox="1"/>
          <p:nvPr/>
        </p:nvSpPr>
        <p:spPr>
          <a:xfrm>
            <a:off x="8292694" y="1495044"/>
            <a:ext cx="896112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x₂</a:t>
            </a:r>
            <a:endParaRPr lang="en-US" sz="900" dirty="0"/>
          </a:p>
        </p:txBody>
      </p:sp>
      <p:sp>
        <p:nvSpPr>
          <p:cNvPr id="22" name="Shape 16"/>
          <p:cNvSpPr/>
          <p:nvPr/>
        </p:nvSpPr>
        <p:spPr>
          <a:xfrm>
            <a:off x="9154973" y="1742846"/>
            <a:ext cx="466344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9126626" y="1495044"/>
            <a:ext cx="523951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9620402" y="1742846"/>
            <a:ext cx="1943100" cy="9144"/>
          </a:xfrm>
          <a:prstGeom prst="rect">
            <a:avLst/>
          </a:prstGeom>
          <a:solidFill>
            <a:srgbClr val="475569"/>
          </a:solidFill>
          <a:ln w="12700">
            <a:solidFill>
              <a:srgbClr val="475569">
                <a:alpha val="0"/>
              </a:srgbClr>
            </a:solidFill>
            <a:prstDash val="solid"/>
          </a:ln>
        </p:spPr>
      </p:sp>
      <p:sp>
        <p:nvSpPr>
          <p:cNvPr id="25" name="Text 19"/>
          <p:cNvSpPr txBox="1"/>
          <p:nvPr/>
        </p:nvSpPr>
        <p:spPr>
          <a:xfrm>
            <a:off x="9582912" y="1495044"/>
            <a:ext cx="2019910" cy="19111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7457846" y="1750162"/>
            <a:ext cx="8961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7" name="Text 21"/>
          <p:cNvSpPr txBox="1"/>
          <p:nvPr/>
        </p:nvSpPr>
        <p:spPr>
          <a:xfrm>
            <a:off x="8292694" y="1750162"/>
            <a:ext cx="8961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9126626" y="1750162"/>
            <a:ext cx="52395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534802" y="1864462"/>
            <a:ext cx="114300" cy="11430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7457846" y="2097634"/>
            <a:ext cx="8961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1" name="Text 24"/>
          <p:cNvSpPr txBox="1"/>
          <p:nvPr/>
        </p:nvSpPr>
        <p:spPr>
          <a:xfrm>
            <a:off x="8292694" y="2097634"/>
            <a:ext cx="8961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9126626" y="2097634"/>
            <a:ext cx="523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rcRect l="-2571" r="-2571" t="0" b="0"/>
          <a:stretch/>
        </p:blipFill>
        <p:spPr>
          <a:xfrm>
            <a:off x="10539374" y="2207362"/>
            <a:ext cx="105156" cy="11430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457846" y="2440534"/>
            <a:ext cx="8961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7"/>
          <p:cNvSpPr txBox="1"/>
          <p:nvPr/>
        </p:nvSpPr>
        <p:spPr>
          <a:xfrm>
            <a:off x="8292694" y="2440534"/>
            <a:ext cx="8961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sp>
        <p:nvSpPr>
          <p:cNvPr id="36" name="Text 28"/>
          <p:cNvSpPr txBox="1"/>
          <p:nvPr/>
        </p:nvSpPr>
        <p:spPr>
          <a:xfrm>
            <a:off x="9126626" y="2440534"/>
            <a:ext cx="523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rcRect l="-2571" r="-2571" t="0" b="0"/>
          <a:stretch/>
        </p:blipFill>
        <p:spPr>
          <a:xfrm>
            <a:off x="10539374" y="2550262"/>
            <a:ext cx="105156" cy="11430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457846" y="2783434"/>
            <a:ext cx="8961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39" name="Text 30"/>
          <p:cNvSpPr txBox="1"/>
          <p:nvPr/>
        </p:nvSpPr>
        <p:spPr>
          <a:xfrm>
            <a:off x="8292694" y="2783434"/>
            <a:ext cx="896112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9126626" y="2783434"/>
            <a:ext cx="52395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12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534802" y="2893162"/>
            <a:ext cx="114300" cy="114300"/>
          </a:xfrm>
          <a:prstGeom prst="rect">
            <a:avLst/>
          </a:prstGeom>
        </p:spPr>
      </p:pic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rcRect l="-6" r="-6" t="0" b="0"/>
          <a:stretch/>
        </p:blipFill>
        <p:spPr>
          <a:xfrm>
            <a:off x="7334402" y="3430829"/>
            <a:ext cx="4381805" cy="1292962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7714793" y="3583534"/>
            <a:ext cx="40389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기하학적 딜레마 </a:t>
            </a:r>
            <a:endParaRPr lang="en-US" sz="1200" dirty="0"/>
          </a:p>
        </p:txBody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-100" b="-100"/>
          <a:stretch/>
        </p:blipFill>
        <p:spPr>
          <a:xfrm>
            <a:off x="7524598" y="3631082"/>
            <a:ext cx="114300" cy="152705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7524598" y="3888029"/>
            <a:ext cx="473567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같은 클래스(색상)의 점들이 </a:t>
            </a:r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대각선 방향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으로 서로 마주 보고 있습니다. 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7524598" y="4180637"/>
            <a:ext cx="403890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47" name="Text 35"/>
          <p:cNvSpPr txBox="1"/>
          <p:nvPr/>
        </p:nvSpPr>
        <p:spPr>
          <a:xfrm>
            <a:off x="7524598" y="4265676"/>
            <a:ext cx="4114800" cy="306324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마치 체커보드(Checkerboard) 패턴처럼 엇갈려 있어, 직선 하나를 어디에 그어도 반드시 반대 클래스가 침범하게 됩니다.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7334402" y="5943600"/>
            <a:ext cx="4381805" cy="629107"/>
          </a:xfrm>
          <a:prstGeom prst="roundRect">
            <a:avLst>
              <a:gd name="adj" fmla="val 26427"/>
            </a:avLst>
          </a:prstGeom>
          <a:solidFill>
            <a:srgbClr val="F43F5E">
              <a:alpha val="10000"/>
            </a:srgbClr>
          </a:solidFill>
          <a:ln w="12700">
            <a:solidFill>
              <a:srgbClr val="F43F5E">
                <a:alpha val="30000"/>
              </a:srgbClr>
            </a:solidFill>
            <a:prstDash val="solid"/>
          </a:ln>
        </p:spPr>
      </p:sp>
      <p:pic>
        <p:nvPicPr>
          <p:cNvPr id="49" name="Image 10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7572146" y="6174943"/>
            <a:ext cx="171907" cy="171907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7934249" y="6077102"/>
            <a:ext cx="36201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퍼셉트론으로 해결 불가</a:t>
            </a:r>
            <a:endParaRPr lang="en-US" sz="1000" dirty="0"/>
          </a:p>
        </p:txBody>
      </p:sp>
      <p:sp>
        <p:nvSpPr>
          <p:cNvPr id="51" name="Text 38"/>
          <p:cNvSpPr txBox="1"/>
          <p:nvPr/>
        </p:nvSpPr>
        <p:spPr>
          <a:xfrm>
            <a:off x="7934249" y="6286500"/>
            <a:ext cx="4141318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 하나(선형 결정 경계)로는 절대 100% 정확도로 분류할 수 없습니다.</a:t>
            </a:r>
            <a:endParaRPr lang="en-US" sz="900" dirty="0"/>
          </a:p>
        </p:txBody>
      </p:sp>
      <p:sp>
        <p:nvSpPr>
          <p:cNvPr id="52" name="Text 39"/>
          <p:cNvSpPr txBox="1"/>
          <p:nvPr/>
        </p:nvSpPr>
        <p:spPr>
          <a:xfrm>
            <a:off x="11330330" y="6515100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11 / 15</a:t>
            </a:r>
            <a:endParaRPr lang="en-US" sz="900" dirty="0"/>
          </a:p>
        </p:txBody>
      </p:sp>
      <p:sp>
        <p:nvSpPr>
          <p:cNvPr id="53" name="Shape 40"/>
          <p:cNvSpPr/>
          <p:nvPr/>
        </p:nvSpPr>
        <p:spPr>
          <a:xfrm>
            <a:off x="629107" y="1228954"/>
            <a:ext cx="1943100" cy="286207"/>
          </a:xfrm>
          <a:prstGeom prst="roundRect">
            <a:avLst>
              <a:gd name="adj" fmla="val 63898"/>
            </a:avLst>
          </a:prstGeom>
          <a:solidFill>
            <a:srgbClr val="0F172A">
              <a:alpha val="80000"/>
            </a:srgbClr>
          </a:solidFill>
          <a:ln w="12700">
            <a:solidFill>
              <a:srgbClr val="475569"/>
            </a:solidFill>
            <a:prstDash val="solid"/>
          </a:ln>
        </p:spPr>
      </p:sp>
      <p:sp>
        <p:nvSpPr>
          <p:cNvPr id="54" name="Text 41"/>
          <p:cNvSpPr txBox="1"/>
          <p:nvPr/>
        </p:nvSpPr>
        <p:spPr>
          <a:xfrm>
            <a:off x="933602" y="1295705"/>
            <a:ext cx="15910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1D5DB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Feature Space (x₁, x₂)</a:t>
            </a:r>
            <a:endParaRPr lang="en-US" sz="900" dirty="0"/>
          </a:p>
        </p:txBody>
      </p:sp>
      <p:pic>
        <p:nvPicPr>
          <p:cNvPr id="55" name="Image 11" descr="preencoded.png">    </p:cNvPr>
          <p:cNvPicPr>
            <a:picLocks noChangeAspect="1"/>
          </p:cNvPicPr>
          <p:nvPr/>
        </p:nvPicPr>
        <p:blipFill>
          <a:blip r:embed="rId12"/>
          <a:srcRect l="-2571" r="-2571" t="0" b="0"/>
          <a:stretch/>
        </p:blipFill>
        <p:spPr>
          <a:xfrm>
            <a:off x="752551" y="1300277"/>
            <a:ext cx="105156" cy="114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829800" y="381305"/>
            <a:ext cx="180045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>
                    <a:alpha val="50000"/>
                  </a:srgbClr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From Non-linear to Linear</a:t>
            </a:r>
            <a:endParaRPr lang="en-US" sz="900" dirty="0"/>
          </a:p>
        </p:txBody>
      </p:sp>
      <p:sp>
        <p:nvSpPr>
          <p:cNvPr id="5" name="Text 3"/>
          <p:cNvSpPr txBox="1"/>
          <p:nvPr/>
        </p:nvSpPr>
        <p:spPr>
          <a:xfrm>
            <a:off x="11330330" y="6476695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12 / 15</a:t>
            </a:r>
            <a:endParaRPr lang="en-US" sz="9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-3" r="-3" t="0" b="0"/>
          <a:stretch/>
        </p:blipFill>
        <p:spPr>
          <a:xfrm>
            <a:off x="571500" y="1266444"/>
            <a:ext cx="11048695" cy="361919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-174" r="-174" t="0" b="0"/>
          <a:stretch/>
        </p:blipFill>
        <p:spPr>
          <a:xfrm>
            <a:off x="580644" y="1276502"/>
            <a:ext cx="11030407" cy="3600907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33349" y="1429207"/>
            <a:ext cx="30678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Visualization: Solving XOR by Folding Space</a:t>
            </a:r>
            <a:endParaRPr lang="en-US" sz="900" dirty="0"/>
          </a:p>
        </p:txBody>
      </p:sp>
      <p:sp>
        <p:nvSpPr>
          <p:cNvPr id="9" name="Shape 5"/>
          <p:cNvSpPr/>
          <p:nvPr/>
        </p:nvSpPr>
        <p:spPr>
          <a:xfrm>
            <a:off x="571500" y="5115154"/>
            <a:ext cx="2619756" cy="1647749"/>
          </a:xfrm>
          <a:prstGeom prst="roundRect">
            <a:avLst>
              <a:gd name="adj" fmla="val 513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9130" y="5315407"/>
            <a:ext cx="304495" cy="3044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729130" y="53154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94A3B8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7"/>
          <p:cNvSpPr txBox="1"/>
          <p:nvPr/>
        </p:nvSpPr>
        <p:spPr>
          <a:xfrm>
            <a:off x="1123798" y="5734202"/>
            <a:ext cx="15197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평면의 한계 (XOR)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854964" y="6050585"/>
            <a:ext cx="2057400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XOR 데이터가 평면에 흩어져 있습니다.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서로 마주보는 같은 색 점들 때문에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 분리가 불가능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합니다. 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3381451" y="5115154"/>
            <a:ext cx="2619756" cy="1647749"/>
          </a:xfrm>
          <a:prstGeom prst="roundRect">
            <a:avLst>
              <a:gd name="adj" fmla="val 513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9082" y="5315407"/>
            <a:ext cx="304495" cy="3044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539082" y="53154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60A5F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1"/>
          <p:cNvSpPr txBox="1"/>
          <p:nvPr/>
        </p:nvSpPr>
        <p:spPr>
          <a:xfrm>
            <a:off x="4080967" y="5734202"/>
            <a:ext cx="122986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공간 접기 시작</a:t>
            </a:r>
            <a:endParaRPr lang="en-US" sz="1200" dirty="0"/>
          </a:p>
        </p:txBody>
      </p:sp>
      <p:sp>
        <p:nvSpPr>
          <p:cNvPr id="18" name="Text 12"/>
          <p:cNvSpPr txBox="1"/>
          <p:nvPr/>
        </p:nvSpPr>
        <p:spPr>
          <a:xfrm>
            <a:off x="3687775" y="6050585"/>
            <a:ext cx="200985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은닉층이 평면을 대각선으로 접습니다.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중앙의 </a:t>
            </a:r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빨간 점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들은 아래로,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양 끝의 </a:t>
            </a:r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파란 점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들은 위로 이동합니다. </a:t>
            </a:r>
            <a:endParaRPr lang="en-US" sz="900" dirty="0"/>
          </a:p>
        </p:txBody>
      </p:sp>
      <p:sp>
        <p:nvSpPr>
          <p:cNvPr id="19" name="Shape 13"/>
          <p:cNvSpPr/>
          <p:nvPr/>
        </p:nvSpPr>
        <p:spPr>
          <a:xfrm>
            <a:off x="6191402" y="5115154"/>
            <a:ext cx="2619756" cy="1647749"/>
          </a:xfrm>
          <a:prstGeom prst="roundRect">
            <a:avLst>
              <a:gd name="adj" fmla="val 513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8118" y="5315407"/>
            <a:ext cx="304495" cy="304495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348118" y="53154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A855F7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55F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6890918" y="5734202"/>
            <a:ext cx="122986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차원 변환 완료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6395314" y="6050585"/>
            <a:ext cx="222016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공간이 완전히 접혀 'V'자 형태가 됩니다.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파란 점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들은 높은 곳(Top)에,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8717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빨간 점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들은 낮은 곳(Bottom)에 모입니다. </a:t>
            </a:r>
            <a:endParaRPr lang="en-US" sz="900" dirty="0"/>
          </a:p>
        </p:txBody>
      </p:sp>
      <p:sp>
        <p:nvSpPr>
          <p:cNvPr id="24" name="Shape 17"/>
          <p:cNvSpPr/>
          <p:nvPr/>
        </p:nvSpPr>
        <p:spPr>
          <a:xfrm>
            <a:off x="9001354" y="5115154"/>
            <a:ext cx="2619756" cy="1647749"/>
          </a:xfrm>
          <a:prstGeom prst="roundRect">
            <a:avLst>
              <a:gd name="adj" fmla="val 5132"/>
            </a:avLst>
          </a:prstGeom>
          <a:solidFill>
            <a:srgbClr val="1E293B">
              <a:alpha val="4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pic>
        <p:nvPicPr>
          <p:cNvPr id="2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8070" y="5315407"/>
            <a:ext cx="304495" cy="304495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158070" y="5315407"/>
            <a:ext cx="305410" cy="305410"/>
          </a:xfrm>
          <a:prstGeom prst="rect">
            <a:avLst/>
          </a:prstGeom>
          <a:solidFill>
            <a:srgbClr val="FFFFFF">
              <a:alpha val="0"/>
            </a:srgbClr>
          </a:solidFill>
          <a:ln w="25400">
            <a:solidFill>
              <a:srgbClr val="10B98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9510674" y="5734202"/>
            <a:ext cx="1608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분리 (자르기)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9509760" y="6050585"/>
            <a:ext cx="1604772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이제 </a:t>
            </a:r>
            <a:pPr algn="ctr" indent="0" marL="0">
              <a:buNone/>
            </a:pPr>
            <a:r>
              <a:rPr lang="en-US" sz="900" b="1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가위(평면)</a:t>
            </a:r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하나로 자르면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위쪽 그룹과 아래쪽 그룹을</a:t>
            </a:r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완벽하게 나눌 수 있습니다. 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829" b="-829"/>
          <a:stretch/>
        </p:blipFill>
        <p:spPr>
          <a:xfrm>
            <a:off x="3276295" y="5881421"/>
            <a:ext cx="75895" cy="123444"/>
          </a:xfrm>
          <a:prstGeom prst="rect">
            <a:avLst/>
          </a:prstGeom>
        </p:spPr>
      </p:pic>
      <p:pic>
        <p:nvPicPr>
          <p:cNvPr id="30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29" b="-829"/>
          <a:stretch/>
        </p:blipFill>
        <p:spPr>
          <a:xfrm>
            <a:off x="6086246" y="5881421"/>
            <a:ext cx="75895" cy="123444"/>
          </a:xfrm>
          <a:prstGeom prst="rect">
            <a:avLst/>
          </a:prstGeom>
        </p:spPr>
      </p:pic>
      <p:pic>
        <p:nvPicPr>
          <p:cNvPr id="31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-829" b="-829"/>
          <a:stretch/>
        </p:blipFill>
        <p:spPr>
          <a:xfrm>
            <a:off x="8896198" y="5881421"/>
            <a:ext cx="75895" cy="123444"/>
          </a:xfrm>
          <a:prstGeom prst="rect">
            <a:avLst/>
          </a:prstGeom>
        </p:spPr>
      </p:pic>
      <p:sp>
        <p:nvSpPr>
          <p:cNvPr id="32" name="Shape 21"/>
          <p:cNvSpPr/>
          <p:nvPr/>
        </p:nvSpPr>
        <p:spPr>
          <a:xfrm>
            <a:off x="571500" y="1105510"/>
            <a:ext cx="11048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33" name="Text 22"/>
          <p:cNvSpPr txBox="1"/>
          <p:nvPr/>
        </p:nvSpPr>
        <p:spPr>
          <a:xfrm>
            <a:off x="571500" y="381305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Metaphorical Understanding</a:t>
            </a:r>
            <a:endParaRPr lang="en-US" sz="1000" dirty="0"/>
          </a:p>
        </p:txBody>
      </p:sp>
      <p:sp>
        <p:nvSpPr>
          <p:cNvPr id="34" name="Text 23"/>
          <p:cNvSpPr txBox="1"/>
          <p:nvPr/>
        </p:nvSpPr>
        <p:spPr>
          <a:xfrm>
            <a:off x="571500" y="609905"/>
            <a:ext cx="113541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다층 구조의 아이디어 — </a:t>
            </a:r>
            <a:pPr algn="l" indent="0" marL="0">
              <a:buNone/>
            </a:pPr>
            <a:r>
              <a:rPr lang="en-US" sz="27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종이 접기</a:t>
            </a:r>
            <a:endParaRPr lang="en-US" sz="2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71500" y="1486814"/>
            <a:ext cx="11048695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71500" y="381305"/>
            <a:ext cx="1116391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Neural Network Architecture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609905"/>
            <a:ext cx="1135410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다층 퍼셉트론 (MLP)의 탄생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1067105"/>
            <a:ext cx="111639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층의 한계를 넘어: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은닉층(Hidden Layer)</a:t>
            </a:r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도입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0527" y="1620317"/>
            <a:ext cx="4858207" cy="1543507"/>
          </a:xfrm>
          <a:prstGeom prst="roundRect">
            <a:avLst>
              <a:gd name="adj" fmla="val 5851"/>
            </a:avLst>
          </a:prstGeom>
          <a:solidFill>
            <a:srgbClr val="1E293B">
              <a:alpha val="50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560527" y="1620317"/>
            <a:ext cx="38405" cy="1543507"/>
          </a:xfrm>
          <a:prstGeom prst="roundRect">
            <a:avLst>
              <a:gd name="adj" fmla="val 23515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21969" y="1848917"/>
            <a:ext cx="42583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4B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은닉층의 마법 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826618" y="2191817"/>
            <a:ext cx="44394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입력층과 출력층 사이에 </a:t>
            </a:r>
            <a:pPr algn="l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은닉층</a:t>
            </a:r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추가합니다. 이 층은 입력 데이터를 새로운 공간으로 변환(매핑)하여, 원래는 얽혀 있던 데이터들을 </a:t>
            </a:r>
            <a:pPr algn="l" indent="0" marL="0">
              <a:buNone/>
            </a:pPr>
            <a:r>
              <a:rPr lang="en-US" sz="1200" b="1" dirty="0">
                <a:solidFill>
                  <a:srgbClr val="60A5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분리가 가능한 형태</a:t>
            </a:r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로 풀어줍니다. 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60527" y="3353105"/>
            <a:ext cx="4858207" cy="1714500"/>
          </a:xfrm>
          <a:prstGeom prst="roundRect">
            <a:avLst>
              <a:gd name="adj" fmla="val 4741"/>
            </a:avLst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60527" y="3353105"/>
            <a:ext cx="38405" cy="1714500"/>
          </a:xfrm>
          <a:prstGeom prst="roundRect">
            <a:avLst>
              <a:gd name="adj" fmla="val 211639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21969" y="3581705"/>
            <a:ext cx="41815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3C5F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직선의 조합 (XOR 해결) 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26618" y="3924605"/>
            <a:ext cx="443941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단일 퍼셉트론은 직선 하나만 그을 수 있지만, MLP는 여러 퍼셉트론을 결합하여 </a:t>
            </a:r>
            <a:pPr algn="l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 두 개 이상</a:t>
            </a:r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동시에 사용합니다. </a:t>
            </a:r>
            <a:pPr algn="l" indent="0" marL="0">
              <a:buNone/>
            </a:pPr>
            <a:endParaRPr lang="en-US" sz="12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6618" y="4496105"/>
            <a:ext cx="4362602" cy="3429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26618" y="4496105"/>
            <a:ext cx="4362602" cy="3429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NAND + OR + AND = XOR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60527" y="5258714"/>
            <a:ext cx="4858207" cy="1543507"/>
          </a:xfrm>
          <a:prstGeom prst="roundRect">
            <a:avLst>
              <a:gd name="adj" fmla="val 5851"/>
            </a:avLst>
          </a:prstGeom>
          <a:solidFill>
            <a:srgbClr val="1E293B">
              <a:alpha val="50000"/>
            </a:srgbClr>
          </a:solidFill>
          <a:ln/>
        </p:spPr>
      </p:sp>
      <p:sp>
        <p:nvSpPr>
          <p:cNvPr id="19" name="Shape 16"/>
          <p:cNvSpPr/>
          <p:nvPr/>
        </p:nvSpPr>
        <p:spPr>
          <a:xfrm>
            <a:off x="560527" y="5258714"/>
            <a:ext cx="38405" cy="1543507"/>
          </a:xfrm>
          <a:prstGeom prst="roundRect">
            <a:avLst>
              <a:gd name="adj" fmla="val 235155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93622" y="5487314"/>
            <a:ext cx="428670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9A8D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딥러닝의 시초 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6618" y="5830214"/>
            <a:ext cx="4439412" cy="743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 은닉층이 깊어지면(Deep) 바로 </a:t>
            </a:r>
            <a:pPr algn="l" indent="0" marL="0">
              <a:buNone/>
            </a:pPr>
            <a:r>
              <a:rPr lang="en-US" sz="12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신경망(Deep Neural Network)</a:t>
            </a:r>
            <a:pPr algn="l" indent="0" marL="0">
              <a:buNone/>
            </a:pPr>
            <a:r>
              <a:rPr lang="en-US" sz="12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됩니다. 이제 모델은 단순한 분류를 넘어 복잡한 특징을 스스로 학습할 수 있게 되었습니다. 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-1282" r="-1282" t="0" b="0"/>
          <a:stretch/>
        </p:blipFill>
        <p:spPr>
          <a:xfrm>
            <a:off x="826618" y="1890979"/>
            <a:ext cx="219456" cy="190195"/>
          </a:xfrm>
          <a:prstGeom prst="rect">
            <a:avLst/>
          </a:prstGeom>
        </p:spPr>
      </p:pic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rcRect l="-1282" r="-1282" t="0" b="0"/>
          <a:stretch/>
        </p:blipFill>
        <p:spPr>
          <a:xfrm>
            <a:off x="826618" y="3624682"/>
            <a:ext cx="219456" cy="190195"/>
          </a:xfrm>
          <a:prstGeom prst="rect">
            <a:avLst/>
          </a:prstGeom>
        </p:spPr>
      </p:pic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26618" y="5530291"/>
            <a:ext cx="190195" cy="19019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5789981" y="2095805"/>
            <a:ext cx="5820156" cy="3810305"/>
          </a:xfrm>
          <a:prstGeom prst="roundRect">
            <a:avLst>
              <a:gd name="adj" fmla="val 1200"/>
            </a:avLst>
          </a:prstGeom>
          <a:noFill/>
          <a:ln w="12700">
            <a:solidFill>
              <a:srgbClr val="334155"/>
            </a:solidFill>
            <a:prstDash val="solid"/>
          </a:ln>
          <a:effectLst>
            <a:outerShdw sx="100000" sy="100000" kx="0" ky="0" algn="bl" rotWithShape="0" blurRad="381000" dist="12700" dir="16200000">
              <a:srgbClr val="3b82f6">
                <a:alpha val="20000"/>
              </a:srgbClr>
            </a:outerShdw>
          </a:effectLst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rcRect l="7298" r="7298" t="0" b="0"/>
          <a:stretch/>
        </p:blipFill>
        <p:spPr>
          <a:xfrm>
            <a:off x="5800039" y="2105863"/>
            <a:ext cx="5800954" cy="3791102"/>
          </a:xfrm>
          <a:prstGeom prst="rect">
            <a:avLst/>
          </a:prstGeom>
        </p:spPr>
      </p:pic>
      <p:sp>
        <p:nvSpPr>
          <p:cNvPr id="27" name="Shape 20"/>
          <p:cNvSpPr/>
          <p:nvPr/>
        </p:nvSpPr>
        <p:spPr>
          <a:xfrm>
            <a:off x="7480706" y="6173114"/>
            <a:ext cx="114300" cy="11430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7670902" y="6134710"/>
            <a:ext cx="76352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노드(Node)</a:t>
            </a:r>
            <a:endParaRPr lang="en-US" sz="10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450" b="-450"/>
          <a:stretch/>
        </p:blipFill>
        <p:spPr>
          <a:xfrm>
            <a:off x="8645652" y="6210605"/>
            <a:ext cx="304495" cy="38405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9026042" y="6134710"/>
            <a:ext cx="106070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가중치(Weight)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11330330" y="6476695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66598" y="1581912"/>
            <a:ext cx="10858500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66598" y="476402"/>
            <a:ext cx="10972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From Perceptron to Deep Learning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666598" y="705002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신경망(DNN)으로의 확장</a:t>
            </a:r>
            <a:endParaRPr lang="en-US" sz="2700" dirty="0"/>
          </a:p>
        </p:txBody>
      </p:sp>
      <p:sp>
        <p:nvSpPr>
          <p:cNvPr id="8" name="Text 5"/>
          <p:cNvSpPr txBox="1"/>
          <p:nvPr/>
        </p:nvSpPr>
        <p:spPr>
          <a:xfrm>
            <a:off x="666598" y="1162202"/>
            <a:ext cx="11049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층이 깊어질수록 모델이 이해하는 세계의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복잡도</a:t>
            </a:r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</a:t>
            </a:r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추상성</a:t>
            </a:r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증가합니다.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-400" b="-400"/>
          <a:stretch/>
        </p:blipFill>
        <p:spPr>
          <a:xfrm>
            <a:off x="1741018" y="3316529"/>
            <a:ext cx="8686800" cy="3840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52000"/>
          </a:blip>
          <a:srcRect l="0" r="0" t="-30" b="-30"/>
          <a:stretch/>
        </p:blipFill>
        <p:spPr>
          <a:xfrm>
            <a:off x="4049878" y="3563417"/>
            <a:ext cx="190195" cy="30449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>
            <a:alphaModFix amt="52000"/>
          </a:blip>
          <a:srcRect l="0" r="0" t="-30" b="-30"/>
          <a:stretch/>
        </p:blipFill>
        <p:spPr>
          <a:xfrm>
            <a:off x="7958938" y="3563417"/>
            <a:ext cx="190195" cy="304495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55625" y="1887322"/>
            <a:ext cx="3047695" cy="3619195"/>
          </a:xfrm>
          <a:prstGeom prst="roundRect">
            <a:avLst>
              <a:gd name="adj" fmla="val 18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Shape 7"/>
          <p:cNvSpPr/>
          <p:nvPr/>
        </p:nvSpPr>
        <p:spPr>
          <a:xfrm>
            <a:off x="655625" y="1887322"/>
            <a:ext cx="3047695" cy="57607"/>
          </a:xfrm>
          <a:prstGeom prst="roundRect">
            <a:avLst>
              <a:gd name="adj" fmla="val 99207"/>
            </a:avLst>
          </a:prstGeom>
          <a:solidFill>
            <a:srgbClr val="22D3EE"/>
          </a:solidFill>
          <a:ln w="12700">
            <a:solidFill>
              <a:srgbClr val="22D3EE">
                <a:alpha val="0"/>
              </a:srgbClr>
            </a:solidFill>
            <a:prstDash val="solid"/>
          </a:ln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698955" y="2230222"/>
            <a:ext cx="952805" cy="95280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rcRect l="-17" r="-17" t="0" b="0"/>
          <a:stretch/>
        </p:blipFill>
        <p:spPr>
          <a:xfrm>
            <a:off x="2008937" y="2516429"/>
            <a:ext cx="333756" cy="381305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1619402" y="3373222"/>
            <a:ext cx="1121969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패턴</a:t>
            </a:r>
            <a:endParaRPr lang="en-US" sz="1800" dirty="0"/>
          </a:p>
        </p:txBody>
      </p:sp>
      <p:sp>
        <p:nvSpPr>
          <p:cNvPr id="17" name="Text 9"/>
          <p:cNvSpPr txBox="1"/>
          <p:nvPr/>
        </p:nvSpPr>
        <p:spPr>
          <a:xfrm>
            <a:off x="1420063" y="3754526"/>
            <a:ext cx="15197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Low-Level Features</a:t>
            </a:r>
            <a:endParaRPr lang="en-US" sz="1000" dirty="0"/>
          </a:p>
        </p:txBody>
      </p:sp>
      <p:pic>
        <p:nvPicPr>
          <p:cNvPr id="18" name="Image 6" descr="preencoded.png">    </p:cNvPr>
          <p:cNvPicPr>
            <a:picLocks noChangeAspect="1"/>
          </p:cNvPicPr>
          <p:nvPr/>
        </p:nvPicPr>
        <p:blipFill>
          <a:blip r:embed="rId7"/>
          <a:srcRect l="-2083" r="-2083" t="0" b="0"/>
          <a:stretch/>
        </p:blipFill>
        <p:spPr>
          <a:xfrm>
            <a:off x="950976" y="4097426"/>
            <a:ext cx="2449678" cy="9144"/>
          </a:xfrm>
          <a:prstGeom prst="rect">
            <a:avLst/>
          </a:prstGeom>
        </p:spPr>
      </p:pic>
      <p:sp>
        <p:nvSpPr>
          <p:cNvPr id="19" name="Text 10"/>
          <p:cNvSpPr txBox="1"/>
          <p:nvPr/>
        </p:nvSpPr>
        <p:spPr>
          <a:xfrm>
            <a:off x="912571" y="4259275"/>
            <a:ext cx="25338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입력 데이터에서 </a:t>
            </a:r>
            <a:pPr algn="ctr" indent="0" marL="0">
              <a:buNone/>
            </a:pPr>
            <a:r>
              <a:rPr lang="en-US" sz="10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직선, 곡선, 경계선</a:t>
            </a:r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같은 기초적인 시각 정보를 감지합니다. 픽셀 단위의 단순한 변화를 포착하는 단계입니다. </a:t>
            </a:r>
            <a:endParaRPr lang="en-US" sz="100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13662" y="1801368"/>
            <a:ext cx="1533449" cy="323698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1413662" y="1801368"/>
            <a:ext cx="1534363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22D3EE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22D3E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Shallow Layers</a:t>
            </a:r>
            <a:endParaRPr lang="en-US" sz="900" dirty="0"/>
          </a:p>
        </p:txBody>
      </p:sp>
      <p:sp>
        <p:nvSpPr>
          <p:cNvPr id="22" name="Shape 12"/>
          <p:cNvSpPr/>
          <p:nvPr/>
        </p:nvSpPr>
        <p:spPr>
          <a:xfrm>
            <a:off x="4564685" y="1887322"/>
            <a:ext cx="3047695" cy="3619195"/>
          </a:xfrm>
          <a:prstGeom prst="roundRect">
            <a:avLst>
              <a:gd name="adj" fmla="val 18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3" name="Shape 13"/>
          <p:cNvSpPr/>
          <p:nvPr/>
        </p:nvSpPr>
        <p:spPr>
          <a:xfrm>
            <a:off x="4564685" y="1887322"/>
            <a:ext cx="3047695" cy="57607"/>
          </a:xfrm>
          <a:prstGeom prst="roundRect">
            <a:avLst>
              <a:gd name="adj" fmla="val 99207"/>
            </a:avLst>
          </a:prstGeom>
          <a:solidFill>
            <a:srgbClr val="A78BFA"/>
          </a:solidFill>
          <a:ln w="12700">
            <a:solidFill>
              <a:srgbClr val="A78BFA">
                <a:alpha val="0"/>
              </a:srgbClr>
            </a:solidFill>
            <a:prstDash val="solid"/>
          </a:ln>
        </p:spPr>
      </p:sp>
      <p:pic>
        <p:nvPicPr>
          <p:cNvPr id="24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5608930" y="2230222"/>
            <a:ext cx="952805" cy="952805"/>
          </a:xfrm>
          <a:prstGeom prst="rect">
            <a:avLst/>
          </a:prstGeom>
        </p:spPr>
      </p:pic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5894222" y="2516429"/>
            <a:ext cx="381305" cy="381305"/>
          </a:xfrm>
          <a:prstGeom prst="rect">
            <a:avLst/>
          </a:prstGeom>
        </p:spPr>
      </p:pic>
      <p:sp>
        <p:nvSpPr>
          <p:cNvPr id="26" name="Text 14"/>
          <p:cNvSpPr txBox="1"/>
          <p:nvPr/>
        </p:nvSpPr>
        <p:spPr>
          <a:xfrm>
            <a:off x="5405933" y="3373222"/>
            <a:ext cx="13661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부분</a:t>
            </a:r>
            <a:endParaRPr lang="en-US" sz="1800" dirty="0"/>
          </a:p>
        </p:txBody>
      </p:sp>
      <p:sp>
        <p:nvSpPr>
          <p:cNvPr id="27" name="Text 15"/>
          <p:cNvSpPr txBox="1"/>
          <p:nvPr/>
        </p:nvSpPr>
        <p:spPr>
          <a:xfrm>
            <a:off x="5348326" y="3754526"/>
            <a:ext cx="147401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DD6F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Mid-Level Features</a:t>
            </a:r>
            <a:endParaRPr lang="en-US" sz="1000" dirty="0"/>
          </a:p>
        </p:txBody>
      </p:sp>
      <p:pic>
        <p:nvPicPr>
          <p:cNvPr id="28" name="Image 10" descr="preencoded.png">    </p:cNvPr>
          <p:cNvPicPr>
            <a:picLocks noChangeAspect="1"/>
          </p:cNvPicPr>
          <p:nvPr/>
        </p:nvPicPr>
        <p:blipFill>
          <a:blip r:embed="rId11"/>
          <a:srcRect l="-2083" r="-2083" t="0" b="0"/>
          <a:stretch/>
        </p:blipFill>
        <p:spPr>
          <a:xfrm>
            <a:off x="4860036" y="4097426"/>
            <a:ext cx="2449678" cy="9144"/>
          </a:xfrm>
          <a:prstGeom prst="rect">
            <a:avLst/>
          </a:prstGeom>
        </p:spPr>
      </p:pic>
      <p:sp>
        <p:nvSpPr>
          <p:cNvPr id="29" name="Text 16"/>
          <p:cNvSpPr txBox="1"/>
          <p:nvPr/>
        </p:nvSpPr>
        <p:spPr>
          <a:xfrm>
            <a:off x="4821631" y="4259275"/>
            <a:ext cx="2533802" cy="8668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단순 패턴들이 조합되어 </a:t>
            </a:r>
            <a:pPr algn="ctr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눈, 코, 입, 바퀴</a:t>
            </a:r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와 같은 사물의 '부분(Parts)'을 형성합니다. 비선형 변환을 통해 공간이 접히며 형태가 드러납니다. </a:t>
            </a:r>
            <a:endParaRPr lang="en-US" sz="1000" dirty="0"/>
          </a:p>
        </p:txBody>
      </p:sp>
      <p:pic>
        <p:nvPicPr>
          <p:cNvPr id="30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88559" y="1801368"/>
            <a:ext cx="1399946" cy="323698"/>
          </a:xfrm>
          <a:prstGeom prst="rect">
            <a:avLst/>
          </a:prstGeom>
        </p:spPr>
      </p:pic>
      <p:sp>
        <p:nvSpPr>
          <p:cNvPr id="31" name="Text 17"/>
          <p:cNvSpPr/>
          <p:nvPr/>
        </p:nvSpPr>
        <p:spPr>
          <a:xfrm>
            <a:off x="5388559" y="1801368"/>
            <a:ext cx="1400861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A78BFA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Middle Layers</a:t>
            </a:r>
            <a:endParaRPr lang="en-US" sz="900" dirty="0"/>
          </a:p>
        </p:txBody>
      </p:sp>
      <p:sp>
        <p:nvSpPr>
          <p:cNvPr id="32" name="Shape 18"/>
          <p:cNvSpPr/>
          <p:nvPr/>
        </p:nvSpPr>
        <p:spPr>
          <a:xfrm>
            <a:off x="8473745" y="1887322"/>
            <a:ext cx="3047695" cy="3619195"/>
          </a:xfrm>
          <a:prstGeom prst="roundRect">
            <a:avLst>
              <a:gd name="adj" fmla="val 187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19"/>
          <p:cNvSpPr/>
          <p:nvPr/>
        </p:nvSpPr>
        <p:spPr>
          <a:xfrm>
            <a:off x="8473745" y="1887322"/>
            <a:ext cx="3047695" cy="57607"/>
          </a:xfrm>
          <a:prstGeom prst="roundRect">
            <a:avLst>
              <a:gd name="adj" fmla="val 99207"/>
            </a:avLst>
          </a:prstGeom>
          <a:solidFill>
            <a:srgbClr val="FBBF24"/>
          </a:solidFill>
          <a:ln w="12700">
            <a:solidFill>
              <a:srgbClr val="FBBF24">
                <a:alpha val="0"/>
              </a:srgbClr>
            </a:solidFill>
            <a:prstDash val="solid"/>
          </a:ln>
        </p:spPr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517990" y="2230222"/>
            <a:ext cx="952805" cy="952805"/>
          </a:xfrm>
          <a:prstGeom prst="rect">
            <a:avLst/>
          </a:prstGeom>
        </p:spPr>
      </p:pic>
      <p:pic>
        <p:nvPicPr>
          <p:cNvPr id="35" name="Image 13" descr="preencoded.png">    </p:cNvPr>
          <p:cNvPicPr>
            <a:picLocks noChangeAspect="1"/>
          </p:cNvPicPr>
          <p:nvPr/>
        </p:nvPicPr>
        <p:blipFill>
          <a:blip r:embed="rId14"/>
          <a:srcRect l="-17" r="-17" t="0" b="0"/>
          <a:stretch/>
        </p:blipFill>
        <p:spPr>
          <a:xfrm>
            <a:off x="9827057" y="2516429"/>
            <a:ext cx="333756" cy="381305"/>
          </a:xfrm>
          <a:prstGeom prst="rect">
            <a:avLst/>
          </a:prstGeom>
        </p:spPr>
      </p:pic>
      <p:sp>
        <p:nvSpPr>
          <p:cNvPr id="36" name="Text 20"/>
          <p:cNvSpPr txBox="1"/>
          <p:nvPr/>
        </p:nvSpPr>
        <p:spPr>
          <a:xfrm>
            <a:off x="9314993" y="3373222"/>
            <a:ext cx="1366114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추상적 개념</a:t>
            </a:r>
            <a:endParaRPr lang="en-US" sz="1800" dirty="0"/>
          </a:p>
        </p:txBody>
      </p:sp>
      <p:sp>
        <p:nvSpPr>
          <p:cNvPr id="37" name="Text 21"/>
          <p:cNvSpPr txBox="1"/>
          <p:nvPr/>
        </p:nvSpPr>
        <p:spPr>
          <a:xfrm>
            <a:off x="9197035" y="3754526"/>
            <a:ext cx="159837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DE6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High-Level Concepts</a:t>
            </a:r>
            <a:endParaRPr lang="en-US" sz="1000" dirty="0"/>
          </a:p>
        </p:txBody>
      </p:sp>
      <p:pic>
        <p:nvPicPr>
          <p:cNvPr id="38" name="Image 14" descr="preencoded.png">    </p:cNvPr>
          <p:cNvPicPr>
            <a:picLocks noChangeAspect="1"/>
          </p:cNvPicPr>
          <p:nvPr/>
        </p:nvPicPr>
        <p:blipFill>
          <a:blip r:embed="rId15"/>
          <a:srcRect l="-2083" r="-2083" t="0" b="0"/>
          <a:stretch/>
        </p:blipFill>
        <p:spPr>
          <a:xfrm>
            <a:off x="8769096" y="4097426"/>
            <a:ext cx="2449678" cy="9144"/>
          </a:xfrm>
          <a:prstGeom prst="rect">
            <a:avLst/>
          </a:prstGeom>
        </p:spPr>
      </p:pic>
      <p:sp>
        <p:nvSpPr>
          <p:cNvPr id="39" name="Text 22"/>
          <p:cNvSpPr txBox="1"/>
          <p:nvPr/>
        </p:nvSpPr>
        <p:spPr>
          <a:xfrm>
            <a:off x="8730691" y="4259275"/>
            <a:ext cx="2533802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부분들이 결합되어 </a:t>
            </a:r>
            <a:pPr algn="ctr" indent="0" marL="0">
              <a:buNone/>
            </a:pPr>
            <a:r>
              <a:rPr lang="en-US" sz="1000" b="1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사람 얼굴, 자동차, 고양이</a:t>
            </a:r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등 완성된 객체를 인식합니다. 사람이 이해하는 개념 수준의 고차원 특징입니다. </a:t>
            </a:r>
            <a:endParaRPr lang="en-US" sz="1000" dirty="0"/>
          </a:p>
        </p:txBody>
      </p:sp>
      <p:pic>
        <p:nvPicPr>
          <p:cNvPr id="40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79915" y="1801368"/>
            <a:ext cx="1228954" cy="323698"/>
          </a:xfrm>
          <a:prstGeom prst="rect">
            <a:avLst/>
          </a:prstGeom>
        </p:spPr>
      </p:pic>
      <p:sp>
        <p:nvSpPr>
          <p:cNvPr id="41" name="Text 23"/>
          <p:cNvSpPr/>
          <p:nvPr/>
        </p:nvSpPr>
        <p:spPr>
          <a:xfrm>
            <a:off x="9379915" y="1801368"/>
            <a:ext cx="1228954" cy="324612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BBF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75" kern="0" dirty="0">
                <a:solidFill>
                  <a:srgbClr val="FBBF2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Deep Layers</a:t>
            </a:r>
            <a:endParaRPr lang="en-US" sz="900" dirty="0"/>
          </a:p>
        </p:txBody>
      </p:sp>
      <p:sp>
        <p:nvSpPr>
          <p:cNvPr id="42" name="Shape 24"/>
          <p:cNvSpPr/>
          <p:nvPr/>
        </p:nvSpPr>
        <p:spPr>
          <a:xfrm>
            <a:off x="655625" y="5820156"/>
            <a:ext cx="10858500" cy="819302"/>
          </a:xfrm>
          <a:prstGeom prst="roundRect">
            <a:avLst>
              <a:gd name="adj" fmla="val 15573"/>
            </a:avLst>
          </a:prstGeom>
          <a:solidFill>
            <a:srgbClr val="334155">
              <a:alpha val="40000"/>
            </a:srgbClr>
          </a:solidFill>
          <a:ln/>
        </p:spPr>
      </p:sp>
      <p:sp>
        <p:nvSpPr>
          <p:cNvPr id="43" name="Shape 25"/>
          <p:cNvSpPr/>
          <p:nvPr/>
        </p:nvSpPr>
        <p:spPr>
          <a:xfrm>
            <a:off x="655625" y="5820156"/>
            <a:ext cx="38405" cy="819302"/>
          </a:xfrm>
          <a:prstGeom prst="roundRect">
            <a:avLst>
              <a:gd name="adj" fmla="val 332224"/>
            </a:avLst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4" name="Text 26"/>
          <p:cNvSpPr txBox="1"/>
          <p:nvPr/>
        </p:nvSpPr>
        <p:spPr>
          <a:xfrm>
            <a:off x="1455725" y="6011266"/>
            <a:ext cx="984900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"표현력의 폭발적 증가"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각 층의 뉴런들이 활성화 함수(비선형성)를 통해 공간을 계속해서 접고 왜곡함으로써, 깊은 층에서는 직선으로는 상상할 수 없었던 복잡하고 추상적인 경계를 그려낼 수 있게 됩니다. </a:t>
            </a:r>
            <a:endParaRPr lang="en-US" sz="1000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rcRect l="-1828" r="-1828" t="0" b="0"/>
          <a:stretch/>
        </p:blipFill>
        <p:spPr>
          <a:xfrm>
            <a:off x="979322" y="6100877"/>
            <a:ext cx="333756" cy="286207"/>
          </a:xfrm>
          <a:prstGeom prst="rect">
            <a:avLst/>
          </a:prstGeom>
        </p:spPr>
      </p:pic>
      <p:sp>
        <p:nvSpPr>
          <p:cNvPr id="46" name="Text 27"/>
          <p:cNvSpPr txBox="1"/>
          <p:nvPr/>
        </p:nvSpPr>
        <p:spPr>
          <a:xfrm>
            <a:off x="11330330" y="6476695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66598" y="1581912"/>
            <a:ext cx="10858500" cy="9144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66598" y="476402"/>
            <a:ext cx="1097280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52" kern="0" dirty="0">
                <a:solidFill>
                  <a:srgbClr val="A78B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Chapter Summary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66598" y="705002"/>
            <a:ext cx="1116391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및 결론</a:t>
            </a:r>
            <a:endParaRPr lang="en-US" sz="2700" dirty="0"/>
          </a:p>
        </p:txBody>
      </p:sp>
      <p:sp>
        <p:nvSpPr>
          <p:cNvPr id="7" name="Text 5"/>
          <p:cNvSpPr txBox="1"/>
          <p:nvPr/>
        </p:nvSpPr>
        <p:spPr>
          <a:xfrm>
            <a:off x="666598" y="1162202"/>
            <a:ext cx="1104961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단층 퍼셉트론의 한계를 넘어 다층 구조로 나아가는 여정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6598" y="2009851"/>
            <a:ext cx="5315407" cy="1505102"/>
          </a:xfrm>
          <a:prstGeom prst="roundRect">
            <a:avLst>
              <a:gd name="adj" fmla="val 615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6598" y="2009851"/>
            <a:ext cx="47549" cy="1505102"/>
          </a:xfrm>
          <a:prstGeom prst="roundRect">
            <a:avLst>
              <a:gd name="adj" fmla="val 19474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90058" y="2162556"/>
            <a:ext cx="4197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942746" y="22475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3B82F6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333" b="-333"/>
          <a:stretch/>
        </p:blipFill>
        <p:spPr>
          <a:xfrm>
            <a:off x="1057046" y="2395728"/>
            <a:ext cx="342900" cy="276149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705356" y="2247595"/>
            <a:ext cx="4229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선형 분류기의 한계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1705356" y="2590495"/>
            <a:ext cx="41148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초기 퍼셉트론은 데이터를 </a:t>
            </a:r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직선(Linear Boundary)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하나로만 나눌 수 있는 단순한 모델입니다. AND, OR 같은 문제는 해결할 수 있지만 복잡한 패턴에는 무력합니다. 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210605" y="2009851"/>
            <a:ext cx="5315407" cy="1505102"/>
          </a:xfrm>
          <a:prstGeom prst="roundRect">
            <a:avLst>
              <a:gd name="adj" fmla="val 615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10605" y="2009851"/>
            <a:ext cx="47549" cy="1505102"/>
          </a:xfrm>
          <a:prstGeom prst="roundRect">
            <a:avLst>
              <a:gd name="adj" fmla="val 19474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1034065" y="2162556"/>
            <a:ext cx="4197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800" dirty="0"/>
          </a:p>
        </p:txBody>
      </p:sp>
      <p:sp>
        <p:nvSpPr>
          <p:cNvPr id="18" name="Shape 15"/>
          <p:cNvSpPr/>
          <p:nvPr/>
        </p:nvSpPr>
        <p:spPr>
          <a:xfrm>
            <a:off x="6486754" y="2247595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633972" y="2395728"/>
            <a:ext cx="276149" cy="27614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7248449" y="2247595"/>
            <a:ext cx="41532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XOR 문제의 벽</a:t>
            </a:r>
            <a:endParaRPr lang="en-US" sz="1500" dirty="0"/>
          </a:p>
        </p:txBody>
      </p:sp>
      <p:sp>
        <p:nvSpPr>
          <p:cNvPr id="21" name="Text 17"/>
          <p:cNvSpPr txBox="1"/>
          <p:nvPr/>
        </p:nvSpPr>
        <p:spPr>
          <a:xfrm>
            <a:off x="7248449" y="2590495"/>
            <a:ext cx="41148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데이터가 대각선으로 교차하는 </a:t>
            </a:r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XOR 패턴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 그 어떤 직선으로도 100% 분리할 수 없습니다. 이는 단층 신경망이 가진 기하학적 한계를 명확히 보여줍니다. 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66598" y="3738982"/>
            <a:ext cx="5315407" cy="1505102"/>
          </a:xfrm>
          <a:prstGeom prst="roundRect">
            <a:avLst>
              <a:gd name="adj" fmla="val 615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66598" y="3738982"/>
            <a:ext cx="47549" cy="1505102"/>
          </a:xfrm>
          <a:prstGeom prst="roundRect">
            <a:avLst>
              <a:gd name="adj" fmla="val 194741"/>
            </a:avLst>
          </a:prstGeom>
          <a:solidFill>
            <a:srgbClr val="A855F7"/>
          </a:solidFill>
          <a:ln w="12700">
            <a:solidFill>
              <a:srgbClr val="A855F7">
                <a:alpha val="0"/>
              </a:srgbClr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5490058" y="3890772"/>
            <a:ext cx="4197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4800" dirty="0"/>
          </a:p>
        </p:txBody>
      </p:sp>
      <p:sp>
        <p:nvSpPr>
          <p:cNvPr id="25" name="Shape 21"/>
          <p:cNvSpPr/>
          <p:nvPr/>
        </p:nvSpPr>
        <p:spPr>
          <a:xfrm>
            <a:off x="942746" y="3976726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A855F7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013" b="-1013"/>
          <a:stretch/>
        </p:blipFill>
        <p:spPr>
          <a:xfrm>
            <a:off x="1076249" y="4123944"/>
            <a:ext cx="304495" cy="276149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1705356" y="3976726"/>
            <a:ext cx="415320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해결책: 층(Layer) 쌓기</a:t>
            </a:r>
            <a:endParaRPr lang="en-US" sz="1500" dirty="0"/>
          </a:p>
        </p:txBody>
      </p:sp>
      <p:sp>
        <p:nvSpPr>
          <p:cNvPr id="28" name="Text 23"/>
          <p:cNvSpPr txBox="1"/>
          <p:nvPr/>
        </p:nvSpPr>
        <p:spPr>
          <a:xfrm>
            <a:off x="1705356" y="4319626"/>
            <a:ext cx="41148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은닉층(Hidden Layer)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추가하면 공간을 왜곡하거나 접을 수 있습니다. 여러 개의 직선을 조합하여 구부러진 경계를 만들어내는 것과 같습니다. </a:t>
            </a:r>
            <a:endParaRPr lang="en-US" sz="1000" dirty="0"/>
          </a:p>
        </p:txBody>
      </p:sp>
      <p:sp>
        <p:nvSpPr>
          <p:cNvPr id="29" name="Shape 24"/>
          <p:cNvSpPr/>
          <p:nvPr/>
        </p:nvSpPr>
        <p:spPr>
          <a:xfrm>
            <a:off x="6210605" y="3738982"/>
            <a:ext cx="5315407" cy="1505102"/>
          </a:xfrm>
          <a:prstGeom prst="roundRect">
            <a:avLst>
              <a:gd name="adj" fmla="val 6152"/>
            </a:avLst>
          </a:prstGeom>
          <a:solidFill>
            <a:srgbClr val="1E293B">
              <a:alpha val="50000"/>
            </a:srgbClr>
          </a:solidFill>
          <a:ln w="12700">
            <a:solidFill>
              <a:srgbClr val="94A3B8">
                <a:alpha val="10000"/>
              </a:srgbClr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6210605" y="3738982"/>
            <a:ext cx="47549" cy="1505102"/>
          </a:xfrm>
          <a:prstGeom prst="roundRect">
            <a:avLst>
              <a:gd name="adj" fmla="val 194741"/>
            </a:avLst>
          </a:prstGeom>
          <a:solidFill>
            <a:srgbClr val="10B981"/>
          </a:solidFill>
          <a:ln w="12700">
            <a:solidFill>
              <a:srgbClr val="10B981">
                <a:alpha val="0"/>
              </a:srgbClr>
            </a:solidFill>
            <a:prstDash val="solid"/>
          </a:ln>
        </p:spPr>
      </p:sp>
      <p:sp>
        <p:nvSpPr>
          <p:cNvPr id="31" name="Text 26"/>
          <p:cNvSpPr txBox="1"/>
          <p:nvPr/>
        </p:nvSpPr>
        <p:spPr>
          <a:xfrm>
            <a:off x="11034065" y="3890772"/>
            <a:ext cx="419710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>
                    <a:alpha val="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800" dirty="0"/>
          </a:p>
        </p:txBody>
      </p:sp>
      <p:sp>
        <p:nvSpPr>
          <p:cNvPr id="32" name="Shape 27"/>
          <p:cNvSpPr/>
          <p:nvPr/>
        </p:nvSpPr>
        <p:spPr>
          <a:xfrm>
            <a:off x="6486754" y="3976726"/>
            <a:ext cx="571500" cy="571500"/>
          </a:xfrm>
          <a:prstGeom prst="roundRect">
            <a:avLst>
              <a:gd name="adj" fmla="val 32000"/>
            </a:avLst>
          </a:prstGeom>
          <a:solidFill>
            <a:srgbClr val="10B981">
              <a:alpha val="15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pic>
        <p:nvPicPr>
          <p:cNvPr id="3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13" b="-1013"/>
          <a:stretch/>
        </p:blipFill>
        <p:spPr>
          <a:xfrm>
            <a:off x="6620256" y="4123944"/>
            <a:ext cx="304495" cy="276149"/>
          </a:xfrm>
          <a:prstGeom prst="rect">
            <a:avLst/>
          </a:prstGeom>
        </p:spPr>
      </p:pic>
      <p:sp>
        <p:nvSpPr>
          <p:cNvPr id="34" name="Text 28"/>
          <p:cNvSpPr txBox="1"/>
          <p:nvPr/>
        </p:nvSpPr>
        <p:spPr>
          <a:xfrm>
            <a:off x="7248449" y="3976726"/>
            <a:ext cx="42291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딥러닝의 시작</a:t>
            </a:r>
            <a:endParaRPr lang="en-US" sz="1500" dirty="0"/>
          </a:p>
        </p:txBody>
      </p:sp>
      <p:sp>
        <p:nvSpPr>
          <p:cNvPr id="35" name="Text 29"/>
          <p:cNvSpPr txBox="1"/>
          <p:nvPr/>
        </p:nvSpPr>
        <p:spPr>
          <a:xfrm>
            <a:off x="7248449" y="4319626"/>
            <a:ext cx="4114800" cy="657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이러한 '다층 구조'와 '비선형 활성화 함수'의 결합이 오늘날 </a:t>
            </a:r>
            <a:pPr algn="l" indent="0" marL="0">
              <a:buNone/>
            </a:pPr>
            <a:r>
              <a:rPr lang="en-US" sz="1000" b="1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심층 신경망(DNN)</a:t>
            </a:r>
            <a:pPr algn="l" indent="0" marL="0">
              <a:buNone/>
            </a:pPr>
            <a:r>
              <a:rPr lang="en-US" sz="1000" dirty="0">
                <a:solidFill>
                  <a:srgbClr val="D1D5D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의 기초가 되었습니다. 깊어질수록 더 복잡하고 추상적인 개념을 이해합니다. </a:t>
            </a:r>
            <a:endParaRPr lang="en-US" sz="1000" dirty="0"/>
          </a:p>
        </p:txBody>
      </p:sp>
      <p:sp>
        <p:nvSpPr>
          <p:cNvPr id="36" name="Shape 30"/>
          <p:cNvSpPr/>
          <p:nvPr/>
        </p:nvSpPr>
        <p:spPr>
          <a:xfrm>
            <a:off x="666598" y="5524805"/>
            <a:ext cx="10858500" cy="857707"/>
          </a:xfrm>
          <a:prstGeom prst="roundRect">
            <a:avLst>
              <a:gd name="adj" fmla="val 1421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1949" y="5838444"/>
            <a:ext cx="1037844" cy="22860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961949" y="5838444"/>
            <a:ext cx="1038758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2" kern="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 Lesson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2152498" y="5724144"/>
            <a:ext cx="69540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Coming Up Next</a:t>
            </a:r>
            <a:endParaRPr lang="en-US" sz="900" dirty="0"/>
          </a:p>
        </p:txBody>
      </p:sp>
      <p:sp>
        <p:nvSpPr>
          <p:cNvPr id="40" name="Text 33"/>
          <p:cNvSpPr txBox="1"/>
          <p:nvPr/>
        </p:nvSpPr>
        <p:spPr>
          <a:xfrm>
            <a:off x="2152498" y="5915254"/>
            <a:ext cx="81637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 그렇다면, 이 복잡한 가중치($w$)들은 어떻게 자동으로 찾을까요? </a:t>
            </a:r>
            <a:pPr algn="l"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학습(Learning)과 역전파</a:t>
            </a:r>
            <a:endParaRPr lang="en-US" sz="1300" dirty="0"/>
          </a:p>
        </p:txBody>
      </p:sp>
      <p:pic>
        <p:nvPicPr>
          <p:cNvPr id="41" name="Image 5" descr="preencoded.png">    </p:cNvPr>
          <p:cNvPicPr>
            <a:picLocks noChangeAspect="1"/>
          </p:cNvPicPr>
          <p:nvPr/>
        </p:nvPicPr>
        <p:blipFill>
          <a:blip r:embed="rId6"/>
          <a:srcRect l="-57" r="-57" t="0" b="0"/>
          <a:stretch/>
        </p:blipFill>
        <p:spPr>
          <a:xfrm>
            <a:off x="11074298" y="5848502"/>
            <a:ext cx="200254" cy="22860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11330330" y="6476695"/>
            <a:ext cx="562356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2026-02-13T04:57:57Z</dcterms:created>
  <dcterms:modified xsi:type="dcterms:W3CDTF">2026-02-13T04:57:57Z</dcterms:modified>
</cp:coreProperties>
</file>